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7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914400"/>
            <a:ext cx="3840480" cy="3840480"/>
          </a:xfrm>
          <a:prstGeom prst="ellipse">
            <a:avLst/>
          </a:prstGeom>
          <a:solidFill>
            <a:srgbClr val="8E1421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291840"/>
            <a:ext cx="2377440" cy="2377440"/>
          </a:xfrm>
          <a:prstGeom prst="ellipse">
            <a:avLst/>
          </a:prstGeom>
          <a:solidFill>
            <a:srgbClr val="1F4E9E"/>
          </a:solidFill>
          <a:ln/>
        </p:spPr>
      </p:sp>
      <p:sp>
        <p:nvSpPr>
          <p:cNvPr id="4" name="Shape 2"/>
          <p:cNvSpPr/>
          <p:nvPr/>
        </p:nvSpPr>
        <p:spPr>
          <a:xfrm>
            <a:off x="7360920" y="914400"/>
            <a:ext cx="1005840" cy="1005840"/>
          </a:xfrm>
          <a:prstGeom prst="ellipse">
            <a:avLst/>
          </a:prstGeom>
          <a:solidFill>
            <a:srgbClr val="1F4E9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2380" y="11658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544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E-Governance Initiatives in the United States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Evolution, key programs, challenges and lessons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 |  BSc CSIT  |  E-Governance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e-governance?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in the USA  | 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874520" cy="3200400"/>
          </a:xfrm>
          <a:prstGeom prst="rect">
            <a:avLst/>
          </a:prstGeom>
          <a:solidFill>
            <a:srgbClr val="FBEDE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94360" cy="59436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6116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194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G2C: Citizens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8892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and information for the public, e.g. tax filing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606040" y="1280160"/>
            <a:ext cx="1874520" cy="32004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1463040"/>
            <a:ext cx="594360" cy="594360"/>
          </a:xfrm>
          <a:prstGeom prst="ellipse">
            <a:avLst/>
          </a:prstGeom>
          <a:solidFill>
            <a:srgbClr val="1F4E9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510" y="16116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88920" y="2194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G2B: Business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278892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licences, payments and procurement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63440" y="1280160"/>
            <a:ext cx="1874520" cy="3200400"/>
          </a:xfrm>
          <a:prstGeom prst="rect">
            <a:avLst/>
          </a:prstGeom>
          <a:solidFill>
            <a:srgbClr val="FBEDEE"/>
          </a:solidFill>
          <a:ln/>
        </p:spPr>
      </p:sp>
      <p:sp>
        <p:nvSpPr>
          <p:cNvPr id="15" name="Shape 11"/>
          <p:cNvSpPr/>
          <p:nvPr/>
        </p:nvSpPr>
        <p:spPr>
          <a:xfrm>
            <a:off x="4846320" y="1463040"/>
            <a:ext cx="594360" cy="59436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10" y="16116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46320" y="2194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G2G: Government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846320" y="278892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 between agencies and levels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720840" y="1280160"/>
            <a:ext cx="1874520" cy="32004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903720" y="1463040"/>
            <a:ext cx="594360" cy="594360"/>
          </a:xfrm>
          <a:prstGeom prst="ellipse">
            <a:avLst/>
          </a:prstGeom>
          <a:solidFill>
            <a:srgbClr val="1F4E9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310" y="161163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03720" y="2194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G2E: Employees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903720" y="2788920"/>
            <a:ext cx="1508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systems and workflows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Laws that shaped 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in the USA  | 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2450592"/>
            <a:ext cx="8046720" cy="45720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B71C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E-Government Act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2194560"/>
            <a:ext cx="548640" cy="548640"/>
          </a:xfrm>
          <a:prstGeom prst="ellipse">
            <a:avLst/>
          </a:prstGeom>
          <a:solidFill>
            <a:srgbClr val="1F4E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860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926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Transparency Act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0" y="2194560"/>
            <a:ext cx="548640" cy="548640"/>
          </a:xfrm>
          <a:prstGeom prst="ellipse">
            <a:avLst/>
          </a:prstGeom>
          <a:solidFill>
            <a:srgbClr val="B71C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2009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926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Government Directive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2194560"/>
            <a:ext cx="548640" cy="548640"/>
          </a:xfrm>
          <a:prstGeom prst="ellipse">
            <a:avLst/>
          </a:prstGeom>
          <a:solidFill>
            <a:srgbClr val="1F4E9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292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926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Government Strategy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2194560"/>
            <a:ext cx="548640" cy="548640"/>
          </a:xfrm>
          <a:prstGeom prst="ellipse">
            <a:avLst/>
          </a:prstGeom>
          <a:solidFill>
            <a:srgbClr val="B71C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2926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0" y="2194560"/>
            <a:ext cx="548640" cy="548640"/>
          </a:xfrm>
          <a:prstGeom prst="ellipse">
            <a:avLst/>
          </a:prstGeom>
          <a:solidFill>
            <a:srgbClr val="1F4E9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1600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2926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21st Century IDEA Act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 and executive policy drive U.S. e-government, not one national programme.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 of U.S. e-government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in the USA  | 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874520" cy="3108960"/>
          </a:xfrm>
          <a:prstGeom prst="rect">
            <a:avLst/>
          </a:prstGeom>
          <a:solidFill>
            <a:srgbClr val="FBEDE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B71C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1980s–90s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00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e-file, Clinger-Cohen Act, agency CIOs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1874520" cy="310896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11" name="Shape 9"/>
          <p:cNvSpPr/>
          <p:nvPr/>
        </p:nvSpPr>
        <p:spPr>
          <a:xfrm>
            <a:off x="2788920" y="1463040"/>
            <a:ext cx="548640" cy="548640"/>
          </a:xfrm>
          <a:prstGeom prst="ellipse">
            <a:avLst/>
          </a:prstGeom>
          <a:solidFill>
            <a:srgbClr val="1F4E9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889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2000–08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portals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200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E-Government Act, USA.gov, Regulations.gov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874520" cy="3108960"/>
          </a:xfrm>
          <a:prstGeom prst="rect">
            <a:avLst/>
          </a:prstGeom>
          <a:solidFill>
            <a:srgbClr val="FBEDEE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463040"/>
            <a:ext cx="548640" cy="548640"/>
          </a:xfrm>
          <a:prstGeom prst="ellipse">
            <a:avLst/>
          </a:prstGeom>
          <a:solidFill>
            <a:srgbClr val="B71C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2009–13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government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200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Data.gov, Open Government Directive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20840" y="1280160"/>
            <a:ext cx="1874520" cy="310896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903720" y="1463040"/>
            <a:ext cx="548640" cy="548640"/>
          </a:xfrm>
          <a:prstGeom prst="ellipse">
            <a:avLst/>
          </a:prstGeom>
          <a:solidFill>
            <a:srgbClr val="1F4E9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037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reform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32004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USDS, 18F, Login.gov, IDEA Act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and open data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in the USA  | 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94360" cy="59436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42875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801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Data.gov (2009)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57276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catalogue of agency datasets in open, machine-readable formats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594360" cy="594360"/>
          </a:xfrm>
          <a:prstGeom prst="ellipse">
            <a:avLst/>
          </a:prstGeom>
          <a:solidFill>
            <a:srgbClr val="1F4E9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248031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3317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USAspending.gov (2007)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262432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federal contracts and grants; strengthened by the DATA Act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83280"/>
            <a:ext cx="594360" cy="59436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35318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3832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Regulations.gov (2003)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367588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comment on proposed federal rules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35040" y="1280160"/>
            <a:ext cx="2560320" cy="310896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17" name="Shape 12"/>
          <p:cNvSpPr/>
          <p:nvPr/>
        </p:nvSpPr>
        <p:spPr>
          <a:xfrm>
            <a:off x="6858000" y="1737360"/>
            <a:ext cx="914400" cy="914400"/>
          </a:xfrm>
          <a:prstGeom prst="ellipse">
            <a:avLst/>
          </a:prstGeom>
          <a:solidFill>
            <a:srgbClr val="1F4E9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9659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217920" y="2880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by default: citizens, media and researchers can inspect government.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services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in the USA  | 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463040"/>
          </a:xfrm>
          <a:prstGeom prst="rect">
            <a:avLst/>
          </a:prstGeom>
          <a:solidFill>
            <a:srgbClr val="FBEDE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516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USA.gov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965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portal to government information and services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3931920" cy="146304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10" name="Shape 7"/>
          <p:cNvSpPr/>
          <p:nvPr/>
        </p:nvSpPr>
        <p:spPr>
          <a:xfrm>
            <a:off x="4892040" y="1691640"/>
            <a:ext cx="640080" cy="640080"/>
          </a:xfrm>
          <a:prstGeom prst="ellipse">
            <a:avLst/>
          </a:prstGeom>
          <a:solidFill>
            <a:srgbClr val="1F4E9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8516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IRS e-file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965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tax filing and online payment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3931920" cy="146304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1F4E9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4975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Login.gov (2017)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3611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sign-in and identity check across agencies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4663440" y="2926080"/>
            <a:ext cx="3931920" cy="1463040"/>
          </a:xfrm>
          <a:prstGeom prst="rect">
            <a:avLst/>
          </a:prstGeom>
          <a:solidFill>
            <a:srgbClr val="FBEDEE"/>
          </a:solidFill>
          <a:ln/>
        </p:spPr>
      </p:sp>
      <p:sp>
        <p:nvSpPr>
          <p:cNvPr id="20" name="Shape 15"/>
          <p:cNvSpPr/>
          <p:nvPr/>
        </p:nvSpPr>
        <p:spPr>
          <a:xfrm>
            <a:off x="4892040" y="3337560"/>
            <a:ext cx="640080" cy="64008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4975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150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accounts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0" y="3611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Security, passports, veterans services online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infrastructure and security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in the USA  | 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874520" cy="3108960"/>
          </a:xfrm>
          <a:prstGeom prst="rect">
            <a:avLst/>
          </a:prstGeom>
          <a:solidFill>
            <a:srgbClr val="FBEDE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94360" cy="59436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6116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194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FedRAMP (2011)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889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security check for cloud services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606040" y="1280160"/>
            <a:ext cx="1874520" cy="310896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1463040"/>
            <a:ext cx="594360" cy="594360"/>
          </a:xfrm>
          <a:prstGeom prst="ellipse">
            <a:avLst/>
          </a:prstGeom>
          <a:solidFill>
            <a:srgbClr val="1F4E9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510" y="16116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88920" y="2194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First / Smart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27889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moving agencies off self-hosted systems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63440" y="1280160"/>
            <a:ext cx="1874520" cy="3108960"/>
          </a:xfrm>
          <a:prstGeom prst="rect">
            <a:avLst/>
          </a:prstGeom>
          <a:solidFill>
            <a:srgbClr val="FBEDEE"/>
          </a:solidFill>
          <a:ln/>
        </p:spPr>
      </p:sp>
      <p:sp>
        <p:nvSpPr>
          <p:cNvPr id="15" name="Shape 11"/>
          <p:cNvSpPr/>
          <p:nvPr/>
        </p:nvSpPr>
        <p:spPr>
          <a:xfrm>
            <a:off x="4846320" y="1463040"/>
            <a:ext cx="594360" cy="59436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10" y="16116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46320" y="2194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FISMA and NIST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846320" y="27889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duties and standards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720840" y="1280160"/>
            <a:ext cx="1874520" cy="310896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903720" y="1463040"/>
            <a:ext cx="594360" cy="594360"/>
          </a:xfrm>
          <a:prstGeom prst="ellipse">
            <a:avLst/>
          </a:prstGeom>
          <a:solidFill>
            <a:srgbClr val="1F4E9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310" y="161163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03720" y="2194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508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903720" y="278892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electronic information for all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Case: HealthCare.gov, 2013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in the USA  |  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2468880"/>
          </a:xfrm>
          <a:prstGeom prst="rect">
            <a:avLst/>
          </a:prstGeom>
          <a:solidFill>
            <a:srgbClr val="FBEDE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463040"/>
            <a:ext cx="640080" cy="64008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230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2013: Launch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97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site, errors and outages; many could not enrol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3136392" y="2377440"/>
            <a:ext cx="137160" cy="274320"/>
          </a:xfrm>
          <a:prstGeom prst="rightArrow">
            <a:avLst/>
          </a:prstGeom>
          <a:solidFill>
            <a:srgbClr val="6B6B6B"/>
          </a:solidFill>
          <a:ln/>
        </p:spPr>
      </p:sp>
      <p:sp>
        <p:nvSpPr>
          <p:cNvPr id="10" name="Shape 7"/>
          <p:cNvSpPr/>
          <p:nvPr/>
        </p:nvSpPr>
        <p:spPr>
          <a:xfrm>
            <a:off x="3291840" y="1280160"/>
            <a:ext cx="2560320" cy="246888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11" name="Shape 8"/>
          <p:cNvSpPr/>
          <p:nvPr/>
        </p:nvSpPr>
        <p:spPr>
          <a:xfrm>
            <a:off x="3520440" y="1463040"/>
            <a:ext cx="640080" cy="640080"/>
          </a:xfrm>
          <a:prstGeom prst="ellipse">
            <a:avLst/>
          </a:prstGeom>
          <a:solidFill>
            <a:srgbClr val="1F4E9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6230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GAO findings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697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planning, unclear contractor roles, poor testing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5879592" y="2377440"/>
            <a:ext cx="137160" cy="274320"/>
          </a:xfrm>
          <a:prstGeom prst="rightArrow">
            <a:avLst/>
          </a:prstGeom>
          <a:solidFill>
            <a:srgbClr val="6B6B6B"/>
          </a:solidFill>
          <a:ln/>
        </p:spPr>
      </p:sp>
      <p:sp>
        <p:nvSpPr>
          <p:cNvPr id="16" name="Shape 12"/>
          <p:cNvSpPr/>
          <p:nvPr/>
        </p:nvSpPr>
        <p:spPr>
          <a:xfrm>
            <a:off x="6035040" y="1280160"/>
            <a:ext cx="2560320" cy="2468880"/>
          </a:xfrm>
          <a:prstGeom prst="rect">
            <a:avLst/>
          </a:prstGeom>
          <a:solidFill>
            <a:srgbClr val="FBEDEE"/>
          </a:solidFill>
          <a:ln/>
        </p:spPr>
      </p:sp>
      <p:sp>
        <p:nvSpPr>
          <p:cNvPr id="17" name="Shape 13"/>
          <p:cNvSpPr/>
          <p:nvPr/>
        </p:nvSpPr>
        <p:spPr>
          <a:xfrm>
            <a:off x="6263640" y="1463040"/>
            <a:ext cx="640080" cy="64008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6230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2014: Reform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2697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USDS and 18F created; agile, user-centred delivery</a:t>
            </a:r>
            <a:endParaRPr lang="en-US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Takeaway: failures come from management, procurement and coordination, not technology alone.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USDS and 18F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in the USA  | 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3108960"/>
          </a:xfrm>
          <a:prstGeom prst="rect">
            <a:avLst/>
          </a:prstGeom>
          <a:solidFill>
            <a:srgbClr val="FBEDE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94360" cy="59436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6116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User-centred design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around real user needs and test with users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560320" cy="310896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0" y="1463040"/>
            <a:ext cx="594360" cy="594360"/>
          </a:xfrm>
          <a:prstGeom prst="ellipse">
            <a:avLst/>
          </a:prstGeom>
          <a:solidFill>
            <a:srgbClr val="1F4E9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10" y="16116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Small, frequent releases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delivery instead of one big launch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1280160"/>
            <a:ext cx="2560320" cy="3108960"/>
          </a:xfrm>
          <a:prstGeom prst="rect">
            <a:avLst/>
          </a:prstGeom>
          <a:solidFill>
            <a:srgbClr val="FBEDEE"/>
          </a:solidFill>
          <a:ln/>
        </p:spPr>
      </p:sp>
      <p:sp>
        <p:nvSpPr>
          <p:cNvPr id="15" name="Shape 11"/>
          <p:cNvSpPr/>
          <p:nvPr/>
        </p:nvSpPr>
        <p:spPr>
          <a:xfrm>
            <a:off x="6217920" y="1463040"/>
            <a:ext cx="594360" cy="59436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510" y="16116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Technologists in government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tech talent for short terms to help agencies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and challenges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in the USA  | 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32004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417320"/>
            <a:ext cx="548640" cy="548640"/>
          </a:xfrm>
          <a:prstGeom prst="ellipse">
            <a:avLst/>
          </a:prstGeom>
          <a:solidFill>
            <a:srgbClr val="1F4E9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through open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paperless services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platforms cut duplication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input in rule-making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3931920" cy="3200400"/>
          </a:xfrm>
          <a:prstGeom prst="rect">
            <a:avLst/>
          </a:prstGeom>
          <a:solidFill>
            <a:srgbClr val="FBEDEE"/>
          </a:solidFill>
          <a:ln/>
        </p:spPr>
      </p:sp>
      <p:sp>
        <p:nvSpPr>
          <p:cNvPr id="10" name="Shape 7"/>
          <p:cNvSpPr/>
          <p:nvPr/>
        </p:nvSpPr>
        <p:spPr>
          <a:xfrm>
            <a:off x="4892040" y="1417320"/>
            <a:ext cx="548640" cy="54864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federal, state, local systems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and project risk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and privacy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Analysis: a decentralised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in the USA  |  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94360" cy="59436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42875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80160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572768"/>
            <a:ext cx="7269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legal base, open data, deep private tech sector, shared platforms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594360" cy="594360"/>
          </a:xfrm>
          <a:prstGeom prst="ellipse">
            <a:avLst/>
          </a:prstGeom>
          <a:solidFill>
            <a:srgbClr val="1F4E9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248031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331720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2624328"/>
            <a:ext cx="7269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national digital ID; service quality varies by agency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83280"/>
            <a:ext cx="594360" cy="59436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35318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383280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of reform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3675888"/>
            <a:ext cx="7269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shared services and in-house technical skill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in the USA  | 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B71C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around user needs; test before launch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1F4E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74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shared identity, payment and security platforms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B71C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technical skills inside government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1F4E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in small stages, fix fast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B71C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laws with funding and audits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these lessons transfer?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in the USA  | 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310896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417320"/>
            <a:ext cx="548640" cy="548640"/>
          </a:xfrm>
          <a:prstGeom prst="ellipse">
            <a:avLst/>
          </a:prstGeom>
          <a:solidFill>
            <a:srgbClr val="1F4E9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Likely to transfer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9456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User-centred design and testing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identity and payment platforms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staged releases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3931920" cy="3108960"/>
          </a:xfrm>
          <a:prstGeom prst="rect">
            <a:avLst/>
          </a:prstGeom>
          <a:solidFill>
            <a:srgbClr val="FBEDEE"/>
          </a:solidFill>
          <a:ln/>
        </p:spPr>
      </p:sp>
      <p:sp>
        <p:nvSpPr>
          <p:cNvPr id="10" name="Shape 7"/>
          <p:cNvSpPr/>
          <p:nvPr/>
        </p:nvSpPr>
        <p:spPr>
          <a:xfrm>
            <a:off x="4892040" y="1417320"/>
            <a:ext cx="548640" cy="548640"/>
          </a:xfrm>
          <a:prstGeom prst="ellipse">
            <a:avLst/>
          </a:prstGeom>
          <a:solidFill>
            <a:srgbClr val="B7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1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adapting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19456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tech talent at U.S. pay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funding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wide internet access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7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91840"/>
            <a:ext cx="3108960" cy="3108960"/>
          </a:xfrm>
          <a:prstGeom prst="ellipse">
            <a:avLst/>
          </a:prstGeom>
          <a:solidFill>
            <a:srgbClr val="8E1421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457200"/>
            <a:ext cx="914400" cy="914400"/>
          </a:xfrm>
          <a:prstGeom prst="ellipse">
            <a:avLst/>
          </a:prstGeom>
          <a:solidFill>
            <a:srgbClr val="1F4E9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6858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48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6304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open data and shared platforms.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on consistency: no national digital ID, uneven agency quality.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depends on policy, management and people, not only technology.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2026-09-29T04:10:01Z</dcterms:created>
  <dcterms:modified xsi:type="dcterms:W3CDTF">2026-09-29T04:10:01Z</dcterms:modified>
</cp:coreProperties>
</file>