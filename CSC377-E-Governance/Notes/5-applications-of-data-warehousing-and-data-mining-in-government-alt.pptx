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88" r:id="rId4"/>
    <p:sldId id="259" r:id="rId5"/>
    <p:sldId id="260" r:id="rId6"/>
    <p:sldId id="290" r:id="rId7"/>
    <p:sldId id="261" r:id="rId8"/>
    <p:sldId id="262" r:id="rId9"/>
    <p:sldId id="263" r:id="rId10"/>
    <p:sldId id="289" r:id="rId11"/>
    <p:sldId id="265" r:id="rId12"/>
    <p:sldId id="266" r:id="rId13"/>
    <p:sldId id="267" r:id="rId14"/>
    <p:sldId id="268" r:id="rId15"/>
    <p:sldId id="269" r:id="rId16"/>
    <p:sldId id="270" r:id="rId17"/>
    <p:sldId id="271" r:id="rId18"/>
    <p:sldId id="272" r:id="rId19"/>
    <p:sldId id="273" r:id="rId20"/>
    <p:sldId id="291" r:id="rId21"/>
    <p:sldId id="275" r:id="rId22"/>
    <p:sldId id="276" r:id="rId23"/>
    <p:sldId id="278" r:id="rId24"/>
    <p:sldId id="279" r:id="rId25"/>
    <p:sldId id="281" r:id="rId26"/>
    <p:sldId id="282" r:id="rId27"/>
    <p:sldId id="283" r:id="rId28"/>
    <p:sldId id="286"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6" d="100"/>
          <a:sy n="106" d="100"/>
        </p:scale>
        <p:origin x="136"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t>UNIT 5</a:t>
            </a:r>
          </a:p>
          <a:p>
            <a:r>
              <a:t>Applications of Data Warehousing and Data Mining in Government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Syllabus Coverage</a:t>
            </a:r>
          </a:p>
        </p:txBody>
      </p:sp>
      <p:sp>
        <p:nvSpPr>
          <p:cNvPr id="3" name="Content Placeholder 2"/>
          <p:cNvSpPr>
            <a:spLocks noGrp="1"/>
          </p:cNvSpPr>
          <p:nvPr>
            <p:ph idx="1"/>
          </p:nvPr>
        </p:nvSpPr>
        <p:spPr/>
        <p:txBody>
          <a:bodyPr/>
          <a:lstStyle/>
          <a:p>
            <a:pPr>
              <a:spcAft>
                <a:spcPts val="700"/>
              </a:spcAft>
              <a:defRPr sz="2200"/>
            </a:pPr>
            <a:r>
              <a:t>Introduction and National Data Warehouses</a:t>
            </a:r>
          </a:p>
          <a:p>
            <a:pPr>
              <a:spcAft>
                <a:spcPts val="700"/>
              </a:spcAft>
              <a:defRPr sz="2200"/>
            </a:pPr>
            <a:r>
              <a:t>Census Data</a:t>
            </a:r>
          </a:p>
          <a:p>
            <a:pPr>
              <a:spcAft>
                <a:spcPts val="700"/>
              </a:spcAft>
              <a:defRPr sz="2200"/>
            </a:pPr>
            <a:r>
              <a:t>Prices of Essential Commodities</a:t>
            </a:r>
          </a:p>
          <a:p>
            <a:pPr>
              <a:spcAft>
                <a:spcPts val="700"/>
              </a:spcAft>
              <a:defRPr sz="2200"/>
            </a:pPr>
            <a:r>
              <a:t>Agriculture and Rural Development</a:t>
            </a:r>
          </a:p>
          <a:p>
            <a:pPr>
              <a:spcAft>
                <a:spcPts val="700"/>
              </a:spcAft>
              <a:defRPr sz="2200"/>
            </a:pPr>
            <a:r>
              <a:t>Health and Planning</a:t>
            </a:r>
          </a:p>
          <a:p>
            <a:pPr>
              <a:spcAft>
                <a:spcPts val="700"/>
              </a:spcAft>
              <a:defRPr sz="2200"/>
            </a:pPr>
            <a:r>
              <a:t>Education</a:t>
            </a:r>
          </a:p>
          <a:p>
            <a:pPr>
              <a:spcAft>
                <a:spcPts val="700"/>
              </a:spcAft>
              <a:defRPr sz="2200"/>
            </a:pPr>
            <a:r>
              <a:t>Commerce and Trade</a:t>
            </a:r>
          </a:p>
          <a:p>
            <a:pPr>
              <a:spcAft>
                <a:spcPts val="700"/>
              </a:spcAft>
              <a:defRPr sz="2200"/>
            </a:pPr>
            <a:r>
              <a:t>Other Sectors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endParaRPr lang="en-US" dirty="0"/>
          </a:p>
        </p:txBody>
      </p:sp>
      <p:sp>
        <p:nvSpPr>
          <p:cNvPr id="3" name="Content Placeholder 2"/>
          <p:cNvSpPr>
            <a:spLocks noGrp="1"/>
          </p:cNvSpPr>
          <p:nvPr>
            <p:ph idx="1"/>
          </p:nvPr>
        </p:nvSpPr>
        <p:spPr>
          <a:xfrm>
            <a:off x="457200" y="1600200"/>
            <a:ext cx="11261558" cy="4525963"/>
          </a:xfrm>
        </p:spPr>
        <p:txBody>
          <a:bodyPr>
            <a:normAutofit fontScale="77500" lnSpcReduction="20000"/>
          </a:bodyPr>
          <a:lstStyle/>
          <a:p>
            <a:pPr algn="just"/>
            <a:r>
              <a:rPr lang="en-US" dirty="0"/>
              <a:t>Governments collect and generate enormous amounts of data through census operations, public services, taxation, health facilities, education systems, agriculture programs, trade and commerce, land administration, transportation, and development projects. </a:t>
            </a:r>
            <a:endParaRPr lang="en-US" dirty="0" smtClean="0"/>
          </a:p>
          <a:p>
            <a:pPr algn="just"/>
            <a:r>
              <a:rPr lang="en-US" dirty="0" smtClean="0"/>
              <a:t>When </a:t>
            </a:r>
            <a:r>
              <a:rPr lang="en-US" dirty="0"/>
              <a:t>these data are stored only in separate departmental systems, it becomes difficult to obtain a complete picture for policy making</a:t>
            </a:r>
            <a:r>
              <a:rPr lang="en-US" dirty="0" smtClean="0"/>
              <a:t>.</a:t>
            </a:r>
          </a:p>
          <a:p>
            <a:pPr algn="just"/>
            <a:r>
              <a:rPr lang="en-US" dirty="0" smtClean="0"/>
              <a:t> </a:t>
            </a:r>
            <a:r>
              <a:rPr lang="en-US" dirty="0"/>
              <a:t>Data warehousing integrates data from different sources, while data mining extracts useful patterns, relationships, trends, and predictions from the integrated data.</a:t>
            </a:r>
          </a:p>
          <a:p>
            <a:pPr algn="just"/>
            <a:r>
              <a:rPr lang="en-US" dirty="0"/>
              <a:t>In government, the major objective is to convert public data into reliable information and knowledge for evidence-based decision making, efficient resource allocation, monitoring of development programs, forecasting, and improved public services.</a:t>
            </a:r>
          </a:p>
        </p:txBody>
      </p:sp>
    </p:spTree>
    <p:extLst>
      <p:ext uri="{BB962C8B-B14F-4D97-AF65-F5344CB8AC3E}">
        <p14:creationId xmlns:p14="http://schemas.microsoft.com/office/powerpoint/2010/main" val="16236794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Warehousing</a:t>
            </a:r>
          </a:p>
        </p:txBody>
      </p:sp>
      <p:sp>
        <p:nvSpPr>
          <p:cNvPr id="3" name="Content Placeholder 2"/>
          <p:cNvSpPr>
            <a:spLocks noGrp="1"/>
          </p:cNvSpPr>
          <p:nvPr>
            <p:ph idx="1"/>
          </p:nvPr>
        </p:nvSpPr>
        <p:spPr>
          <a:xfrm>
            <a:off x="457200" y="1600200"/>
            <a:ext cx="10924674" cy="4525963"/>
          </a:xfrm>
        </p:spPr>
        <p:txBody>
          <a:bodyPr>
            <a:normAutofit fontScale="85000" lnSpcReduction="20000"/>
          </a:bodyPr>
          <a:lstStyle/>
          <a:p>
            <a:pPr algn="just"/>
            <a:r>
              <a:rPr lang="en-US" dirty="0"/>
              <a:t>A data warehouse is a centralized repository that stores integrated, historical, and subject-oriented data for reporting and analysis rather than routine transaction processing.</a:t>
            </a:r>
          </a:p>
          <a:p>
            <a:pPr lvl="1" algn="just"/>
            <a:r>
              <a:rPr lang="en-US" dirty="0"/>
              <a:t>Subject-oriented: organized around subjects such as population, health, education, or agriculture.</a:t>
            </a:r>
          </a:p>
          <a:p>
            <a:pPr lvl="1" algn="just"/>
            <a:r>
              <a:rPr lang="en-US" dirty="0"/>
              <a:t>Integrated: combines data from multiple departments and systems using common definitions and formats.</a:t>
            </a:r>
          </a:p>
          <a:p>
            <a:pPr lvl="1" algn="just"/>
            <a:r>
              <a:rPr lang="en-US" dirty="0"/>
              <a:t>Time-variant: stores historical data so that changes can be studied over time.</a:t>
            </a:r>
          </a:p>
          <a:p>
            <a:pPr lvl="1" algn="just"/>
            <a:r>
              <a:rPr lang="en-US" dirty="0"/>
              <a:t>Non-volatile: data are mainly loaded and analyzed rather than continuously updated like operational databases.</a:t>
            </a:r>
          </a:p>
          <a:p>
            <a:pPr algn="just"/>
            <a:r>
              <a:rPr lang="en-US" dirty="0"/>
              <a:t>Supports decision support, analytical queries, dashboards, reports, and trend analysis.</a:t>
            </a:r>
            <a:endParaRPr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Mining</a:t>
            </a:r>
          </a:p>
        </p:txBody>
      </p:sp>
      <p:sp>
        <p:nvSpPr>
          <p:cNvPr id="3" name="Content Placeholder 2"/>
          <p:cNvSpPr>
            <a:spLocks noGrp="1"/>
          </p:cNvSpPr>
          <p:nvPr>
            <p:ph idx="1"/>
          </p:nvPr>
        </p:nvSpPr>
        <p:spPr>
          <a:xfrm>
            <a:off x="457200" y="1606216"/>
            <a:ext cx="11141242" cy="4525963"/>
          </a:xfrm>
        </p:spPr>
        <p:txBody>
          <a:bodyPr>
            <a:normAutofit fontScale="92500"/>
          </a:bodyPr>
          <a:lstStyle/>
          <a:p>
            <a:pPr algn="just"/>
            <a:r>
              <a:rPr lang="en-US" dirty="0"/>
              <a:t>Data mining is the process of discovering meaningful patterns, relationships, trends, and predictive knowledge from large datasets using statistics, machine learning, and database techniques.</a:t>
            </a:r>
          </a:p>
          <a:p>
            <a:pPr lvl="1" algn="just"/>
            <a:r>
              <a:rPr lang="en-US" dirty="0"/>
              <a:t>Classification – places records into predefined categories.</a:t>
            </a:r>
          </a:p>
          <a:p>
            <a:pPr lvl="1" algn="just"/>
            <a:r>
              <a:rPr lang="en-US" dirty="0"/>
              <a:t>Clustering – groups similar records without predefined classes.</a:t>
            </a:r>
          </a:p>
          <a:p>
            <a:pPr lvl="1" algn="just"/>
            <a:r>
              <a:rPr lang="en-US" dirty="0"/>
              <a:t>Association analysis – identifies relationships between events or attributes.</a:t>
            </a:r>
          </a:p>
          <a:p>
            <a:pPr lvl="1" algn="just"/>
            <a:r>
              <a:rPr lang="en-US" dirty="0"/>
              <a:t>Regression – predicts numerical values.</a:t>
            </a:r>
          </a:p>
          <a:p>
            <a:pPr lvl="1" algn="just"/>
            <a:r>
              <a:rPr lang="en-US" dirty="0"/>
              <a:t>Time-series analysis – studies and forecasts changes over time.</a:t>
            </a:r>
          </a:p>
          <a:p>
            <a:pPr lvl="1" algn="just"/>
            <a:r>
              <a:rPr lang="en-US" dirty="0"/>
              <a:t>Anomaly detection – identifies unusual or unexpected patterns.</a:t>
            </a:r>
            <a:endParaRP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286" y="274638"/>
            <a:ext cx="11056180" cy="1143000"/>
          </a:xfrm>
        </p:spPr>
        <p:txBody>
          <a:bodyPr>
            <a:noAutofit/>
          </a:bodyPr>
          <a:lstStyle/>
          <a:p>
            <a:r>
              <a:rPr lang="en-US" sz="4000" dirty="0"/>
              <a:t>Data Mining Techniques and Government Applications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16170555"/>
              </p:ext>
            </p:extLst>
          </p:nvPr>
        </p:nvGraphicFramePr>
        <p:xfrm>
          <a:off x="863601" y="1591731"/>
          <a:ext cx="10574865" cy="4556760"/>
        </p:xfrm>
        <a:graphic>
          <a:graphicData uri="http://schemas.openxmlformats.org/drawingml/2006/table">
            <a:tbl>
              <a:tblPr firstRow="1" firstCol="1" bandRow="1">
                <a:tableStyleId>{5C22544A-7EE6-4342-B048-85BDC9FD1C3A}</a:tableStyleId>
              </a:tblPr>
              <a:tblGrid>
                <a:gridCol w="3524955">
                  <a:extLst>
                    <a:ext uri="{9D8B030D-6E8A-4147-A177-3AD203B41FA5}">
                      <a16:colId xmlns:a16="http://schemas.microsoft.com/office/drawing/2014/main" val="989432863"/>
                    </a:ext>
                  </a:extLst>
                </a:gridCol>
                <a:gridCol w="3524955">
                  <a:extLst>
                    <a:ext uri="{9D8B030D-6E8A-4147-A177-3AD203B41FA5}">
                      <a16:colId xmlns:a16="http://schemas.microsoft.com/office/drawing/2014/main" val="3806197323"/>
                    </a:ext>
                  </a:extLst>
                </a:gridCol>
                <a:gridCol w="3524955">
                  <a:extLst>
                    <a:ext uri="{9D8B030D-6E8A-4147-A177-3AD203B41FA5}">
                      <a16:colId xmlns:a16="http://schemas.microsoft.com/office/drawing/2014/main" val="295452737"/>
                    </a:ext>
                  </a:extLst>
                </a:gridCol>
              </a:tblGrid>
              <a:tr h="322593">
                <a:tc>
                  <a:txBody>
                    <a:bodyPr/>
                    <a:lstStyle/>
                    <a:p>
                      <a:pPr marL="0" marR="0">
                        <a:lnSpc>
                          <a:spcPct val="115000"/>
                        </a:lnSpc>
                        <a:spcBef>
                          <a:spcPts val="0"/>
                        </a:spcBef>
                        <a:spcAft>
                          <a:spcPts val="0"/>
                        </a:spcAft>
                      </a:pPr>
                      <a:r>
                        <a:rPr lang="en-US" sz="2000">
                          <a:effectLst/>
                        </a:rPr>
                        <a:t>Technique</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a:effectLst/>
                        </a:rPr>
                        <a:t>Description</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a:effectLst/>
                        </a:rPr>
                        <a:t>Government Example</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714372466"/>
                  </a:ext>
                </a:extLst>
              </a:tr>
              <a:tr h="667313">
                <a:tc>
                  <a:txBody>
                    <a:bodyPr/>
                    <a:lstStyle/>
                    <a:p>
                      <a:pPr marL="0" marR="0">
                        <a:lnSpc>
                          <a:spcPct val="115000"/>
                        </a:lnSpc>
                        <a:spcBef>
                          <a:spcPts val="0"/>
                        </a:spcBef>
                        <a:spcAft>
                          <a:spcPts val="0"/>
                        </a:spcAft>
                      </a:pPr>
                      <a:r>
                        <a:rPr lang="en-US" sz="2000">
                          <a:effectLst/>
                        </a:rPr>
                        <a:t>Classification</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a:effectLst/>
                        </a:rPr>
                        <a:t>Predicts a category or class</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a:effectLst/>
                        </a:rPr>
                        <a:t>Classify development areas by service-need level</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740229267"/>
                  </a:ext>
                </a:extLst>
              </a:tr>
              <a:tr h="667313">
                <a:tc>
                  <a:txBody>
                    <a:bodyPr/>
                    <a:lstStyle/>
                    <a:p>
                      <a:pPr marL="0" marR="0">
                        <a:lnSpc>
                          <a:spcPct val="115000"/>
                        </a:lnSpc>
                        <a:spcBef>
                          <a:spcPts val="0"/>
                        </a:spcBef>
                        <a:spcAft>
                          <a:spcPts val="0"/>
                        </a:spcAft>
                      </a:pPr>
                      <a:r>
                        <a:rPr lang="en-US" sz="2000">
                          <a:effectLst/>
                        </a:rPr>
                        <a:t>Clustering</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a:effectLst/>
                        </a:rPr>
                        <a:t>Groups similar records</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a:effectLst/>
                        </a:rPr>
                        <a:t>Group districts with similar socioeconomic indicators</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769252045"/>
                  </a:ext>
                </a:extLst>
              </a:tr>
              <a:tr h="667313">
                <a:tc>
                  <a:txBody>
                    <a:bodyPr/>
                    <a:lstStyle/>
                    <a:p>
                      <a:pPr marL="0" marR="0">
                        <a:lnSpc>
                          <a:spcPct val="115000"/>
                        </a:lnSpc>
                        <a:spcBef>
                          <a:spcPts val="0"/>
                        </a:spcBef>
                        <a:spcAft>
                          <a:spcPts val="0"/>
                        </a:spcAft>
                      </a:pPr>
                      <a:r>
                        <a:rPr lang="en-US" sz="2000">
                          <a:effectLst/>
                        </a:rPr>
                        <a:t>Association</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a:effectLst/>
                        </a:rPr>
                        <a:t>Finds relationships among variables/events</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a:effectLst/>
                        </a:rPr>
                        <a:t>Find relationships among service usage patterns</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469885329"/>
                  </a:ext>
                </a:extLst>
              </a:tr>
              <a:tr h="667313">
                <a:tc>
                  <a:txBody>
                    <a:bodyPr/>
                    <a:lstStyle/>
                    <a:p>
                      <a:pPr marL="0" marR="0">
                        <a:lnSpc>
                          <a:spcPct val="115000"/>
                        </a:lnSpc>
                        <a:spcBef>
                          <a:spcPts val="0"/>
                        </a:spcBef>
                        <a:spcAft>
                          <a:spcPts val="0"/>
                        </a:spcAft>
                      </a:pPr>
                      <a:r>
                        <a:rPr lang="en-US" sz="2000" dirty="0">
                          <a:effectLst/>
                        </a:rPr>
                        <a:t>Regression</a:t>
                      </a:r>
                      <a:endParaRPr lang="en-US" sz="2000" dirty="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a:effectLst/>
                        </a:rPr>
                        <a:t>Predicts a numerical value</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a:effectLst/>
                        </a:rPr>
                        <a:t>Forecast crop yield, prices or revenue</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930572336"/>
                  </a:ext>
                </a:extLst>
              </a:tr>
              <a:tr h="667313">
                <a:tc>
                  <a:txBody>
                    <a:bodyPr/>
                    <a:lstStyle/>
                    <a:p>
                      <a:pPr marL="0" marR="0">
                        <a:lnSpc>
                          <a:spcPct val="115000"/>
                        </a:lnSpc>
                        <a:spcBef>
                          <a:spcPts val="0"/>
                        </a:spcBef>
                        <a:spcAft>
                          <a:spcPts val="0"/>
                        </a:spcAft>
                      </a:pPr>
                      <a:r>
                        <a:rPr lang="en-US" sz="2000">
                          <a:effectLst/>
                        </a:rPr>
                        <a:t>Time-series</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a:effectLst/>
                        </a:rPr>
                        <a:t>Analyzes observations over time</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a:effectLst/>
                        </a:rPr>
                        <a:t>Forecast commodity prices or disease cases</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628665579"/>
                  </a:ext>
                </a:extLst>
              </a:tr>
              <a:tr h="667313">
                <a:tc>
                  <a:txBody>
                    <a:bodyPr/>
                    <a:lstStyle/>
                    <a:p>
                      <a:pPr marL="0" marR="0">
                        <a:lnSpc>
                          <a:spcPct val="115000"/>
                        </a:lnSpc>
                        <a:spcBef>
                          <a:spcPts val="0"/>
                        </a:spcBef>
                        <a:spcAft>
                          <a:spcPts val="0"/>
                        </a:spcAft>
                      </a:pPr>
                      <a:r>
                        <a:rPr lang="en-US" sz="2000">
                          <a:effectLst/>
                        </a:rPr>
                        <a:t>Anomaly detection</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a:effectLst/>
                        </a:rPr>
                        <a:t>Finds unusual observations</a:t>
                      </a:r>
                      <a:endParaRPr lang="en-US" sz="20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dirty="0">
                          <a:effectLst/>
                        </a:rPr>
                        <a:t>Flag unusual trade or transaction patterns</a:t>
                      </a:r>
                      <a:endParaRPr lang="en-US" sz="2000" dirty="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599000802"/>
                  </a:ext>
                </a:extLst>
              </a:tr>
            </a:tbl>
          </a:graphicData>
        </a:graphic>
      </p:graphicFrame>
    </p:spTree>
    <p:extLst>
      <p:ext uri="{BB962C8B-B14F-4D97-AF65-F5344CB8AC3E}">
        <p14:creationId xmlns:p14="http://schemas.microsoft.com/office/powerpoint/2010/main" val="24422605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Warehouse and Data Mining</a:t>
            </a:r>
          </a:p>
        </p:txBody>
      </p:sp>
      <p:sp>
        <p:nvSpPr>
          <p:cNvPr id="3" name="Content Placeholder 2"/>
          <p:cNvSpPr>
            <a:spLocks noGrp="1"/>
          </p:cNvSpPr>
          <p:nvPr>
            <p:ph idx="1"/>
          </p:nvPr>
        </p:nvSpPr>
        <p:spPr>
          <a:xfrm>
            <a:off x="457199" y="1600200"/>
            <a:ext cx="10600267" cy="4525963"/>
          </a:xfrm>
        </p:spPr>
        <p:txBody>
          <a:bodyPr>
            <a:normAutofit fontScale="92500"/>
          </a:bodyPr>
          <a:lstStyle/>
          <a:p>
            <a:pPr algn="just">
              <a:spcAft>
                <a:spcPts val="700"/>
              </a:spcAft>
              <a:defRPr sz="2200"/>
            </a:pPr>
            <a:r>
              <a:rPr lang="en-US" sz="2200" dirty="0"/>
              <a:t>A data warehouse provides a clean, integrated and historical data foundation, while data mining analyzes that data to discover knowledge. They therefore complement each other.</a:t>
            </a:r>
            <a:endParaRPr lang="en-US" dirty="0" smtClean="0"/>
          </a:p>
          <a:p>
            <a:pPr>
              <a:spcAft>
                <a:spcPts val="700"/>
              </a:spcAft>
              <a:defRPr sz="2200"/>
            </a:pPr>
            <a:endParaRPr dirty="0"/>
          </a:p>
          <a:p>
            <a:pPr>
              <a:spcAft>
                <a:spcPts val="700"/>
              </a:spcAft>
              <a:defRPr sz="2200"/>
            </a:pPr>
            <a:endParaRPr lang="en-US" dirty="0" smtClean="0">
              <a:solidFill>
                <a:srgbClr val="00B050"/>
              </a:solidFill>
            </a:endParaRPr>
          </a:p>
          <a:p>
            <a:pPr>
              <a:spcAft>
                <a:spcPts val="700"/>
              </a:spcAft>
              <a:defRPr sz="2200"/>
            </a:pPr>
            <a:endParaRPr lang="en-US" dirty="0">
              <a:solidFill>
                <a:srgbClr val="00B050"/>
              </a:solidFill>
            </a:endParaRPr>
          </a:p>
          <a:p>
            <a:pPr>
              <a:spcAft>
                <a:spcPts val="700"/>
              </a:spcAft>
              <a:defRPr sz="2200"/>
            </a:pPr>
            <a:endParaRPr lang="en-US" dirty="0" smtClean="0">
              <a:solidFill>
                <a:srgbClr val="00B050"/>
              </a:solidFill>
            </a:endParaRPr>
          </a:p>
          <a:p>
            <a:pPr>
              <a:spcAft>
                <a:spcPts val="700"/>
              </a:spcAft>
              <a:defRPr sz="2200"/>
            </a:pPr>
            <a:endParaRPr lang="en-US" dirty="0">
              <a:solidFill>
                <a:srgbClr val="00B050"/>
              </a:solidFill>
            </a:endParaRPr>
          </a:p>
          <a:p>
            <a:pPr>
              <a:spcAft>
                <a:spcPts val="700"/>
              </a:spcAft>
              <a:defRPr sz="2200"/>
            </a:pPr>
            <a:endParaRPr lang="en-US" dirty="0" smtClean="0">
              <a:solidFill>
                <a:srgbClr val="00B050"/>
              </a:solidFill>
            </a:endParaRPr>
          </a:p>
          <a:p>
            <a:pPr>
              <a:spcAft>
                <a:spcPts val="700"/>
              </a:spcAft>
              <a:defRPr sz="2200"/>
            </a:pPr>
            <a:endParaRPr lang="en-US" dirty="0">
              <a:solidFill>
                <a:srgbClr val="00B050"/>
              </a:solidFill>
            </a:endParaRPr>
          </a:p>
          <a:p>
            <a:pPr>
              <a:spcAft>
                <a:spcPts val="700"/>
              </a:spcAft>
              <a:defRPr sz="2200"/>
            </a:pPr>
            <a:r>
              <a:rPr dirty="0" smtClean="0">
                <a:solidFill>
                  <a:srgbClr val="00B050"/>
                </a:solidFill>
              </a:rPr>
              <a:t>They </a:t>
            </a:r>
            <a:r>
              <a:rPr dirty="0">
                <a:solidFill>
                  <a:srgbClr val="00B050"/>
                </a:solidFill>
              </a:rPr>
              <a:t>work together as a foundation for government decision support.</a:t>
            </a:r>
          </a:p>
        </p:txBody>
      </p:sp>
      <p:graphicFrame>
        <p:nvGraphicFramePr>
          <p:cNvPr id="4" name="Table 3"/>
          <p:cNvGraphicFramePr>
            <a:graphicFrameLocks noGrp="1"/>
          </p:cNvGraphicFramePr>
          <p:nvPr>
            <p:extLst>
              <p:ext uri="{D42A27DB-BD31-4B8C-83A1-F6EECF244321}">
                <p14:modId xmlns:p14="http://schemas.microsoft.com/office/powerpoint/2010/main" val="3071253671"/>
              </p:ext>
            </p:extLst>
          </p:nvPr>
        </p:nvGraphicFramePr>
        <p:xfrm>
          <a:off x="999064" y="2328333"/>
          <a:ext cx="9203268" cy="3225706"/>
        </p:xfrm>
        <a:graphic>
          <a:graphicData uri="http://schemas.openxmlformats.org/drawingml/2006/table">
            <a:tbl>
              <a:tblPr firstRow="1" firstCol="1" bandRow="1">
                <a:tableStyleId>{5C22544A-7EE6-4342-B048-85BDC9FD1C3A}</a:tableStyleId>
              </a:tblPr>
              <a:tblGrid>
                <a:gridCol w="3067756">
                  <a:extLst>
                    <a:ext uri="{9D8B030D-6E8A-4147-A177-3AD203B41FA5}">
                      <a16:colId xmlns:a16="http://schemas.microsoft.com/office/drawing/2014/main" val="2273151180"/>
                    </a:ext>
                  </a:extLst>
                </a:gridCol>
                <a:gridCol w="3067756">
                  <a:extLst>
                    <a:ext uri="{9D8B030D-6E8A-4147-A177-3AD203B41FA5}">
                      <a16:colId xmlns:a16="http://schemas.microsoft.com/office/drawing/2014/main" val="3929463033"/>
                    </a:ext>
                  </a:extLst>
                </a:gridCol>
                <a:gridCol w="3067756">
                  <a:extLst>
                    <a:ext uri="{9D8B030D-6E8A-4147-A177-3AD203B41FA5}">
                      <a16:colId xmlns:a16="http://schemas.microsoft.com/office/drawing/2014/main" val="2003118359"/>
                    </a:ext>
                  </a:extLst>
                </a:gridCol>
              </a:tblGrid>
              <a:tr h="360097">
                <a:tc>
                  <a:txBody>
                    <a:bodyPr/>
                    <a:lstStyle/>
                    <a:p>
                      <a:pPr marL="0" marR="0">
                        <a:lnSpc>
                          <a:spcPct val="115000"/>
                        </a:lnSpc>
                        <a:spcBef>
                          <a:spcPts val="0"/>
                        </a:spcBef>
                        <a:spcAft>
                          <a:spcPts val="0"/>
                        </a:spcAft>
                      </a:pPr>
                      <a:r>
                        <a:rPr lang="en-US" sz="1800">
                          <a:effectLst/>
                        </a:rPr>
                        <a:t>Aspect</a:t>
                      </a:r>
                      <a:endParaRPr lang="en-US" sz="18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a:effectLst/>
                        </a:rPr>
                        <a:t>Data Warehousing</a:t>
                      </a:r>
                      <a:endParaRPr lang="en-US" sz="18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a:effectLst/>
                        </a:rPr>
                        <a:t>Data Mining</a:t>
                      </a:r>
                      <a:endParaRPr lang="en-US" sz="180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266150"/>
                  </a:ext>
                </a:extLst>
              </a:tr>
              <a:tr h="360097">
                <a:tc>
                  <a:txBody>
                    <a:bodyPr/>
                    <a:lstStyle/>
                    <a:p>
                      <a:pPr marL="0" marR="0">
                        <a:lnSpc>
                          <a:spcPct val="115000"/>
                        </a:lnSpc>
                        <a:spcBef>
                          <a:spcPts val="0"/>
                        </a:spcBef>
                        <a:spcAft>
                          <a:spcPts val="0"/>
                        </a:spcAft>
                      </a:pPr>
                      <a:r>
                        <a:rPr lang="en-US" sz="1800">
                          <a:effectLst/>
                        </a:rPr>
                        <a:t>Main purpose</a:t>
                      </a:r>
                      <a:endParaRPr lang="en-US" sz="18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a:effectLst/>
                        </a:rPr>
                        <a:t>Store and organize data for analysis</a:t>
                      </a:r>
                      <a:endParaRPr lang="en-US" sz="18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a:effectLst/>
                        </a:rPr>
                        <a:t>Discover knowledge and patterns</a:t>
                      </a:r>
                      <a:endParaRPr lang="en-US" sz="180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848135101"/>
                  </a:ext>
                </a:extLst>
              </a:tr>
              <a:tr h="744891">
                <a:tc>
                  <a:txBody>
                    <a:bodyPr/>
                    <a:lstStyle/>
                    <a:p>
                      <a:pPr marL="0" marR="0">
                        <a:lnSpc>
                          <a:spcPct val="115000"/>
                        </a:lnSpc>
                        <a:spcBef>
                          <a:spcPts val="0"/>
                        </a:spcBef>
                        <a:spcAft>
                          <a:spcPts val="0"/>
                        </a:spcAft>
                      </a:pPr>
                      <a:r>
                        <a:rPr lang="en-US" sz="1800">
                          <a:effectLst/>
                        </a:rPr>
                        <a:t>Input</a:t>
                      </a:r>
                      <a:endParaRPr lang="en-US" sz="18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dirty="0">
                          <a:effectLst/>
                        </a:rPr>
                        <a:t>Operational and external data sources</a:t>
                      </a:r>
                      <a:endParaRPr lang="en-US" sz="1800" dirty="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dirty="0">
                          <a:effectLst/>
                        </a:rPr>
                        <a:t>Large datasets, often from a warehouse</a:t>
                      </a:r>
                      <a:endParaRPr lang="en-US" sz="1800" dirty="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854431946"/>
                  </a:ext>
                </a:extLst>
              </a:tr>
              <a:tr h="744891">
                <a:tc>
                  <a:txBody>
                    <a:bodyPr/>
                    <a:lstStyle/>
                    <a:p>
                      <a:pPr marL="0" marR="0">
                        <a:lnSpc>
                          <a:spcPct val="115000"/>
                        </a:lnSpc>
                        <a:spcBef>
                          <a:spcPts val="0"/>
                        </a:spcBef>
                        <a:spcAft>
                          <a:spcPts val="0"/>
                        </a:spcAft>
                      </a:pPr>
                      <a:r>
                        <a:rPr lang="en-US" sz="1800" dirty="0">
                          <a:effectLst/>
                        </a:rPr>
                        <a:t>Output</a:t>
                      </a:r>
                      <a:endParaRPr lang="en-US" sz="1800" dirty="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a:effectLst/>
                        </a:rPr>
                        <a:t>Reports, summaries, OLAP views</a:t>
                      </a:r>
                      <a:endParaRPr lang="en-US" sz="18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dirty="0">
                          <a:effectLst/>
                        </a:rPr>
                        <a:t>Patterns, predictions, classifications, anomalies</a:t>
                      </a:r>
                      <a:endParaRPr lang="en-US" sz="1800" dirty="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602609236"/>
                  </a:ext>
                </a:extLst>
              </a:tr>
              <a:tr h="744891">
                <a:tc>
                  <a:txBody>
                    <a:bodyPr/>
                    <a:lstStyle/>
                    <a:p>
                      <a:pPr marL="0" marR="0">
                        <a:lnSpc>
                          <a:spcPct val="115000"/>
                        </a:lnSpc>
                        <a:spcBef>
                          <a:spcPts val="0"/>
                        </a:spcBef>
                        <a:spcAft>
                          <a:spcPts val="0"/>
                        </a:spcAft>
                      </a:pPr>
                      <a:r>
                        <a:rPr lang="en-US" sz="1800">
                          <a:effectLst/>
                        </a:rPr>
                        <a:t>Government use</a:t>
                      </a:r>
                      <a:endParaRPr lang="en-US" sz="18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a:effectLst/>
                        </a:rPr>
                        <a:t>Integrated departmental information</a:t>
                      </a:r>
                      <a:endParaRPr lang="en-US" sz="18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dirty="0">
                          <a:effectLst/>
                        </a:rPr>
                        <a:t>Evidence, forecasting and intelligent decision support</a:t>
                      </a:r>
                      <a:endParaRPr lang="en-US" sz="1800" dirty="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149820932"/>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National Data Warehouse</a:t>
            </a:r>
          </a:p>
        </p:txBody>
      </p:sp>
      <p:sp>
        <p:nvSpPr>
          <p:cNvPr id="3" name="Content Placeholder 2"/>
          <p:cNvSpPr>
            <a:spLocks noGrp="1"/>
          </p:cNvSpPr>
          <p:nvPr>
            <p:ph idx="1"/>
          </p:nvPr>
        </p:nvSpPr>
        <p:spPr>
          <a:xfrm>
            <a:off x="457199" y="1600200"/>
            <a:ext cx="10854267" cy="4525963"/>
          </a:xfrm>
        </p:spPr>
        <p:txBody>
          <a:bodyPr>
            <a:normAutofit/>
          </a:bodyPr>
          <a:lstStyle/>
          <a:p>
            <a:pPr algn="just">
              <a:spcAft>
                <a:spcPts val="700"/>
              </a:spcAft>
              <a:defRPr sz="2200"/>
            </a:pPr>
            <a:r>
              <a:rPr lang="en-US" sz="2400" dirty="0"/>
              <a:t>A National Data Warehouse (NDW) is a large-scale data warehouse designed to integrate important data from multiple government agencies at the national level</a:t>
            </a:r>
            <a:r>
              <a:rPr lang="en-US" sz="2400" dirty="0" smtClean="0"/>
              <a:t>.</a:t>
            </a:r>
          </a:p>
          <a:p>
            <a:pPr algn="just">
              <a:spcAft>
                <a:spcPts val="700"/>
              </a:spcAft>
              <a:defRPr sz="2200"/>
            </a:pPr>
            <a:r>
              <a:rPr lang="en-US" sz="2400" dirty="0" smtClean="0"/>
              <a:t> </a:t>
            </a:r>
            <a:r>
              <a:rPr lang="en-US" sz="2400" dirty="0"/>
              <a:t>It provides a common analytical environment for government planning, monitoring, research, and policy decisions.</a:t>
            </a:r>
            <a:endParaRPr lang="en-US" sz="2400" dirty="0" smtClean="0"/>
          </a:p>
          <a:p>
            <a:pPr>
              <a:spcAft>
                <a:spcPts val="700"/>
              </a:spcAft>
              <a:defRPr sz="2200"/>
            </a:pPr>
            <a:endParaRPr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0583332" cy="1143000"/>
          </a:xfrm>
        </p:spPr>
        <p:txBody>
          <a:bodyPr>
            <a:normAutofit/>
          </a:bodyPr>
          <a:lstStyle/>
          <a:p>
            <a:r>
              <a:rPr lang="en-US" dirty="0"/>
              <a:t>Objectives </a:t>
            </a:r>
            <a:r>
              <a:rPr lang="en-US" dirty="0" smtClean="0"/>
              <a:t> of </a:t>
            </a:r>
            <a:r>
              <a:rPr dirty="0" smtClean="0"/>
              <a:t>National </a:t>
            </a:r>
            <a:r>
              <a:rPr dirty="0"/>
              <a:t>Data </a:t>
            </a:r>
            <a:r>
              <a:rPr dirty="0" smtClean="0"/>
              <a:t>Warehouse</a:t>
            </a:r>
            <a:endParaRPr dirty="0"/>
          </a:p>
        </p:txBody>
      </p:sp>
      <p:sp>
        <p:nvSpPr>
          <p:cNvPr id="3" name="Content Placeholder 2"/>
          <p:cNvSpPr>
            <a:spLocks noGrp="1"/>
          </p:cNvSpPr>
          <p:nvPr>
            <p:ph idx="1"/>
          </p:nvPr>
        </p:nvSpPr>
        <p:spPr>
          <a:xfrm>
            <a:off x="457199" y="1600200"/>
            <a:ext cx="10583333" cy="4525963"/>
          </a:xfrm>
        </p:spPr>
        <p:txBody>
          <a:bodyPr>
            <a:normAutofit fontScale="85000" lnSpcReduction="20000"/>
          </a:bodyPr>
          <a:lstStyle/>
          <a:p>
            <a:pPr lvl="0"/>
            <a:r>
              <a:rPr lang="en-US" dirty="0" smtClean="0"/>
              <a:t>To integrate </a:t>
            </a:r>
            <a:r>
              <a:rPr lang="en-US" dirty="0"/>
              <a:t>important datasets from different government agencies.</a:t>
            </a:r>
          </a:p>
          <a:p>
            <a:pPr lvl="0"/>
            <a:r>
              <a:rPr lang="en-US" dirty="0" smtClean="0"/>
              <a:t>To provide </a:t>
            </a:r>
            <a:r>
              <a:rPr lang="en-US" dirty="0"/>
              <a:t>a consistent and reliable source of information for decision makers.</a:t>
            </a:r>
          </a:p>
          <a:p>
            <a:pPr lvl="0"/>
            <a:r>
              <a:rPr lang="en-US" dirty="0" smtClean="0"/>
              <a:t>To preserve </a:t>
            </a:r>
            <a:r>
              <a:rPr lang="en-US" dirty="0"/>
              <a:t>historical national data for longitudinal analysis.</a:t>
            </a:r>
          </a:p>
          <a:p>
            <a:pPr lvl="0"/>
            <a:r>
              <a:rPr lang="en-US" dirty="0" smtClean="0"/>
              <a:t>To support </a:t>
            </a:r>
            <a:r>
              <a:rPr lang="en-US" dirty="0"/>
              <a:t>national planning, budgeting, policy formulation, and monitoring.</a:t>
            </a:r>
          </a:p>
          <a:p>
            <a:pPr lvl="0"/>
            <a:r>
              <a:rPr lang="en-US" dirty="0" smtClean="0"/>
              <a:t>To reduce </a:t>
            </a:r>
            <a:r>
              <a:rPr lang="en-US" dirty="0"/>
              <a:t>duplication of data collection and reporting.</a:t>
            </a:r>
          </a:p>
          <a:p>
            <a:pPr lvl="0"/>
            <a:r>
              <a:rPr lang="en-US" dirty="0" smtClean="0"/>
              <a:t>To enable </a:t>
            </a:r>
            <a:r>
              <a:rPr lang="en-US" dirty="0"/>
              <a:t>cross-sector analysis, such as linking population, health, education, and economic indicators.</a:t>
            </a:r>
          </a:p>
          <a:p>
            <a:pPr algn="just"/>
            <a:r>
              <a:rPr lang="en-US" dirty="0" smtClean="0"/>
              <a:t>To support </a:t>
            </a:r>
            <a:r>
              <a:rPr lang="en-US" dirty="0"/>
              <a:t>dashboards, statistical reports, GIS analysis, and decision-support systems.</a:t>
            </a:r>
            <a:endParaRPr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National DW</a:t>
            </a:r>
            <a:endParaRPr lang="en-US" dirty="0"/>
          </a:p>
        </p:txBody>
      </p:sp>
      <p:sp>
        <p:nvSpPr>
          <p:cNvPr id="3" name="Content Placeholder 2"/>
          <p:cNvSpPr>
            <a:spLocks noGrp="1"/>
          </p:cNvSpPr>
          <p:nvPr>
            <p:ph idx="1"/>
          </p:nvPr>
        </p:nvSpPr>
        <p:spPr>
          <a:xfrm>
            <a:off x="457200" y="1600200"/>
            <a:ext cx="11247120" cy="4525963"/>
          </a:xfrm>
        </p:spPr>
        <p:txBody>
          <a:bodyPr>
            <a:normAutofit/>
          </a:bodyPr>
          <a:lstStyle/>
          <a:p>
            <a:pPr lvl="0"/>
            <a:r>
              <a:rPr lang="en-US" dirty="0"/>
              <a:t>Centralized access to important national information.</a:t>
            </a:r>
          </a:p>
          <a:p>
            <a:pPr lvl="0"/>
            <a:r>
              <a:rPr lang="en-US" dirty="0"/>
              <a:t>Improved consistency and reduced data duplication.</a:t>
            </a:r>
          </a:p>
          <a:p>
            <a:pPr lvl="0"/>
            <a:r>
              <a:rPr lang="en-US" dirty="0"/>
              <a:t>Historical analysis and trend identification.</a:t>
            </a:r>
          </a:p>
          <a:p>
            <a:pPr lvl="0"/>
            <a:r>
              <a:rPr lang="en-US" dirty="0"/>
              <a:t>Faster preparation of reports and indicators.</a:t>
            </a:r>
          </a:p>
          <a:p>
            <a:pPr lvl="0"/>
            <a:r>
              <a:rPr lang="en-US" dirty="0"/>
              <a:t>Better coordination among government agencies.</a:t>
            </a:r>
          </a:p>
          <a:p>
            <a:pPr lvl="0"/>
            <a:r>
              <a:rPr lang="en-US" dirty="0"/>
              <a:t>Evidence-based national policy and planning.</a:t>
            </a:r>
          </a:p>
        </p:txBody>
      </p:sp>
    </p:spTree>
    <p:extLst>
      <p:ext uri="{BB962C8B-B14F-4D97-AF65-F5344CB8AC3E}">
        <p14:creationId xmlns:p14="http://schemas.microsoft.com/office/powerpoint/2010/main" val="32130646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0439400" cy="1143000"/>
          </a:xfrm>
        </p:spPr>
        <p:txBody>
          <a:bodyPr>
            <a:normAutofit/>
          </a:bodyPr>
          <a:lstStyle/>
          <a:p>
            <a:r>
              <a:rPr lang="en-US" dirty="0"/>
              <a:t>Challenges </a:t>
            </a:r>
            <a:r>
              <a:rPr lang="en-US" dirty="0" smtClean="0"/>
              <a:t>of </a:t>
            </a:r>
            <a:r>
              <a:rPr dirty="0" smtClean="0"/>
              <a:t>National </a:t>
            </a:r>
            <a:r>
              <a:rPr dirty="0"/>
              <a:t>Data Warehouse </a:t>
            </a:r>
          </a:p>
        </p:txBody>
      </p:sp>
      <p:sp>
        <p:nvSpPr>
          <p:cNvPr id="3" name="Content Placeholder 2"/>
          <p:cNvSpPr>
            <a:spLocks noGrp="1"/>
          </p:cNvSpPr>
          <p:nvPr>
            <p:ph idx="1"/>
          </p:nvPr>
        </p:nvSpPr>
        <p:spPr>
          <a:xfrm>
            <a:off x="457200" y="1600200"/>
            <a:ext cx="10439400" cy="4525963"/>
          </a:xfrm>
        </p:spPr>
        <p:txBody>
          <a:bodyPr/>
          <a:lstStyle/>
          <a:p>
            <a:pPr>
              <a:spcAft>
                <a:spcPts val="700"/>
              </a:spcAft>
              <a:defRPr sz="2200"/>
            </a:pPr>
            <a:r>
              <a:rPr dirty="0"/>
              <a:t>Poor, incomplete or inconsistent data quality.</a:t>
            </a:r>
          </a:p>
          <a:p>
            <a:pPr>
              <a:spcAft>
                <a:spcPts val="700"/>
              </a:spcAft>
              <a:defRPr sz="2200"/>
            </a:pPr>
            <a:r>
              <a:rPr dirty="0"/>
              <a:t>Different formats, standards and identifiers across agencies.</a:t>
            </a:r>
          </a:p>
          <a:p>
            <a:pPr>
              <a:spcAft>
                <a:spcPts val="700"/>
              </a:spcAft>
              <a:defRPr sz="2200"/>
            </a:pPr>
            <a:r>
              <a:rPr dirty="0"/>
              <a:t>Privacy and protection of personal information.</a:t>
            </a:r>
          </a:p>
          <a:p>
            <a:pPr>
              <a:spcAft>
                <a:spcPts val="700"/>
              </a:spcAft>
              <a:defRPr sz="2200"/>
            </a:pPr>
            <a:r>
              <a:rPr dirty="0"/>
              <a:t>Cybersecurity and access-control requirements.</a:t>
            </a:r>
          </a:p>
          <a:p>
            <a:pPr>
              <a:spcAft>
                <a:spcPts val="700"/>
              </a:spcAft>
              <a:defRPr sz="2200"/>
            </a:pPr>
            <a:r>
              <a:rPr dirty="0"/>
              <a:t>Data ownership and inter-agency sharing issues.</a:t>
            </a:r>
          </a:p>
          <a:p>
            <a:pPr>
              <a:spcAft>
                <a:spcPts val="700"/>
              </a:spcAft>
              <a:defRPr sz="2200"/>
            </a:pPr>
            <a:r>
              <a:rPr dirty="0"/>
              <a:t>Infrastructure, integration and skilled-resource costs.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t> </a:t>
            </a:r>
            <a:r>
              <a:rPr dirty="0"/>
              <a:t>Census Data</a:t>
            </a:r>
          </a:p>
        </p:txBody>
      </p:sp>
      <p:sp>
        <p:nvSpPr>
          <p:cNvPr id="3" name="Content Placeholder 2"/>
          <p:cNvSpPr>
            <a:spLocks noGrp="1"/>
          </p:cNvSpPr>
          <p:nvPr>
            <p:ph idx="1"/>
          </p:nvPr>
        </p:nvSpPr>
        <p:spPr>
          <a:xfrm>
            <a:off x="457199" y="1354668"/>
            <a:ext cx="10625667" cy="4771496"/>
          </a:xfrm>
        </p:spPr>
        <p:txBody>
          <a:bodyPr>
            <a:normAutofit fontScale="85000" lnSpcReduction="20000"/>
          </a:bodyPr>
          <a:lstStyle/>
          <a:p>
            <a:pPr algn="just">
              <a:spcAft>
                <a:spcPts val="700"/>
              </a:spcAft>
              <a:defRPr sz="2200"/>
            </a:pPr>
            <a:r>
              <a:rPr lang="en-US" sz="2800" dirty="0"/>
              <a:t>Census data describe the population and </a:t>
            </a:r>
            <a:r>
              <a:rPr lang="en-US" sz="2800" dirty="0" smtClean="0"/>
              <a:t>households </a:t>
            </a:r>
            <a:r>
              <a:rPr lang="en-US" sz="2800" dirty="0"/>
              <a:t>characteristics</a:t>
            </a:r>
            <a:r>
              <a:rPr lang="en-US" sz="2800" dirty="0" smtClean="0"/>
              <a:t> </a:t>
            </a:r>
            <a:r>
              <a:rPr lang="en-US" sz="2800" dirty="0"/>
              <a:t>of a country or administrative area. </a:t>
            </a:r>
            <a:endParaRPr lang="en-US" sz="2800" dirty="0" smtClean="0"/>
          </a:p>
          <a:p>
            <a:pPr algn="just">
              <a:spcAft>
                <a:spcPts val="700"/>
              </a:spcAft>
              <a:defRPr sz="2200"/>
            </a:pPr>
            <a:r>
              <a:rPr lang="en-US" sz="2800" dirty="0" smtClean="0"/>
              <a:t>They </a:t>
            </a:r>
            <a:r>
              <a:rPr lang="en-US" sz="2800" dirty="0"/>
              <a:t>commonly include population size, age, sex, household characteristics, geographic distribution, education, occupation, housing conditions, and other socioeconomic indicators</a:t>
            </a:r>
            <a:endParaRPr lang="en-US" sz="2800" dirty="0" smtClean="0"/>
          </a:p>
          <a:p>
            <a:pPr marL="0" indent="0">
              <a:buNone/>
            </a:pPr>
            <a:r>
              <a:rPr lang="en-US" b="1" dirty="0"/>
              <a:t>Data Warehousing Applications of Census Data</a:t>
            </a:r>
          </a:p>
          <a:p>
            <a:pPr lvl="1"/>
            <a:r>
              <a:rPr lang="en-US" dirty="0"/>
              <a:t>Store census results from different census years in a historical repository.</a:t>
            </a:r>
          </a:p>
          <a:p>
            <a:pPr lvl="1"/>
            <a:r>
              <a:rPr lang="en-US" dirty="0"/>
              <a:t>Combine population data with geographic and administrative boundaries.</a:t>
            </a:r>
          </a:p>
          <a:p>
            <a:pPr lvl="1"/>
            <a:r>
              <a:rPr lang="en-US" dirty="0"/>
              <a:t>Create district, municipality, provincial, and national population indicators.</a:t>
            </a:r>
          </a:p>
          <a:p>
            <a:pPr lvl="1"/>
            <a:r>
              <a:rPr lang="en-US" dirty="0"/>
              <a:t>Support comparison of demographic changes across regions and time.</a:t>
            </a:r>
          </a:p>
          <a:p>
            <a:pPr lvl="1"/>
            <a:r>
              <a:rPr lang="en-US" dirty="0"/>
              <a:t>Provide integrated data for planning schools, hospitals, roads, housing, and public utilities</a:t>
            </a:r>
            <a:r>
              <a:rPr lang="en-US" dirty="0" smtClean="0"/>
              <a: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9948333" cy="1143000"/>
          </a:xfrm>
        </p:spPr>
        <p:txBody>
          <a:bodyPr>
            <a:normAutofit/>
          </a:bodyPr>
          <a:lstStyle/>
          <a:p>
            <a:pPr algn="just"/>
            <a:r>
              <a:rPr dirty="0" smtClean="0"/>
              <a:t>Data Mining</a:t>
            </a:r>
            <a:r>
              <a:rPr lang="en-US" dirty="0" smtClean="0"/>
              <a:t> application of Census Data</a:t>
            </a:r>
            <a:endParaRPr dirty="0"/>
          </a:p>
        </p:txBody>
      </p:sp>
      <p:sp>
        <p:nvSpPr>
          <p:cNvPr id="3" name="Content Placeholder 2"/>
          <p:cNvSpPr>
            <a:spLocks noGrp="1"/>
          </p:cNvSpPr>
          <p:nvPr>
            <p:ph idx="1"/>
          </p:nvPr>
        </p:nvSpPr>
        <p:spPr>
          <a:xfrm>
            <a:off x="457200" y="1600200"/>
            <a:ext cx="11624733" cy="4525963"/>
          </a:xfrm>
        </p:spPr>
        <p:txBody>
          <a:bodyPr>
            <a:normAutofit fontScale="77500" lnSpcReduction="20000"/>
          </a:bodyPr>
          <a:lstStyle/>
          <a:p>
            <a:pPr lvl="0" algn="just"/>
            <a:r>
              <a:rPr lang="en-US" dirty="0"/>
              <a:t>Identify population-growth trends.</a:t>
            </a:r>
          </a:p>
          <a:p>
            <a:pPr lvl="0" algn="just"/>
            <a:r>
              <a:rPr lang="en-US" dirty="0"/>
              <a:t>Cluster areas according to demographic or socioeconomic characteristics.</a:t>
            </a:r>
          </a:p>
          <a:p>
            <a:pPr lvl="0" algn="just"/>
            <a:r>
              <a:rPr lang="en-US" dirty="0"/>
              <a:t>Analyze migration and population distribution patterns.</a:t>
            </a:r>
          </a:p>
          <a:p>
            <a:pPr lvl="0" algn="just"/>
            <a:r>
              <a:rPr lang="en-US" dirty="0"/>
              <a:t>Identify regions with high dependency ratios or particular service needs.</a:t>
            </a:r>
          </a:p>
          <a:p>
            <a:pPr lvl="0" algn="just"/>
            <a:r>
              <a:rPr lang="en-US" dirty="0"/>
              <a:t>Forecast future population and estimate demand for public infrastructure.</a:t>
            </a:r>
          </a:p>
          <a:p>
            <a:pPr algn="just"/>
            <a:r>
              <a:rPr lang="en-US" dirty="0"/>
              <a:t>Support poverty and socioeconomic analysis when appropriate data are available</a:t>
            </a:r>
            <a:r>
              <a:rPr lang="en-US" dirty="0" smtClean="0"/>
              <a:t>.</a:t>
            </a:r>
          </a:p>
          <a:p>
            <a:pPr marL="0" indent="0" algn="just">
              <a:buNone/>
            </a:pPr>
            <a:r>
              <a:rPr lang="en-US" b="1" dirty="0" smtClean="0"/>
              <a:t>Example</a:t>
            </a:r>
          </a:p>
          <a:p>
            <a:pPr marL="0" indent="0" algn="just">
              <a:buNone/>
            </a:pPr>
            <a:r>
              <a:rPr lang="en-US" dirty="0"/>
              <a:t>If census data show rapid population growth in a municipality, planners can combine population trends with school, health, road, water, and housing data. Mining and forecasting can help estimate future service demand and prioritize infrastructure investment.</a:t>
            </a:r>
            <a:endParaRPr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 Prices of Essential Commodities</a:t>
            </a:r>
          </a:p>
        </p:txBody>
      </p:sp>
      <p:sp>
        <p:nvSpPr>
          <p:cNvPr id="3" name="Content Placeholder 2"/>
          <p:cNvSpPr>
            <a:spLocks noGrp="1"/>
          </p:cNvSpPr>
          <p:nvPr>
            <p:ph idx="1"/>
          </p:nvPr>
        </p:nvSpPr>
        <p:spPr>
          <a:xfrm>
            <a:off x="457199" y="1600200"/>
            <a:ext cx="11333747" cy="4525963"/>
          </a:xfrm>
        </p:spPr>
        <p:txBody>
          <a:bodyPr>
            <a:normAutofit lnSpcReduction="10000"/>
          </a:bodyPr>
          <a:lstStyle/>
          <a:p>
            <a:pPr algn="just">
              <a:spcAft>
                <a:spcPts val="700"/>
              </a:spcAft>
              <a:defRPr sz="2200"/>
            </a:pPr>
            <a:r>
              <a:rPr lang="en-US" sz="2800" dirty="0"/>
              <a:t>Governments monitor prices of essential commodities such as food, fuel, medicines, and other basic </a:t>
            </a:r>
            <a:r>
              <a:rPr lang="en-US" sz="2800" dirty="0" smtClean="0"/>
              <a:t>goods</a:t>
            </a:r>
            <a:r>
              <a:rPr lang="en-US" sz="2800" dirty="0"/>
              <a:t>. Price data may be collected from markets, municipalities, government agencies, </a:t>
            </a:r>
            <a:r>
              <a:rPr lang="en-US" sz="2800" dirty="0" smtClean="0"/>
              <a:t>wholesalers</a:t>
            </a:r>
            <a:r>
              <a:rPr lang="en-US" sz="2800" dirty="0"/>
              <a:t>, retailers, and other sources.</a:t>
            </a:r>
            <a:endParaRPr lang="en-US" sz="2800" dirty="0" smtClean="0"/>
          </a:p>
          <a:p>
            <a:pPr>
              <a:spcAft>
                <a:spcPts val="700"/>
              </a:spcAft>
              <a:defRPr sz="2200"/>
            </a:pPr>
            <a:r>
              <a:rPr lang="en-US" b="1" dirty="0" smtClean="0"/>
              <a:t>Application of Data warehouse</a:t>
            </a:r>
          </a:p>
          <a:p>
            <a:pPr marL="1200150" lvl="3" indent="-342900" algn="just">
              <a:spcAft>
                <a:spcPts val="700"/>
              </a:spcAft>
              <a:defRPr sz="2200"/>
            </a:pPr>
            <a:r>
              <a:rPr lang="en-US" dirty="0"/>
              <a:t>Store daily, weekly, monthly, and annual commodity prices.</a:t>
            </a:r>
          </a:p>
          <a:p>
            <a:pPr marL="1200150" lvl="3" indent="-342900" algn="just">
              <a:spcAft>
                <a:spcPts val="700"/>
              </a:spcAft>
              <a:defRPr sz="2200"/>
            </a:pPr>
            <a:r>
              <a:rPr lang="en-US" dirty="0"/>
              <a:t>Integrate prices from different markets and geographic locations.</a:t>
            </a:r>
          </a:p>
          <a:p>
            <a:pPr marL="1200150" lvl="3" indent="-342900" algn="just">
              <a:spcAft>
                <a:spcPts val="700"/>
              </a:spcAft>
              <a:defRPr sz="2200"/>
            </a:pPr>
            <a:r>
              <a:rPr lang="en-US" dirty="0"/>
              <a:t>Maintain historical price records for comparison.</a:t>
            </a:r>
          </a:p>
          <a:p>
            <a:pPr marL="1200150" lvl="3" indent="-342900" algn="just">
              <a:spcAft>
                <a:spcPts val="700"/>
              </a:spcAft>
              <a:defRPr sz="2200"/>
            </a:pPr>
            <a:r>
              <a:rPr lang="en-US" dirty="0"/>
              <a:t>Generate price-index and market-monitoring reports.</a:t>
            </a:r>
          </a:p>
          <a:p>
            <a:pPr marL="1200150" lvl="3" indent="-342900" algn="just">
              <a:spcAft>
                <a:spcPts val="700"/>
              </a:spcAft>
              <a:defRPr sz="2200"/>
            </a:pPr>
            <a:r>
              <a:rPr lang="en-US" dirty="0"/>
              <a:t>Compare commodity prices across regions, markets, and time periods.</a:t>
            </a:r>
          </a:p>
          <a:p>
            <a:pPr>
              <a:spcAft>
                <a:spcPts val="700"/>
              </a:spcAft>
              <a:defRPr sz="2200"/>
            </a:pPr>
            <a:endParaRPr lang="en-US"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1568363" cy="1143000"/>
          </a:xfrm>
        </p:spPr>
        <p:txBody>
          <a:bodyPr>
            <a:normAutofit fontScale="90000"/>
          </a:bodyPr>
          <a:lstStyle/>
          <a:p>
            <a:r>
              <a:rPr lang="en-US" dirty="0" smtClean="0"/>
              <a:t>Application of Data mining in </a:t>
            </a:r>
            <a:r>
              <a:rPr lang="en-US" dirty="0"/>
              <a:t>. Prices of Essential Commodities</a:t>
            </a:r>
            <a:endParaRPr dirty="0"/>
          </a:p>
        </p:txBody>
      </p:sp>
      <p:sp>
        <p:nvSpPr>
          <p:cNvPr id="3" name="Content Placeholder 2"/>
          <p:cNvSpPr>
            <a:spLocks noGrp="1"/>
          </p:cNvSpPr>
          <p:nvPr>
            <p:ph idx="1"/>
          </p:nvPr>
        </p:nvSpPr>
        <p:spPr>
          <a:xfrm>
            <a:off x="457200" y="1600200"/>
            <a:ext cx="11430000" cy="4525963"/>
          </a:xfrm>
        </p:spPr>
        <p:txBody>
          <a:bodyPr>
            <a:normAutofit fontScale="85000" lnSpcReduction="20000"/>
          </a:bodyPr>
          <a:lstStyle/>
          <a:p>
            <a:pPr lvl="0"/>
            <a:r>
              <a:rPr lang="en-US" sz="2800" dirty="0"/>
              <a:t>Detect price trends and seasonal variations.</a:t>
            </a:r>
          </a:p>
          <a:p>
            <a:pPr lvl="0"/>
            <a:r>
              <a:rPr lang="en-US" sz="2800" dirty="0"/>
              <a:t>Forecast future prices using time-series models.</a:t>
            </a:r>
          </a:p>
          <a:p>
            <a:pPr lvl="0"/>
            <a:r>
              <a:rPr lang="en-US" sz="2800" dirty="0"/>
              <a:t>Identify unusual price increases or decreases.</a:t>
            </a:r>
          </a:p>
          <a:p>
            <a:pPr lvl="0"/>
            <a:r>
              <a:rPr lang="en-US" sz="2800" dirty="0"/>
              <a:t>Analyze relationships between commodities and regions.</a:t>
            </a:r>
          </a:p>
          <a:p>
            <a:pPr lvl="0"/>
            <a:r>
              <a:rPr lang="en-US" sz="2800" dirty="0"/>
              <a:t>Support decisions concerning market monitoring, supply management, and consumer protection.</a:t>
            </a:r>
          </a:p>
          <a:p>
            <a:r>
              <a:rPr lang="en-US" sz="2800" dirty="0"/>
              <a:t>Identify markets or commodities that require further </a:t>
            </a:r>
            <a:r>
              <a:rPr lang="en-US" sz="2800" dirty="0" smtClean="0"/>
              <a:t>investigation</a:t>
            </a:r>
          </a:p>
          <a:p>
            <a:endParaRPr lang="en-US" sz="2800" dirty="0"/>
          </a:p>
          <a:p>
            <a:r>
              <a:rPr lang="en-US" sz="2800" b="1" dirty="0" smtClean="0"/>
              <a:t>Example</a:t>
            </a:r>
          </a:p>
          <a:p>
            <a:pPr lvl="1"/>
            <a:r>
              <a:rPr lang="en-US" dirty="0"/>
              <a:t>Suppose the price of a staple food increases sharply in several markets. Historical warehouse data can show whether the increase is seasonal or unusual. Data mining can compare the change with supply, transportation, production, and regional patterns, helping authorities investigate the cause and plan an appropriate response.</a:t>
            </a:r>
            <a:endParaRPr lang="en-US" sz="2400" dirty="0" smtClean="0"/>
          </a:p>
          <a:p>
            <a:pPr>
              <a:spcAft>
                <a:spcPts val="700"/>
              </a:spcAft>
              <a:defRPr sz="2200"/>
            </a:pPr>
            <a:endParaRPr lang="en-US" sz="2000" dirty="0"/>
          </a:p>
          <a:p>
            <a:pPr marL="0" indent="0">
              <a:spcAft>
                <a:spcPts val="700"/>
              </a:spcAft>
              <a:buNone/>
              <a:defRPr sz="2200"/>
            </a:pPr>
            <a:endParaRPr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Agriculture</a:t>
            </a:r>
          </a:p>
        </p:txBody>
      </p:sp>
      <p:sp>
        <p:nvSpPr>
          <p:cNvPr id="3" name="Content Placeholder 2"/>
          <p:cNvSpPr>
            <a:spLocks noGrp="1"/>
          </p:cNvSpPr>
          <p:nvPr>
            <p:ph idx="1"/>
          </p:nvPr>
        </p:nvSpPr>
        <p:spPr>
          <a:xfrm>
            <a:off x="457200" y="1600200"/>
            <a:ext cx="11061700" cy="4525963"/>
          </a:xfrm>
        </p:spPr>
        <p:txBody>
          <a:bodyPr>
            <a:normAutofit/>
          </a:bodyPr>
          <a:lstStyle/>
          <a:p>
            <a:pPr algn="just">
              <a:spcAft>
                <a:spcPts val="700"/>
              </a:spcAft>
              <a:defRPr sz="2200"/>
            </a:pPr>
            <a:r>
              <a:rPr lang="en-US" sz="2200" dirty="0"/>
              <a:t>Agriculture is a major area for government data analytics. Useful datasets include crop production, cultivated area, soil characteristics, rainfall, temperature, irrigation, fertilizer use, pests, disease, farm inputs, market prices, and agricultural subsidies.</a:t>
            </a:r>
            <a:endParaRPr lang="en-US" dirty="0" smtClean="0"/>
          </a:p>
          <a:p>
            <a:pPr>
              <a:spcAft>
                <a:spcPts val="700"/>
              </a:spcAft>
              <a:defRPr sz="2200"/>
            </a:pPr>
            <a:r>
              <a:rPr lang="en-US" sz="2400" b="1" dirty="0" smtClean="0"/>
              <a:t>Data warehousing in Agriculture</a:t>
            </a:r>
          </a:p>
          <a:p>
            <a:pPr lvl="1"/>
            <a:r>
              <a:rPr lang="en-US" sz="2000" dirty="0"/>
              <a:t>Integrates agricultural statistics from local, regional, and national sources.</a:t>
            </a:r>
          </a:p>
          <a:p>
            <a:pPr lvl="1"/>
            <a:r>
              <a:rPr lang="en-US" sz="2000" dirty="0"/>
              <a:t>Maintains historical crop-production and yield records.</a:t>
            </a:r>
          </a:p>
          <a:p>
            <a:pPr lvl="1"/>
            <a:r>
              <a:rPr lang="en-US" sz="2000" dirty="0"/>
              <a:t>Combines agricultural data with weather, soil, market, and geographic information.</a:t>
            </a:r>
          </a:p>
          <a:p>
            <a:pPr lvl="1"/>
            <a:r>
              <a:rPr lang="en-US" sz="2000" dirty="0"/>
              <a:t>Supports agricultural dashboards and planning reports</a:t>
            </a:r>
            <a:endParaRPr lang="en-US" sz="2000" dirty="0" smtClean="0"/>
          </a:p>
          <a:p>
            <a:pPr marL="0" indent="0">
              <a:spcAft>
                <a:spcPts val="700"/>
              </a:spcAft>
              <a:buNone/>
              <a:defRPr sz="2200"/>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Agriculture – Data Mining Applications</a:t>
            </a:r>
          </a:p>
        </p:txBody>
      </p:sp>
      <p:sp>
        <p:nvSpPr>
          <p:cNvPr id="3" name="Content Placeholder 2"/>
          <p:cNvSpPr>
            <a:spLocks noGrp="1"/>
          </p:cNvSpPr>
          <p:nvPr>
            <p:ph idx="1"/>
          </p:nvPr>
        </p:nvSpPr>
        <p:spPr>
          <a:xfrm>
            <a:off x="457200" y="1600200"/>
            <a:ext cx="11258550" cy="4525963"/>
          </a:xfrm>
        </p:spPr>
        <p:txBody>
          <a:bodyPr>
            <a:normAutofit fontScale="92500" lnSpcReduction="10000"/>
          </a:bodyPr>
          <a:lstStyle/>
          <a:p>
            <a:pPr lvl="0"/>
            <a:r>
              <a:rPr lang="en-US" sz="2400" dirty="0"/>
              <a:t>Crop-yield prediction.</a:t>
            </a:r>
          </a:p>
          <a:p>
            <a:pPr lvl="0"/>
            <a:r>
              <a:rPr lang="en-US" sz="2400" dirty="0"/>
              <a:t>Crop and production trend analysis.</a:t>
            </a:r>
          </a:p>
          <a:p>
            <a:pPr lvl="0"/>
            <a:r>
              <a:rPr lang="en-US" sz="2400" dirty="0"/>
              <a:t>Drought, flood, pest, and crop-disease risk identification.</a:t>
            </a:r>
          </a:p>
          <a:p>
            <a:pPr lvl="0"/>
            <a:r>
              <a:rPr lang="en-US" sz="2400" dirty="0"/>
              <a:t>Identification of suitable crops for particular regions.</a:t>
            </a:r>
          </a:p>
          <a:p>
            <a:pPr lvl="0"/>
            <a:r>
              <a:rPr lang="en-US" sz="2400" dirty="0"/>
              <a:t>Forecasting agricultural commodity supply and prices.</a:t>
            </a:r>
          </a:p>
          <a:p>
            <a:pPr lvl="0"/>
            <a:r>
              <a:rPr lang="en-US" sz="2400" dirty="0"/>
              <a:t>Analysis of fertilizer, irrigation, seed, and subsidy requirements.</a:t>
            </a:r>
          </a:p>
          <a:p>
            <a:r>
              <a:rPr lang="en-US" sz="2400" dirty="0"/>
              <a:t>Targeting agricultural support programs using evidence</a:t>
            </a:r>
            <a:r>
              <a:rPr lang="en-US" sz="2400" dirty="0" smtClean="0"/>
              <a:t>.</a:t>
            </a:r>
          </a:p>
          <a:p>
            <a:endParaRPr lang="en-US" sz="2400" dirty="0" smtClean="0"/>
          </a:p>
          <a:p>
            <a:pPr marL="0" indent="0">
              <a:buNone/>
            </a:pPr>
            <a:r>
              <a:rPr lang="en-US" sz="2800" b="1" dirty="0" smtClean="0"/>
              <a:t>Example</a:t>
            </a:r>
            <a:endParaRPr lang="en-US" sz="2400" b="1" dirty="0"/>
          </a:p>
          <a:p>
            <a:pPr lvl="1"/>
            <a:r>
              <a:rPr lang="en-US" sz="2200" dirty="0"/>
              <a:t>Historical rainfall, soil, irrigation, cultivated area, and crop-yield data can be mined to predict crop yield for a coming season. If a region is predicted to face low production, government agencies can plan irrigation support, improved seeds, extension services, or other appropriate interventions.</a:t>
            </a:r>
            <a:endParaRPr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6. Rural Development</a:t>
            </a:r>
          </a:p>
        </p:txBody>
      </p:sp>
      <p:sp>
        <p:nvSpPr>
          <p:cNvPr id="3" name="Content Placeholder 2"/>
          <p:cNvSpPr>
            <a:spLocks noGrp="1"/>
          </p:cNvSpPr>
          <p:nvPr>
            <p:ph idx="1"/>
          </p:nvPr>
        </p:nvSpPr>
        <p:spPr/>
        <p:txBody>
          <a:bodyPr>
            <a:normAutofit fontScale="70000" lnSpcReduction="20000"/>
          </a:bodyPr>
          <a:lstStyle/>
          <a:p>
            <a:pPr algn="just">
              <a:spcAft>
                <a:spcPts val="700"/>
              </a:spcAft>
              <a:defRPr sz="2200"/>
            </a:pPr>
            <a:r>
              <a:rPr lang="en-US" sz="3400" dirty="0"/>
              <a:t>Rural development programs require information about population, roads, drinking </a:t>
            </a:r>
            <a:r>
              <a:rPr lang="en-US" sz="3400" dirty="0" smtClean="0"/>
              <a:t>water</a:t>
            </a:r>
            <a:r>
              <a:rPr lang="en-US" sz="3400" dirty="0"/>
              <a:t>, electricity, sanitation, agriculture, employment, health, education, poverty, and local infrastructure.</a:t>
            </a:r>
            <a:endParaRPr lang="en-US" sz="3400" dirty="0" smtClean="0"/>
          </a:p>
          <a:p>
            <a:pPr marL="0" indent="0">
              <a:spcAft>
                <a:spcPts val="700"/>
              </a:spcAft>
              <a:buNone/>
              <a:defRPr sz="2200"/>
            </a:pPr>
            <a:r>
              <a:rPr lang="en-US" sz="3800" b="1" dirty="0" smtClean="0"/>
              <a:t>Application</a:t>
            </a:r>
            <a:endParaRPr lang="en-US" sz="3800" b="1" dirty="0"/>
          </a:p>
          <a:p>
            <a:pPr lvl="1"/>
            <a:r>
              <a:rPr lang="en-US" dirty="0" smtClean="0"/>
              <a:t>Identify </a:t>
            </a:r>
            <a:r>
              <a:rPr lang="en-US" dirty="0"/>
              <a:t>rural areas with inadequate infrastructure.</a:t>
            </a:r>
          </a:p>
          <a:p>
            <a:pPr lvl="1"/>
            <a:r>
              <a:rPr lang="en-US" dirty="0"/>
              <a:t>Rank areas according to development needs and service gaps.</a:t>
            </a:r>
          </a:p>
          <a:p>
            <a:pPr lvl="1"/>
            <a:r>
              <a:rPr lang="en-US" dirty="0"/>
              <a:t>Monitor rural development projects and expenditure.</a:t>
            </a:r>
          </a:p>
          <a:p>
            <a:pPr lvl="1"/>
            <a:r>
              <a:rPr lang="en-US" dirty="0"/>
              <a:t>Analyze poverty and socioeconomic indicators.</a:t>
            </a:r>
          </a:p>
          <a:p>
            <a:pPr lvl="1"/>
            <a:r>
              <a:rPr lang="en-US" dirty="0"/>
              <a:t>Plan roads, drinking water, irrigation, electricity, schools, and health facilities.</a:t>
            </a:r>
          </a:p>
          <a:p>
            <a:pPr lvl="1"/>
            <a:r>
              <a:rPr lang="en-US" dirty="0"/>
              <a:t>Measure progress using historical development indicators.</a:t>
            </a:r>
          </a:p>
          <a:p>
            <a:pPr lvl="1"/>
            <a:r>
              <a:rPr lang="en-US" dirty="0"/>
              <a:t>Identify relationships between infrastructure access and socioeconomic outcomes.</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7. Health</a:t>
            </a:r>
          </a:p>
        </p:txBody>
      </p:sp>
      <p:sp>
        <p:nvSpPr>
          <p:cNvPr id="3" name="Content Placeholder 2"/>
          <p:cNvSpPr>
            <a:spLocks noGrp="1"/>
          </p:cNvSpPr>
          <p:nvPr>
            <p:ph idx="1"/>
          </p:nvPr>
        </p:nvSpPr>
        <p:spPr/>
        <p:txBody>
          <a:bodyPr>
            <a:normAutofit fontScale="77500" lnSpcReduction="20000"/>
          </a:bodyPr>
          <a:lstStyle/>
          <a:p>
            <a:pPr algn="just">
              <a:spcAft>
                <a:spcPts val="700"/>
              </a:spcAft>
              <a:defRPr sz="2200"/>
            </a:pPr>
            <a:r>
              <a:rPr lang="en-US" sz="3100" dirty="0"/>
              <a:t>Government health systems generate data from hospitals, health centers, laboratories, disease-surveillance programs, immunization systems, medicine inventories, births, deaths, and public-health campaigns.</a:t>
            </a:r>
            <a:endParaRPr lang="en-US" sz="3100" dirty="0" smtClean="0"/>
          </a:p>
          <a:p>
            <a:pPr>
              <a:spcAft>
                <a:spcPts val="700"/>
              </a:spcAft>
              <a:defRPr sz="2200"/>
            </a:pPr>
            <a:endParaRPr lang="en-US" dirty="0"/>
          </a:p>
          <a:p>
            <a:pPr marL="0" indent="0">
              <a:buNone/>
            </a:pPr>
            <a:r>
              <a:rPr lang="en-US" b="1" dirty="0"/>
              <a:t>Data Warehousing Applications in Health</a:t>
            </a:r>
          </a:p>
          <a:p>
            <a:pPr lvl="1"/>
            <a:r>
              <a:rPr lang="en-US" dirty="0"/>
              <a:t>Integrate health information from different facilities and programs.</a:t>
            </a:r>
          </a:p>
          <a:p>
            <a:pPr lvl="1"/>
            <a:r>
              <a:rPr lang="en-US" dirty="0"/>
              <a:t>Maintain historical records of health indicators.</a:t>
            </a:r>
          </a:p>
          <a:p>
            <a:pPr lvl="1"/>
            <a:r>
              <a:rPr lang="en-US" dirty="0"/>
              <a:t>Support disease surveillance and health-service reporting.</a:t>
            </a:r>
          </a:p>
          <a:p>
            <a:pPr lvl="1"/>
            <a:r>
              <a:rPr lang="en-US" dirty="0"/>
              <a:t>Analyze hospital utilization and resource requirements.</a:t>
            </a:r>
          </a:p>
          <a:p>
            <a:pPr lvl="1"/>
            <a:r>
              <a:rPr lang="en-US" dirty="0"/>
              <a:t>Monitor availability and consumption of medicines and supplies.</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Data Mining Applications in Health</a:t>
            </a:r>
          </a:p>
        </p:txBody>
      </p:sp>
      <p:sp>
        <p:nvSpPr>
          <p:cNvPr id="3" name="Content Placeholder 2"/>
          <p:cNvSpPr>
            <a:spLocks noGrp="1"/>
          </p:cNvSpPr>
          <p:nvPr>
            <p:ph idx="1"/>
          </p:nvPr>
        </p:nvSpPr>
        <p:spPr>
          <a:xfrm>
            <a:off x="457200" y="1600200"/>
            <a:ext cx="11055350" cy="4525963"/>
          </a:xfrm>
        </p:spPr>
        <p:txBody>
          <a:bodyPr>
            <a:normAutofit/>
          </a:bodyPr>
          <a:lstStyle/>
          <a:p>
            <a:pPr lvl="0"/>
            <a:r>
              <a:rPr lang="en-US" sz="2800" dirty="0" smtClean="0"/>
              <a:t>Detect </a:t>
            </a:r>
            <a:r>
              <a:rPr lang="en-US" sz="2800" dirty="0"/>
              <a:t>unusual increases in disease cases.</a:t>
            </a:r>
          </a:p>
          <a:p>
            <a:pPr lvl="0"/>
            <a:r>
              <a:rPr lang="en-US" sz="2800" dirty="0"/>
              <a:t>Identify geographic or temporal disease patterns.</a:t>
            </a:r>
          </a:p>
          <a:p>
            <a:pPr lvl="0"/>
            <a:r>
              <a:rPr lang="en-US" sz="2800" dirty="0"/>
              <a:t>Forecast demand for hospital beds, medicines, vaccines, and health workers.</a:t>
            </a:r>
          </a:p>
          <a:p>
            <a:pPr lvl="0"/>
            <a:r>
              <a:rPr lang="en-US" sz="2800" dirty="0"/>
              <a:t>Identify high-risk areas for targeted public-health interventions.</a:t>
            </a:r>
          </a:p>
          <a:p>
            <a:pPr lvl="0"/>
            <a:r>
              <a:rPr lang="en-US" sz="2800" dirty="0"/>
              <a:t>Analyze factors associated with health outcomes.</a:t>
            </a:r>
          </a:p>
          <a:p>
            <a:r>
              <a:rPr lang="en-US" sz="2800" dirty="0"/>
              <a:t>Evaluate the coverage and performance of public-health programs</a:t>
            </a:r>
          </a:p>
        </p:txBody>
      </p:sp>
    </p:spTree>
    <p:extLst>
      <p:ext uri="{BB962C8B-B14F-4D97-AF65-F5344CB8AC3E}">
        <p14:creationId xmlns:p14="http://schemas.microsoft.com/office/powerpoint/2010/main" val="1574778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Health Data Privacy and Security</a:t>
            </a:r>
          </a:p>
        </p:txBody>
      </p:sp>
      <p:sp>
        <p:nvSpPr>
          <p:cNvPr id="3" name="Content Placeholder 2"/>
          <p:cNvSpPr>
            <a:spLocks noGrp="1"/>
          </p:cNvSpPr>
          <p:nvPr>
            <p:ph idx="1"/>
          </p:nvPr>
        </p:nvSpPr>
        <p:spPr/>
        <p:txBody>
          <a:bodyPr/>
          <a:lstStyle/>
          <a:p>
            <a:pPr>
              <a:spcAft>
                <a:spcPts val="700"/>
              </a:spcAft>
              <a:defRPr sz="2200"/>
            </a:pPr>
            <a:r>
              <a:rPr dirty="0"/>
              <a:t>Health data may contain sensitive personal information.</a:t>
            </a:r>
          </a:p>
          <a:p>
            <a:pPr>
              <a:spcAft>
                <a:spcPts val="700"/>
              </a:spcAft>
              <a:defRPr sz="2200"/>
            </a:pPr>
            <a:r>
              <a:rPr dirty="0"/>
              <a:t>Use authentication and role-based access control.</a:t>
            </a:r>
          </a:p>
          <a:p>
            <a:pPr>
              <a:spcAft>
                <a:spcPts val="700"/>
              </a:spcAft>
              <a:defRPr sz="2200"/>
            </a:pPr>
            <a:r>
              <a:rPr dirty="0"/>
              <a:t>Apply encryption and secure data transmission.</a:t>
            </a:r>
          </a:p>
          <a:p>
            <a:pPr>
              <a:spcAft>
                <a:spcPts val="700"/>
              </a:spcAft>
              <a:defRPr sz="2200"/>
            </a:pPr>
            <a:r>
              <a:rPr dirty="0"/>
              <a:t>Maintain audit trails and monitoring.</a:t>
            </a:r>
          </a:p>
          <a:p>
            <a:pPr>
              <a:spcAft>
                <a:spcPts val="700"/>
              </a:spcAft>
              <a:defRPr sz="2200"/>
            </a:pPr>
            <a:r>
              <a:rPr dirty="0"/>
              <a:t>Use anonymization or aggregation where appropriate.</a:t>
            </a:r>
          </a:p>
          <a:p>
            <a:pPr>
              <a:spcAft>
                <a:spcPts val="700"/>
              </a:spcAft>
              <a:defRPr sz="2200"/>
            </a:pPr>
            <a:r>
              <a:rPr dirty="0"/>
              <a:t>Follow applicable laws and data-governance policies.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8. Planning</a:t>
            </a:r>
          </a:p>
        </p:txBody>
      </p:sp>
      <p:sp>
        <p:nvSpPr>
          <p:cNvPr id="3" name="Content Placeholder 2"/>
          <p:cNvSpPr>
            <a:spLocks noGrp="1"/>
          </p:cNvSpPr>
          <p:nvPr>
            <p:ph idx="1"/>
          </p:nvPr>
        </p:nvSpPr>
        <p:spPr>
          <a:xfrm>
            <a:off x="457200" y="1600200"/>
            <a:ext cx="11267574" cy="4525963"/>
          </a:xfrm>
        </p:spPr>
        <p:txBody>
          <a:bodyPr>
            <a:normAutofit fontScale="85000" lnSpcReduction="20000"/>
          </a:bodyPr>
          <a:lstStyle/>
          <a:p>
            <a:pPr algn="just">
              <a:spcAft>
                <a:spcPts val="700"/>
              </a:spcAft>
              <a:defRPr sz="2000"/>
            </a:pPr>
            <a:r>
              <a:rPr lang="en-US" sz="2400" dirty="0"/>
              <a:t>Planning requires evidence about population, geography, economy, infrastructure, public services, resources, and development indicators. Data warehouses provide historical and integrated information for planners.</a:t>
            </a:r>
            <a:endParaRPr lang="en-US" dirty="0" smtClean="0"/>
          </a:p>
          <a:p>
            <a:pPr marL="0" indent="0">
              <a:spcAft>
                <a:spcPts val="700"/>
              </a:spcAft>
              <a:buNone/>
              <a:defRPr sz="2000"/>
            </a:pPr>
            <a:r>
              <a:rPr lang="en-US" sz="2000" b="1" dirty="0"/>
              <a:t>Applications in Government Planning</a:t>
            </a:r>
            <a:endParaRPr lang="en-US" b="1" dirty="0"/>
          </a:p>
          <a:p>
            <a:pPr lvl="1"/>
            <a:r>
              <a:rPr lang="en-US" sz="2200" dirty="0"/>
              <a:t>Population and demographic forecasting.</a:t>
            </a:r>
          </a:p>
          <a:p>
            <a:pPr lvl="1"/>
            <a:r>
              <a:rPr lang="en-US" sz="2200" dirty="0"/>
              <a:t>Urban and regional planning.</a:t>
            </a:r>
          </a:p>
          <a:p>
            <a:pPr lvl="1"/>
            <a:r>
              <a:rPr lang="en-US" sz="2200" dirty="0"/>
              <a:t>Infrastructure planning for roads, schools, hospitals, water, electricity, and sanitation.</a:t>
            </a:r>
          </a:p>
          <a:p>
            <a:pPr lvl="1"/>
            <a:r>
              <a:rPr lang="en-US" sz="2200" dirty="0"/>
              <a:t>Budget and resource-allocation analysis.</a:t>
            </a:r>
          </a:p>
          <a:p>
            <a:pPr lvl="1"/>
            <a:r>
              <a:rPr lang="en-US" sz="2200" dirty="0"/>
              <a:t>Development-project monitoring and evaluation.</a:t>
            </a:r>
          </a:p>
          <a:p>
            <a:pPr lvl="1"/>
            <a:r>
              <a:rPr lang="en-US" sz="2200" dirty="0"/>
              <a:t>Land-use and geographic analysis.</a:t>
            </a:r>
          </a:p>
          <a:p>
            <a:pPr lvl="1"/>
            <a:r>
              <a:rPr lang="en-US" sz="2200" dirty="0"/>
              <a:t>Disaster-risk and climate-related planning.</a:t>
            </a:r>
          </a:p>
          <a:p>
            <a:pPr lvl="1"/>
            <a:r>
              <a:rPr lang="en-US" sz="2200" dirty="0"/>
              <a:t>Identification of service gaps between regions.</a:t>
            </a:r>
            <a:endParaRPr lang="en-US" sz="2200" dirty="0" smtClean="0"/>
          </a:p>
          <a:p>
            <a:pPr>
              <a:spcAft>
                <a:spcPts val="700"/>
              </a:spcAft>
              <a:defRPr sz="2000"/>
            </a:pPr>
            <a:r>
              <a:rPr lang="en-US" dirty="0" smtClean="0"/>
              <a:t>Example</a:t>
            </a:r>
          </a:p>
          <a:p>
            <a:pPr lvl="1">
              <a:spcAft>
                <a:spcPts val="700"/>
              </a:spcAft>
              <a:defRPr sz="2000"/>
            </a:pPr>
            <a:r>
              <a:rPr lang="en-US" sz="2000" dirty="0"/>
              <a:t>Population growth, existing school capacity, geographic location, and enrollment trends can be analyzed together to estimate where new schools or additional classrooms may be required.</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9. Education</a:t>
            </a:r>
          </a:p>
        </p:txBody>
      </p:sp>
      <p:sp>
        <p:nvSpPr>
          <p:cNvPr id="3" name="Content Placeholder 2"/>
          <p:cNvSpPr>
            <a:spLocks noGrp="1"/>
          </p:cNvSpPr>
          <p:nvPr>
            <p:ph idx="1"/>
          </p:nvPr>
        </p:nvSpPr>
        <p:spPr>
          <a:xfrm>
            <a:off x="457199" y="1600200"/>
            <a:ext cx="11508205" cy="4525963"/>
          </a:xfrm>
        </p:spPr>
        <p:txBody>
          <a:bodyPr>
            <a:normAutofit fontScale="70000" lnSpcReduction="20000"/>
          </a:bodyPr>
          <a:lstStyle/>
          <a:p>
            <a:r>
              <a:rPr lang="en-US" dirty="0"/>
              <a:t>Education data include student enrollment, attendance, examination results, dropout, teacher information, school infrastructure, scholarships, and institutional performance.</a:t>
            </a:r>
          </a:p>
          <a:p>
            <a:pPr marL="0" indent="0">
              <a:buNone/>
            </a:pPr>
            <a:r>
              <a:rPr lang="en-US" b="1" dirty="0" smtClean="0"/>
              <a:t>Data </a:t>
            </a:r>
            <a:r>
              <a:rPr lang="en-US" b="1" dirty="0"/>
              <a:t>Warehousing Applications</a:t>
            </a:r>
          </a:p>
          <a:p>
            <a:pPr lvl="1"/>
            <a:r>
              <a:rPr lang="en-US" dirty="0"/>
              <a:t>Maintain historical student and school statistics.</a:t>
            </a:r>
          </a:p>
          <a:p>
            <a:pPr lvl="1"/>
            <a:r>
              <a:rPr lang="en-US" dirty="0"/>
              <a:t>Integrate education data from schools, local authorities, and national systems.</a:t>
            </a:r>
          </a:p>
          <a:p>
            <a:pPr lvl="1"/>
            <a:r>
              <a:rPr lang="en-US" dirty="0"/>
              <a:t>Produce enrollment, teacher, infrastructure, and performance reports.</a:t>
            </a:r>
          </a:p>
          <a:p>
            <a:pPr lvl="1"/>
            <a:r>
              <a:rPr lang="en-US" dirty="0"/>
              <a:t>Support planning for teachers, classrooms, laboratories, and educational </a:t>
            </a:r>
            <a:r>
              <a:rPr lang="en-US" dirty="0" smtClean="0"/>
              <a:t>resources.</a:t>
            </a:r>
          </a:p>
          <a:p>
            <a:pPr marL="0" indent="0">
              <a:buNone/>
            </a:pPr>
            <a:r>
              <a:rPr lang="en-US" b="1" dirty="0" smtClean="0"/>
              <a:t>Data Mining Applications</a:t>
            </a:r>
          </a:p>
          <a:p>
            <a:pPr lvl="1"/>
            <a:r>
              <a:rPr lang="en-US" dirty="0" smtClean="0"/>
              <a:t>Identify </a:t>
            </a:r>
            <a:r>
              <a:rPr lang="en-US" dirty="0"/>
              <a:t>dropout patterns and high-risk groups.</a:t>
            </a:r>
          </a:p>
          <a:p>
            <a:pPr lvl="1"/>
            <a:r>
              <a:rPr lang="en-US" dirty="0"/>
              <a:t>Analyze student performance trends.</a:t>
            </a:r>
          </a:p>
          <a:p>
            <a:pPr lvl="1"/>
            <a:r>
              <a:rPr lang="en-US" dirty="0"/>
              <a:t>Predict enrollment and teacher requirements.</a:t>
            </a:r>
          </a:p>
          <a:p>
            <a:pPr lvl="1"/>
            <a:r>
              <a:rPr lang="en-US" dirty="0"/>
              <a:t>Cluster schools according to performance, infrastructure, or service indicators.</a:t>
            </a:r>
          </a:p>
          <a:p>
            <a:pPr lvl="1"/>
            <a:r>
              <a:rPr lang="en-US" dirty="0"/>
              <a:t>Identify relationships among attendance, resources, and academic outcomes.</a:t>
            </a:r>
          </a:p>
          <a:p>
            <a:pPr lvl="1"/>
            <a:r>
              <a:rPr lang="en-US" dirty="0"/>
              <a:t>Support targeted educational interventions.</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10. Commerce and Trade</a:t>
            </a:r>
          </a:p>
        </p:txBody>
      </p:sp>
      <p:sp>
        <p:nvSpPr>
          <p:cNvPr id="3" name="Content Placeholder 2"/>
          <p:cNvSpPr>
            <a:spLocks noGrp="1"/>
          </p:cNvSpPr>
          <p:nvPr>
            <p:ph idx="1"/>
          </p:nvPr>
        </p:nvSpPr>
        <p:spPr>
          <a:xfrm>
            <a:off x="457200" y="1600200"/>
            <a:ext cx="11430000" cy="4525963"/>
          </a:xfrm>
        </p:spPr>
        <p:txBody>
          <a:bodyPr>
            <a:normAutofit fontScale="77500" lnSpcReduction="20000"/>
          </a:bodyPr>
          <a:lstStyle/>
          <a:p>
            <a:pPr algn="just">
              <a:spcAft>
                <a:spcPts val="700"/>
              </a:spcAft>
              <a:defRPr sz="2200"/>
            </a:pPr>
            <a:r>
              <a:rPr lang="en-US" sz="3100" dirty="0"/>
              <a:t>Commerce and trade generate data on imports, exports, customs, products, businesses, prices, markets, trade routes, and transactions. Government agencies can use analytics to understand trade patterns and improve administration</a:t>
            </a:r>
            <a:r>
              <a:rPr lang="en-US" sz="3100" dirty="0" smtClean="0"/>
              <a:t>.</a:t>
            </a:r>
          </a:p>
          <a:p>
            <a:pPr marL="0" indent="0">
              <a:buNone/>
            </a:pPr>
            <a:r>
              <a:rPr lang="en-US" b="1" dirty="0" smtClean="0"/>
              <a:t>Data </a:t>
            </a:r>
            <a:r>
              <a:rPr lang="en-US" b="1" dirty="0"/>
              <a:t>Warehousing Applications</a:t>
            </a:r>
          </a:p>
          <a:p>
            <a:pPr lvl="1"/>
            <a:r>
              <a:rPr lang="en-US" dirty="0"/>
              <a:t>Integrate customs, import, export, and trade statistics.</a:t>
            </a:r>
          </a:p>
          <a:p>
            <a:pPr lvl="1"/>
            <a:r>
              <a:rPr lang="en-US" dirty="0"/>
              <a:t>Maintain historical records of products, countries, values, quantities, and routes.</a:t>
            </a:r>
          </a:p>
          <a:p>
            <a:pPr lvl="1"/>
            <a:r>
              <a:rPr lang="en-US" dirty="0"/>
              <a:t>Produce trade dashboards and statistical reports.</a:t>
            </a:r>
          </a:p>
          <a:p>
            <a:pPr lvl="1"/>
            <a:r>
              <a:rPr lang="en-US" dirty="0"/>
              <a:t>Support analysis of revenue, tariffs, imports, and exports.</a:t>
            </a:r>
          </a:p>
          <a:p>
            <a:pPr marL="0" indent="0">
              <a:buNone/>
            </a:pPr>
            <a:r>
              <a:rPr lang="en-US" b="1" dirty="0" smtClean="0"/>
              <a:t>Data </a:t>
            </a:r>
            <a:r>
              <a:rPr lang="en-US" b="1" dirty="0"/>
              <a:t>Mining Applications</a:t>
            </a:r>
          </a:p>
          <a:p>
            <a:pPr lvl="1"/>
            <a:r>
              <a:rPr lang="en-US" dirty="0"/>
              <a:t>Identify import and export trends.</a:t>
            </a:r>
          </a:p>
          <a:p>
            <a:pPr lvl="1"/>
            <a:r>
              <a:rPr lang="en-US" dirty="0"/>
              <a:t>Forecast trade volumes and government revenue.</a:t>
            </a:r>
          </a:p>
          <a:p>
            <a:pPr lvl="1"/>
            <a:r>
              <a:rPr lang="en-US" dirty="0"/>
              <a:t>Detect unusual transaction patterns that may require investigation.</a:t>
            </a:r>
          </a:p>
          <a:p>
            <a:pPr lvl="1"/>
            <a:r>
              <a:rPr lang="en-US" dirty="0"/>
              <a:t>Analyze product and market relationships.</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11. Other Government Sectors</a:t>
            </a:r>
          </a:p>
        </p:txBody>
      </p:sp>
      <p:sp>
        <p:nvSpPr>
          <p:cNvPr id="3" name="Content Placeholder 2"/>
          <p:cNvSpPr>
            <a:spLocks noGrp="1"/>
          </p:cNvSpPr>
          <p:nvPr>
            <p:ph idx="1"/>
          </p:nvPr>
        </p:nvSpPr>
        <p:spPr>
          <a:xfrm>
            <a:off x="457199" y="1600200"/>
            <a:ext cx="11165305" cy="4525963"/>
          </a:xfrm>
        </p:spPr>
        <p:txBody>
          <a:bodyPr>
            <a:normAutofit/>
          </a:bodyPr>
          <a:lstStyle/>
          <a:p>
            <a:pPr>
              <a:spcAft>
                <a:spcPts val="700"/>
              </a:spcAft>
              <a:defRPr sz="2000"/>
            </a:pPr>
            <a:r>
              <a:rPr sz="2400" dirty="0"/>
              <a:t>Tax and Revenue – revenue forecasting and compliance analytics.</a:t>
            </a:r>
          </a:p>
          <a:p>
            <a:pPr>
              <a:spcAft>
                <a:spcPts val="700"/>
              </a:spcAft>
              <a:defRPr sz="2000"/>
            </a:pPr>
            <a:r>
              <a:rPr sz="2400" dirty="0"/>
              <a:t>Transport – traffic forecasting, road planning and accident analysis.</a:t>
            </a:r>
          </a:p>
          <a:p>
            <a:pPr>
              <a:spcAft>
                <a:spcPts val="700"/>
              </a:spcAft>
              <a:defRPr sz="2000"/>
            </a:pPr>
            <a:r>
              <a:rPr sz="2400" dirty="0"/>
              <a:t>Environment – pollution, forest, water and climate analysis.</a:t>
            </a:r>
          </a:p>
          <a:p>
            <a:pPr>
              <a:spcAft>
                <a:spcPts val="700"/>
              </a:spcAft>
              <a:defRPr sz="2000"/>
            </a:pPr>
            <a:r>
              <a:rPr sz="2400" dirty="0"/>
              <a:t>Disaster Management – risk mapping, preparedness and response.</a:t>
            </a:r>
          </a:p>
          <a:p>
            <a:pPr>
              <a:spcAft>
                <a:spcPts val="700"/>
              </a:spcAft>
              <a:defRPr sz="2000"/>
            </a:pPr>
            <a:r>
              <a:rPr sz="2400" dirty="0"/>
              <a:t>Land Management – land-use and geographic analysis.</a:t>
            </a:r>
          </a:p>
          <a:p>
            <a:pPr>
              <a:spcAft>
                <a:spcPts val="700"/>
              </a:spcAft>
              <a:defRPr sz="2000"/>
            </a:pPr>
            <a:r>
              <a:rPr sz="2400" dirty="0"/>
              <a:t>Social Protection – program monitoring and service targeting.</a:t>
            </a:r>
          </a:p>
          <a:p>
            <a:pPr>
              <a:spcAft>
                <a:spcPts val="700"/>
              </a:spcAft>
              <a:defRPr sz="2000"/>
            </a:pPr>
            <a:r>
              <a:rPr sz="2400" dirty="0"/>
              <a:t>Energy – consumption forecasting and infrastructure planning.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Major Benefits</a:t>
            </a:r>
          </a:p>
        </p:txBody>
      </p:sp>
      <p:sp>
        <p:nvSpPr>
          <p:cNvPr id="3" name="Content Placeholder 2"/>
          <p:cNvSpPr>
            <a:spLocks noGrp="1"/>
          </p:cNvSpPr>
          <p:nvPr>
            <p:ph idx="1"/>
          </p:nvPr>
        </p:nvSpPr>
        <p:spPr>
          <a:xfrm>
            <a:off x="457200" y="1600200"/>
            <a:ext cx="10527632" cy="4525963"/>
          </a:xfrm>
        </p:spPr>
        <p:txBody>
          <a:bodyPr/>
          <a:lstStyle/>
          <a:p>
            <a:pPr>
              <a:spcAft>
                <a:spcPts val="700"/>
              </a:spcAft>
              <a:defRPr sz="2000"/>
            </a:pPr>
            <a:r>
              <a:rPr dirty="0"/>
              <a:t>Evidence-based policy and decision making.</a:t>
            </a:r>
          </a:p>
          <a:p>
            <a:pPr>
              <a:spcAft>
                <a:spcPts val="700"/>
              </a:spcAft>
              <a:defRPr sz="2000"/>
            </a:pPr>
            <a:r>
              <a:rPr dirty="0"/>
              <a:t>Better allocation of public resources.</a:t>
            </a:r>
          </a:p>
          <a:p>
            <a:pPr>
              <a:spcAft>
                <a:spcPts val="700"/>
              </a:spcAft>
              <a:defRPr sz="2000"/>
            </a:pPr>
            <a:r>
              <a:rPr dirty="0"/>
              <a:t>Early identification of problems and emerging trends.</a:t>
            </a:r>
          </a:p>
          <a:p>
            <a:pPr>
              <a:spcAft>
                <a:spcPts val="700"/>
              </a:spcAft>
              <a:defRPr sz="2000"/>
            </a:pPr>
            <a:r>
              <a:rPr dirty="0"/>
              <a:t>Forecasting of population, prices, demand and revenue.</a:t>
            </a:r>
          </a:p>
          <a:p>
            <a:pPr>
              <a:spcAft>
                <a:spcPts val="700"/>
              </a:spcAft>
              <a:defRPr sz="2000"/>
            </a:pPr>
            <a:r>
              <a:rPr dirty="0"/>
              <a:t>Improved monitoring and evaluation of programs.</a:t>
            </a:r>
          </a:p>
          <a:p>
            <a:pPr>
              <a:spcAft>
                <a:spcPts val="700"/>
              </a:spcAft>
              <a:defRPr sz="2000"/>
            </a:pPr>
            <a:r>
              <a:rPr dirty="0"/>
              <a:t>Faster integrated reporting.</a:t>
            </a:r>
          </a:p>
          <a:p>
            <a:pPr>
              <a:spcAft>
                <a:spcPts val="700"/>
              </a:spcAft>
              <a:defRPr sz="2000"/>
            </a:pPr>
            <a:r>
              <a:rPr dirty="0"/>
              <a:t>Better coordination among government agencies.</a:t>
            </a:r>
          </a:p>
          <a:p>
            <a:pPr>
              <a:spcAft>
                <a:spcPts val="700"/>
              </a:spcAft>
              <a:defRPr sz="2000"/>
            </a:pPr>
            <a:r>
              <a:rPr dirty="0"/>
              <a:t>Improved citizen-oriented public services.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Major Challenges</a:t>
            </a:r>
          </a:p>
        </p:txBody>
      </p:sp>
      <p:sp>
        <p:nvSpPr>
          <p:cNvPr id="3" name="Content Placeholder 2"/>
          <p:cNvSpPr>
            <a:spLocks noGrp="1"/>
          </p:cNvSpPr>
          <p:nvPr>
            <p:ph idx="1"/>
          </p:nvPr>
        </p:nvSpPr>
        <p:spPr>
          <a:xfrm>
            <a:off x="457200" y="1600200"/>
            <a:ext cx="11141242" cy="4525963"/>
          </a:xfrm>
        </p:spPr>
        <p:txBody>
          <a:bodyPr>
            <a:normAutofit fontScale="70000" lnSpcReduction="20000"/>
          </a:bodyPr>
          <a:lstStyle/>
          <a:p>
            <a:pPr lvl="0"/>
            <a:r>
              <a:rPr lang="en-US" dirty="0"/>
              <a:t>Data quality: incomplete, inaccurate, duplicated, or outdated data.</a:t>
            </a:r>
          </a:p>
          <a:p>
            <a:pPr lvl="0"/>
            <a:r>
              <a:rPr lang="en-US" dirty="0"/>
              <a:t>Data integration: different systems may use different formats, codes, identifiers, and definitions.</a:t>
            </a:r>
          </a:p>
          <a:p>
            <a:pPr lvl="0"/>
            <a:r>
              <a:rPr lang="en-US" dirty="0"/>
              <a:t>Privacy: personal data must be protected against unauthorized use.</a:t>
            </a:r>
          </a:p>
          <a:p>
            <a:pPr lvl="0"/>
            <a:r>
              <a:rPr lang="en-US" dirty="0"/>
              <a:t>Security: government repositories require strong authentication, authorization, encryption, monitoring, and backup.</a:t>
            </a:r>
          </a:p>
          <a:p>
            <a:pPr lvl="0"/>
            <a:r>
              <a:rPr lang="en-US" dirty="0"/>
              <a:t>Bias: biased or incomplete datasets can produce misleading or unfair results.</a:t>
            </a:r>
          </a:p>
          <a:p>
            <a:pPr lvl="0"/>
            <a:r>
              <a:rPr lang="en-US" dirty="0"/>
              <a:t>Interoperability: agencies need common standards and metadata.</a:t>
            </a:r>
          </a:p>
          <a:p>
            <a:pPr lvl="0"/>
            <a:r>
              <a:rPr lang="en-US" dirty="0"/>
              <a:t>Skills: data engineers, database administrators, analysts, statisticians, and security specialists are required.</a:t>
            </a:r>
          </a:p>
          <a:p>
            <a:pPr lvl="0"/>
            <a:r>
              <a:rPr lang="en-US" dirty="0"/>
              <a:t>Infrastructure: large-scale storage, processing, networking, and backup facilities can be expensive.</a:t>
            </a:r>
          </a:p>
          <a:p>
            <a:r>
              <a:rPr lang="en-US" dirty="0"/>
              <a:t>Governance: responsibilities for data ownership, quality, sharing, retention, and accountability must be defined.</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Important Examination Questions</a:t>
            </a:r>
          </a:p>
        </p:txBody>
      </p:sp>
      <p:sp>
        <p:nvSpPr>
          <p:cNvPr id="3" name="Content Placeholder 2"/>
          <p:cNvSpPr>
            <a:spLocks noGrp="1"/>
          </p:cNvSpPr>
          <p:nvPr>
            <p:ph idx="1"/>
          </p:nvPr>
        </p:nvSpPr>
        <p:spPr/>
        <p:txBody>
          <a:bodyPr/>
          <a:lstStyle/>
          <a:p>
            <a:pPr>
              <a:spcAft>
                <a:spcPts val="700"/>
              </a:spcAft>
              <a:defRPr sz="2000"/>
            </a:pPr>
            <a:r>
              <a:t>Define data warehouse and data mining in government.</a:t>
            </a:r>
          </a:p>
          <a:p>
            <a:pPr>
              <a:spcAft>
                <a:spcPts val="700"/>
              </a:spcAft>
              <a:defRPr sz="2000"/>
            </a:pPr>
            <a:r>
              <a:t>Explain the concept and objectives of a National Data Warehouse.</a:t>
            </a:r>
          </a:p>
          <a:p>
            <a:pPr>
              <a:spcAft>
                <a:spcPts val="700"/>
              </a:spcAft>
              <a:defRPr sz="2000"/>
            </a:pPr>
            <a:r>
              <a:t>Describe applications of census data warehousing and mining.</a:t>
            </a:r>
          </a:p>
          <a:p>
            <a:pPr>
              <a:spcAft>
                <a:spcPts val="700"/>
              </a:spcAft>
              <a:defRPr sz="2000"/>
            </a:pPr>
            <a:r>
              <a:t>Explain data mining applications for essential commodity prices.</a:t>
            </a:r>
          </a:p>
          <a:p>
            <a:pPr>
              <a:spcAft>
                <a:spcPts val="700"/>
              </a:spcAft>
              <a:defRPr sz="2000"/>
            </a:pPr>
            <a:r>
              <a:t>Discuss agriculture and rural-development applications.</a:t>
            </a:r>
          </a:p>
          <a:p>
            <a:pPr>
              <a:spcAft>
                <a:spcPts val="700"/>
              </a:spcAft>
              <a:defRPr sz="2000"/>
            </a:pPr>
            <a:r>
              <a:t>Explain health-sector applications and privacy issues.</a:t>
            </a:r>
          </a:p>
          <a:p>
            <a:pPr>
              <a:spcAft>
                <a:spcPts val="700"/>
              </a:spcAft>
              <a:defRPr sz="2000"/>
            </a:pPr>
            <a:r>
              <a:t>Discuss planning, education, commerce and trade applications.</a:t>
            </a:r>
          </a:p>
          <a:p>
            <a:pPr>
              <a:spcAft>
                <a:spcPts val="700"/>
              </a:spcAft>
              <a:defRPr sz="2000"/>
            </a:pPr>
            <a:r>
              <a:t>List benefits and challenges of government data analytics.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110</TotalTime>
  <Words>2368</Words>
  <Application>Microsoft Office PowerPoint</Application>
  <PresentationFormat>Widescreen</PresentationFormat>
  <Paragraphs>265</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MS Mincho</vt:lpstr>
      <vt:lpstr>Times New Roman</vt:lpstr>
      <vt:lpstr>Office Theme</vt:lpstr>
      <vt:lpstr>UNIT 5 Applications of Data Warehousing and Data Mining in Government</vt:lpstr>
      <vt:lpstr>Syllabus Coverage</vt:lpstr>
      <vt:lpstr>Introduction </vt:lpstr>
      <vt:lpstr>Data Warehousing</vt:lpstr>
      <vt:lpstr>Data Mining</vt:lpstr>
      <vt:lpstr>Data Mining Techniques and Government Applications</vt:lpstr>
      <vt:lpstr>Data Warehouse and Data Mining</vt:lpstr>
      <vt:lpstr>2. National Data Warehouse</vt:lpstr>
      <vt:lpstr>Objectives  of National Data Warehouse</vt:lpstr>
      <vt:lpstr>Advantages of National DW</vt:lpstr>
      <vt:lpstr>Challenges of National Data Warehouse </vt:lpstr>
      <vt:lpstr> Census Data</vt:lpstr>
      <vt:lpstr>Data Mining application of Census Data</vt:lpstr>
      <vt:lpstr>4. Prices of Essential Commodities</vt:lpstr>
      <vt:lpstr>Application of Data mining in . Prices of Essential Commodities</vt:lpstr>
      <vt:lpstr>5. Agriculture</vt:lpstr>
      <vt:lpstr>Agriculture – Data Mining Applications</vt:lpstr>
      <vt:lpstr>6. Rural Development</vt:lpstr>
      <vt:lpstr>7. Health</vt:lpstr>
      <vt:lpstr>Data Mining Applications in Health</vt:lpstr>
      <vt:lpstr>Health Data Privacy and Security</vt:lpstr>
      <vt:lpstr>8. Planning</vt:lpstr>
      <vt:lpstr>9. Education</vt:lpstr>
      <vt:lpstr>10. Commerce and Trade</vt:lpstr>
      <vt:lpstr>11. Other Government Sectors</vt:lpstr>
      <vt:lpstr>Major Benefits</vt:lpstr>
      <vt:lpstr>Major Challenges</vt:lpstr>
      <vt:lpstr>Important Examination 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 Applications of Data Warehousing and Data Mining in Government</dc:title>
  <dc:subject/>
  <dc:creator>Arnav khadka</dc:creator>
  <cp:keywords/>
  <dc:description>generated using python-pptx</dc:description>
  <cp:lastModifiedBy>acer</cp:lastModifiedBy>
  <cp:revision>59</cp:revision>
  <dcterms:created xsi:type="dcterms:W3CDTF">2013-01-27T09:14:16Z</dcterms:created>
  <dcterms:modified xsi:type="dcterms:W3CDTF">2026-09-11T08:58:53Z</dcterms:modified>
  <cp:category/>
</cp:coreProperties>
</file>