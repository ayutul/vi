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8" r:id="rId31"/>
    <p:sldId id="307" r:id="rId32"/>
    <p:sldId id="285" r:id="rId33"/>
    <p:sldId id="289" r:id="rId34"/>
    <p:sldId id="290" r:id="rId35"/>
    <p:sldId id="291" r:id="rId36"/>
    <p:sldId id="287" r:id="rId37"/>
    <p:sldId id="292" r:id="rId38"/>
    <p:sldId id="294" r:id="rId39"/>
    <p:sldId id="295" r:id="rId40"/>
    <p:sldId id="293" r:id="rId41"/>
    <p:sldId id="296" r:id="rId42"/>
    <p:sldId id="297" r:id="rId43"/>
    <p:sldId id="298" r:id="rId44"/>
    <p:sldId id="300" r:id="rId45"/>
    <p:sldId id="301" r:id="rId46"/>
    <p:sldId id="302" r:id="rId47"/>
    <p:sldId id="303" r:id="rId48"/>
    <p:sldId id="304" r:id="rId49"/>
    <p:sldId id="305" r:id="rId50"/>
    <p:sldId id="30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108" d="100"/>
          <a:sy n="108" d="100"/>
        </p:scale>
        <p:origin x="88"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0913C7B-414B-4FFC-97D6-29855F945F70}"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367526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913C7B-414B-4FFC-97D6-29855F945F70}"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4212174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0913C7B-414B-4FFC-97D6-29855F945F70}"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341863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0913C7B-414B-4FFC-97D6-29855F945F70}"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345783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0913C7B-414B-4FFC-97D6-29855F945F70}"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1171682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0913C7B-414B-4FFC-97D6-29855F945F70}"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2146932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913C7B-414B-4FFC-97D6-29855F945F70}"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1040725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0913C7B-414B-4FFC-97D6-29855F945F70}"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1681454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0913C7B-414B-4FFC-97D6-29855F945F70}"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320834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913C7B-414B-4FFC-97D6-29855F945F70}"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2044772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913C7B-414B-4FFC-97D6-29855F945F70}"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00BC-9CB8-43FF-B3C9-7A0B6EFFC1BD}" type="slidenum">
              <a:rPr lang="en-US" smtClean="0"/>
              <a:t>‹#›</a:t>
            </a:fld>
            <a:endParaRPr lang="en-US"/>
          </a:p>
        </p:txBody>
      </p:sp>
    </p:spTree>
    <p:extLst>
      <p:ext uri="{BB962C8B-B14F-4D97-AF65-F5344CB8AC3E}">
        <p14:creationId xmlns:p14="http://schemas.microsoft.com/office/powerpoint/2010/main" val="3477335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913C7B-414B-4FFC-97D6-29855F945F70}" type="datetimeFigureOut">
              <a:rPr lang="en-US" smtClean="0"/>
              <a:t>8/11/2026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5000BC-9CB8-43FF-B3C9-7A0B6EFFC1BD}" type="slidenum">
              <a:rPr lang="en-US" smtClean="0"/>
              <a:t>‹#›</a:t>
            </a:fld>
            <a:endParaRPr lang="en-US"/>
          </a:p>
        </p:txBody>
      </p:sp>
    </p:spTree>
    <p:extLst>
      <p:ext uri="{BB962C8B-B14F-4D97-AF65-F5344CB8AC3E}">
        <p14:creationId xmlns:p14="http://schemas.microsoft.com/office/powerpoint/2010/main" val="2795564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
            </a:r>
            <a:br>
              <a:rPr lang="en-US" dirty="0" smtClean="0"/>
            </a:br>
            <a:r>
              <a:rPr lang="en-US" dirty="0" smtClean="0"/>
              <a:t/>
            </a:r>
            <a:br>
              <a:rPr lang="en-US" dirty="0" smtClean="0"/>
            </a:br>
            <a:r>
              <a:rPr lang="ru-RU" dirty="0" err="1" smtClean="0">
                <a:solidFill>
                  <a:srgbClr val="FF0000"/>
                </a:solidFill>
              </a:rPr>
              <a:t>Unit</a:t>
            </a:r>
            <a:r>
              <a:rPr lang="ru-RU" dirty="0" smtClean="0">
                <a:solidFill>
                  <a:srgbClr val="FF0000"/>
                </a:solidFill>
              </a:rPr>
              <a:t> 3</a:t>
            </a:r>
            <a:r>
              <a:rPr lang="en-US" dirty="0" smtClean="0"/>
              <a:t/>
            </a:r>
            <a:br>
              <a:rPr lang="en-US" dirty="0" smtClean="0"/>
            </a:br>
            <a:r>
              <a:rPr lang="en-US" dirty="0" smtClean="0">
                <a:solidFill>
                  <a:schemeClr val="tx2"/>
                </a:solidFill>
              </a:rPr>
              <a:t>E</a:t>
            </a:r>
            <a:r>
              <a:rPr lang="ru-RU" dirty="0" smtClean="0">
                <a:solidFill>
                  <a:schemeClr val="tx2"/>
                </a:solidFill>
              </a:rPr>
              <a:t>-</a:t>
            </a:r>
            <a:r>
              <a:rPr lang="ru-RU" dirty="0" err="1" smtClean="0">
                <a:solidFill>
                  <a:schemeClr val="tx2"/>
                </a:solidFill>
              </a:rPr>
              <a:t>Gov</a:t>
            </a:r>
            <a:r>
              <a:rPr lang="en-US" dirty="0" err="1" smtClean="0">
                <a:solidFill>
                  <a:schemeClr val="tx2"/>
                </a:solidFill>
              </a:rPr>
              <a:t>ernment</a:t>
            </a:r>
            <a:r>
              <a:rPr lang="ru-RU" dirty="0" smtClean="0">
                <a:solidFill>
                  <a:schemeClr val="tx2"/>
                </a:solidFill>
              </a:rPr>
              <a:t> </a:t>
            </a:r>
            <a:r>
              <a:rPr lang="ru-RU" dirty="0" err="1" smtClean="0">
                <a:solidFill>
                  <a:schemeClr val="tx2"/>
                </a:solidFill>
              </a:rPr>
              <a:t>Infrastructure</a:t>
            </a:r>
            <a:r>
              <a:rPr lang="en-US" dirty="0" smtClean="0">
                <a:solidFill>
                  <a:schemeClr val="tx2"/>
                </a:solidFill>
              </a:rPr>
              <a:t> Development</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734766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pPr algn="just"/>
            <a:r>
              <a:rPr lang="en-US" sz="2400" dirty="0" smtClean="0"/>
              <a:t>While </a:t>
            </a:r>
            <a:r>
              <a:rPr lang="en-US" sz="2400" dirty="0" smtClean="0">
                <a:solidFill>
                  <a:srgbClr val="7030A0"/>
                </a:solidFill>
              </a:rPr>
              <a:t>e‐governance is a reality beyond hype </a:t>
            </a:r>
            <a:r>
              <a:rPr lang="en-US" sz="2400" dirty="0" smtClean="0"/>
              <a:t>in developing countries, </a:t>
            </a:r>
            <a:r>
              <a:rPr lang="en-US" sz="2400" dirty="0" smtClean="0">
                <a:solidFill>
                  <a:srgbClr val="C00000"/>
                </a:solidFill>
              </a:rPr>
              <a:t>a fact usually not understood is that</a:t>
            </a:r>
            <a:r>
              <a:rPr lang="en-US" sz="2400" dirty="0" smtClean="0"/>
              <a:t> many </a:t>
            </a:r>
            <a:r>
              <a:rPr lang="en-US" sz="2400" dirty="0" smtClean="0">
                <a:solidFill>
                  <a:srgbClr val="92D050"/>
                </a:solidFill>
              </a:rPr>
              <a:t>e‐governance initiatives fail before they are well entrenched on a permanent and sustainable basis. </a:t>
            </a:r>
          </a:p>
          <a:p>
            <a:pPr algn="just"/>
            <a:r>
              <a:rPr lang="en-US" sz="2400" dirty="0" smtClean="0"/>
              <a:t>With the proper infrastructure and strategies we need to answer following questions:</a:t>
            </a:r>
          </a:p>
          <a:p>
            <a:pPr lvl="1">
              <a:buFont typeface="Wingdings" pitchFamily="2" charset="2"/>
              <a:buChar char="ü"/>
            </a:pPr>
            <a:r>
              <a:rPr lang="en-US" dirty="0"/>
              <a:t> What are the reasons behind high mortality rate of e‐governance?</a:t>
            </a:r>
          </a:p>
          <a:p>
            <a:pPr lvl="1">
              <a:buFont typeface="Wingdings" pitchFamily="2" charset="2"/>
              <a:buChar char="ü"/>
            </a:pPr>
            <a:r>
              <a:rPr lang="en-US" dirty="0"/>
              <a:t>What are the pitfalls and bottlenecks?</a:t>
            </a:r>
          </a:p>
          <a:p>
            <a:pPr lvl="1">
              <a:buFont typeface="Wingdings" pitchFamily="2" charset="2"/>
              <a:buChar char="ü"/>
            </a:pPr>
            <a:r>
              <a:rPr lang="en-US" dirty="0"/>
              <a:t> What is the solution for this?</a:t>
            </a:r>
          </a:p>
        </p:txBody>
      </p:sp>
    </p:spTree>
    <p:extLst>
      <p:ext uri="{BB962C8B-B14F-4D97-AF65-F5344CB8AC3E}">
        <p14:creationId xmlns:p14="http://schemas.microsoft.com/office/powerpoint/2010/main" val="31082427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70C0"/>
                </a:solidFill>
              </a:rPr>
              <a:t>Infrastructure for E-Government Development</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According to the United Nations Public Administration Network, infrastructure is required for e-government development. </a:t>
            </a:r>
          </a:p>
          <a:p>
            <a:pPr algn="just"/>
            <a:r>
              <a:rPr lang="en-US" dirty="0" smtClean="0"/>
              <a:t>Information-related infrastructure that is fundamental to the implementation of e-government is called ‘info-structure’.</a:t>
            </a:r>
          </a:p>
          <a:p>
            <a:pPr algn="just"/>
            <a:r>
              <a:rPr lang="en-US" dirty="0" smtClean="0"/>
              <a:t>Following are the four infrastructural (info-structures) requirements for e-government development in any country:</a:t>
            </a:r>
          </a:p>
          <a:p>
            <a:pPr marL="514350" indent="-514350" algn="just">
              <a:buAutoNum type="arabicPeriod"/>
            </a:pPr>
            <a:r>
              <a:rPr lang="en-US" dirty="0" smtClean="0"/>
              <a:t>e-Records</a:t>
            </a:r>
          </a:p>
          <a:p>
            <a:pPr marL="514350" indent="-514350" algn="just">
              <a:buAutoNum type="arabicPeriod"/>
            </a:pPr>
            <a:r>
              <a:rPr lang="en-US" dirty="0" smtClean="0"/>
              <a:t>Authentication and Digital signature</a:t>
            </a:r>
          </a:p>
          <a:p>
            <a:pPr marL="514350" indent="-514350" algn="just">
              <a:buAutoNum type="arabicPeriod"/>
            </a:pPr>
            <a:r>
              <a:rPr lang="en-US" dirty="0" smtClean="0"/>
              <a:t>e-Payment</a:t>
            </a:r>
          </a:p>
          <a:p>
            <a:pPr marL="514350" indent="-514350" algn="just">
              <a:buAutoNum type="arabicPeriod"/>
            </a:pPr>
            <a:r>
              <a:rPr lang="en-US" dirty="0" smtClean="0"/>
              <a:t>Portal</a:t>
            </a:r>
          </a:p>
          <a:p>
            <a:endParaRPr lang="en-US" dirty="0"/>
          </a:p>
        </p:txBody>
      </p:sp>
    </p:spTree>
    <p:extLst>
      <p:ext uri="{BB962C8B-B14F-4D97-AF65-F5344CB8AC3E}">
        <p14:creationId xmlns:p14="http://schemas.microsoft.com/office/powerpoint/2010/main" val="1816057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Network Infrastructure </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sz="3000" dirty="0" smtClean="0"/>
              <a:t>Network infrastructures provide connectivity, a critical resource for our digital lives, and are therefore key for social inclusion and public participation. </a:t>
            </a:r>
          </a:p>
          <a:p>
            <a:pPr lvl="1" algn="just">
              <a:buFont typeface="Wingdings" panose="05000000000000000000" pitchFamily="2" charset="2"/>
              <a:buChar char="ü"/>
            </a:pPr>
            <a:r>
              <a:rPr lang="en-US" sz="3000" dirty="0" smtClean="0"/>
              <a:t>Network infrastructures are critical resource systems that provide local and global connectivity to enable social inclusion and participation.</a:t>
            </a:r>
          </a:p>
          <a:p>
            <a:r>
              <a:rPr lang="en-US" sz="3000" dirty="0">
                <a:ea typeface="+mn-lt"/>
                <a:cs typeface="+mn-lt"/>
              </a:rPr>
              <a:t>Network infrastructure is typically part of the IT infrastructure found in most enterprise IT environments. </a:t>
            </a:r>
            <a:endParaRPr lang="en-US" sz="3000" dirty="0" smtClean="0"/>
          </a:p>
          <a:p>
            <a:r>
              <a:rPr lang="en-US" sz="3000" dirty="0">
                <a:ea typeface="+mn-lt"/>
                <a:cs typeface="+mn-lt"/>
              </a:rPr>
              <a:t>The entire network infrastructure is interconnected, and can be used for internal communications, external communications or both</a:t>
            </a:r>
            <a:endParaRPr lang="en-US" sz="3000" dirty="0" smtClean="0">
              <a:ea typeface="+mn-lt"/>
              <a:cs typeface="+mn-lt"/>
            </a:endParaRPr>
          </a:p>
          <a:p>
            <a:r>
              <a:rPr lang="en-US" sz="3000" dirty="0">
                <a:ea typeface="+mn-lt"/>
                <a:cs typeface="+mn-lt"/>
              </a:rPr>
              <a:t>A typical network infrastructure includes:</a:t>
            </a:r>
            <a:endParaRPr lang="en-US" sz="3000" dirty="0" smtClean="0"/>
          </a:p>
          <a:p>
            <a:pPr algn="just">
              <a:buFont typeface="Wingdings" panose="05000000000000000000" pitchFamily="2" charset="2"/>
              <a:buChar char="ü"/>
            </a:pPr>
            <a:endParaRPr lang="en-US" dirty="0"/>
          </a:p>
        </p:txBody>
      </p:sp>
    </p:spTree>
    <p:extLst>
      <p:ext uri="{BB962C8B-B14F-4D97-AF65-F5344CB8AC3E}">
        <p14:creationId xmlns:p14="http://schemas.microsoft.com/office/powerpoint/2010/main" val="1800045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Network Infrastructure …</a:t>
            </a:r>
            <a:endParaRPr lang="en-US" dirty="0"/>
          </a:p>
        </p:txBody>
      </p:sp>
      <p:sp>
        <p:nvSpPr>
          <p:cNvPr id="3" name="Content Placeholder 2"/>
          <p:cNvSpPr>
            <a:spLocks noGrp="1"/>
          </p:cNvSpPr>
          <p:nvPr>
            <p:ph idx="1"/>
          </p:nvPr>
        </p:nvSpPr>
        <p:spPr/>
        <p:txBody>
          <a:bodyPr>
            <a:normAutofit fontScale="85000" lnSpcReduction="10000"/>
          </a:bodyPr>
          <a:lstStyle/>
          <a:p>
            <a:pPr marL="0" indent="0" algn="just">
              <a:buNone/>
            </a:pPr>
            <a:r>
              <a:rPr lang="en-US" b="1" dirty="0">
                <a:ea typeface="+mn-lt"/>
                <a:cs typeface="+mn-lt"/>
              </a:rPr>
              <a:t>Networking Hardware</a:t>
            </a:r>
            <a:endParaRPr lang="en-US" dirty="0"/>
          </a:p>
          <a:p>
            <a:pPr algn="just"/>
            <a:r>
              <a:rPr lang="en-US" dirty="0">
                <a:ea typeface="+mn-lt"/>
                <a:cs typeface="+mn-lt"/>
              </a:rPr>
              <a:t>Networking hardware, also known as network equipment or computer networking devices, are electronic devices which are required for communication and interaction between devices on a computer network. </a:t>
            </a:r>
          </a:p>
          <a:p>
            <a:pPr algn="just"/>
            <a:r>
              <a:rPr lang="en-US" b="1" dirty="0" smtClean="0">
                <a:ea typeface="+mn-lt"/>
                <a:cs typeface="+mn-lt"/>
              </a:rPr>
              <a:t>Routers</a:t>
            </a:r>
            <a:endParaRPr lang="en-US" dirty="0">
              <a:ea typeface="+mn-lt"/>
              <a:cs typeface="+mn-lt"/>
            </a:endParaRPr>
          </a:p>
          <a:p>
            <a:pPr lvl="1" algn="just"/>
            <a:r>
              <a:rPr lang="en-US" dirty="0">
                <a:ea typeface="+mn-lt"/>
                <a:cs typeface="+mn-lt"/>
              </a:rPr>
              <a:t>The router is a physical or virtual internetworking device that is designed to receive, analyze, and forward data packets between computer networks. </a:t>
            </a:r>
          </a:p>
          <a:p>
            <a:pPr algn="just"/>
            <a:r>
              <a:rPr lang="en-US" b="1" dirty="0" smtClean="0">
                <a:ea typeface="+mn-lt"/>
                <a:cs typeface="+mn-lt"/>
              </a:rPr>
              <a:t>Switches</a:t>
            </a:r>
            <a:endParaRPr lang="en-US" dirty="0">
              <a:ea typeface="+mn-lt"/>
              <a:cs typeface="+mn-lt"/>
            </a:endParaRPr>
          </a:p>
          <a:p>
            <a:pPr lvl="1" algn="just"/>
            <a:r>
              <a:rPr lang="en-US" dirty="0">
                <a:ea typeface="+mn-lt"/>
                <a:cs typeface="+mn-lt"/>
              </a:rPr>
              <a:t>A switch is a hardware device that connects multiple devices on a computer network. </a:t>
            </a:r>
          </a:p>
          <a:p>
            <a:pPr lvl="1" algn="just"/>
            <a:r>
              <a:rPr lang="en-US" dirty="0">
                <a:ea typeface="+mn-lt"/>
                <a:cs typeface="+mn-lt"/>
              </a:rPr>
              <a:t>A Switch contains more advanced features than Hub. </a:t>
            </a:r>
          </a:p>
          <a:p>
            <a:pPr lvl="1" algn="just"/>
            <a:r>
              <a:rPr lang="en-US" dirty="0">
                <a:ea typeface="+mn-lt"/>
                <a:cs typeface="+mn-lt"/>
              </a:rPr>
              <a:t>The Switch contains the updated table that decides where the data is transmitted or not. </a:t>
            </a:r>
          </a:p>
          <a:p>
            <a:pPr lvl="1" algn="just"/>
            <a:r>
              <a:rPr lang="en-US" dirty="0">
                <a:ea typeface="+mn-lt"/>
                <a:cs typeface="+mn-lt"/>
              </a:rPr>
              <a:t>Switch delivers the message to the correct destination based on the physical address present in the incoming message. </a:t>
            </a:r>
            <a:endParaRPr lang="en-US" dirty="0"/>
          </a:p>
        </p:txBody>
      </p:sp>
    </p:spTree>
    <p:extLst>
      <p:ext uri="{BB962C8B-B14F-4D97-AF65-F5344CB8AC3E}">
        <p14:creationId xmlns:p14="http://schemas.microsoft.com/office/powerpoint/2010/main" val="29851239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Network Infrastructure …</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b="1" dirty="0" smtClean="0">
                <a:ea typeface="+mn-lt"/>
                <a:cs typeface="+mn-lt"/>
              </a:rPr>
              <a:t>LAN </a:t>
            </a:r>
            <a:r>
              <a:rPr lang="en-US" b="1" dirty="0">
                <a:ea typeface="+mn-lt"/>
                <a:cs typeface="+mn-lt"/>
              </a:rPr>
              <a:t>cards</a:t>
            </a:r>
            <a:endParaRPr lang="en-US" dirty="0">
              <a:ea typeface="+mn-lt"/>
              <a:cs typeface="+mn-lt"/>
            </a:endParaRPr>
          </a:p>
          <a:p>
            <a:pPr lvl="1" algn="just"/>
            <a:r>
              <a:rPr lang="en-US" dirty="0">
                <a:ea typeface="+mn-lt"/>
                <a:cs typeface="+mn-lt"/>
              </a:rPr>
              <a:t>A LAN card connects a computer to a network.  LAN cards are typically built into your computer.  You can connect to the network via an Ethernet cable, </a:t>
            </a:r>
            <a:r>
              <a:rPr lang="en-US" dirty="0" smtClean="0">
                <a:ea typeface="+mn-lt"/>
                <a:cs typeface="+mn-lt"/>
              </a:rPr>
              <a:t>USB, </a:t>
            </a:r>
            <a:r>
              <a:rPr lang="en-US" dirty="0">
                <a:ea typeface="+mn-lt"/>
                <a:cs typeface="+mn-lt"/>
              </a:rPr>
              <a:t>or wirelessly. </a:t>
            </a:r>
          </a:p>
          <a:p>
            <a:pPr algn="just"/>
            <a:r>
              <a:rPr lang="en-US" b="1" dirty="0" smtClean="0">
                <a:ea typeface="+mn-lt"/>
                <a:cs typeface="+mn-lt"/>
              </a:rPr>
              <a:t>Hub</a:t>
            </a:r>
            <a:endParaRPr lang="en-US" dirty="0">
              <a:ea typeface="+mn-lt"/>
              <a:cs typeface="+mn-lt"/>
            </a:endParaRPr>
          </a:p>
          <a:p>
            <a:pPr lvl="1" algn="just"/>
            <a:r>
              <a:rPr lang="en-US" dirty="0">
                <a:ea typeface="+mn-lt"/>
                <a:cs typeface="+mn-lt"/>
              </a:rPr>
              <a:t>A Hub is a hardware device that divides the network connection among multiple devices. </a:t>
            </a:r>
          </a:p>
          <a:p>
            <a:pPr lvl="1" algn="just"/>
            <a:r>
              <a:rPr lang="en-US" dirty="0">
                <a:ea typeface="+mn-lt"/>
                <a:cs typeface="+mn-lt"/>
              </a:rPr>
              <a:t>When computer requests for some information from a network, it first sends the request to the Hub through cable. Hub will broadcast this request to the entire network. </a:t>
            </a:r>
            <a:endParaRPr lang="en-US" dirty="0" smtClean="0"/>
          </a:p>
          <a:p>
            <a:pPr algn="just"/>
            <a:r>
              <a:rPr lang="en-US" b="1" dirty="0" smtClean="0">
                <a:ea typeface="+mn-lt"/>
                <a:cs typeface="+mn-lt"/>
              </a:rPr>
              <a:t>Cables</a:t>
            </a:r>
            <a:endParaRPr lang="en-US" dirty="0">
              <a:ea typeface="+mn-lt"/>
              <a:cs typeface="+mn-lt"/>
            </a:endParaRPr>
          </a:p>
          <a:p>
            <a:pPr lvl="1" algn="just"/>
            <a:r>
              <a:rPr lang="en-US" dirty="0">
                <a:ea typeface="+mn-lt"/>
                <a:cs typeface="+mn-lt"/>
              </a:rPr>
              <a:t>Network cables are used to connect and transfer data and information between computers, routers, switches and storage area networks. </a:t>
            </a:r>
            <a:r>
              <a:rPr lang="en-US" dirty="0" smtClean="0">
                <a:ea typeface="+mn-lt"/>
                <a:cs typeface="+mn-lt"/>
              </a:rPr>
              <a:t>	</a:t>
            </a:r>
            <a:endParaRPr lang="en-US" dirty="0">
              <a:ea typeface="+mn-lt"/>
              <a:cs typeface="+mn-lt"/>
            </a:endParaRPr>
          </a:p>
          <a:p>
            <a:pPr lvl="1" algn="just"/>
            <a:r>
              <a:rPr lang="en-US" dirty="0">
                <a:ea typeface="+mn-lt"/>
                <a:cs typeface="+mn-lt"/>
              </a:rPr>
              <a:t>These cables are essentially the carrier or media through which data flows. </a:t>
            </a:r>
            <a:endParaRPr lang="en-US" dirty="0"/>
          </a:p>
        </p:txBody>
      </p:sp>
    </p:spTree>
    <p:extLst>
      <p:ext uri="{BB962C8B-B14F-4D97-AF65-F5344CB8AC3E}">
        <p14:creationId xmlns:p14="http://schemas.microsoft.com/office/powerpoint/2010/main" val="35125129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Network Infrastructure …</a:t>
            </a:r>
            <a:endParaRPr lang="en-US" dirty="0"/>
          </a:p>
        </p:txBody>
      </p:sp>
      <p:sp>
        <p:nvSpPr>
          <p:cNvPr id="3" name="Content Placeholder 2"/>
          <p:cNvSpPr>
            <a:spLocks noGrp="1"/>
          </p:cNvSpPr>
          <p:nvPr>
            <p:ph idx="1"/>
          </p:nvPr>
        </p:nvSpPr>
        <p:spPr/>
        <p:txBody>
          <a:bodyPr>
            <a:normAutofit/>
          </a:bodyPr>
          <a:lstStyle/>
          <a:p>
            <a:pPr marL="0" indent="0" algn="just">
              <a:buNone/>
            </a:pPr>
            <a:r>
              <a:rPr lang="en-US" b="1" dirty="0">
                <a:ea typeface="+mn-lt"/>
                <a:cs typeface="+mn-lt"/>
              </a:rPr>
              <a:t>Networking Software</a:t>
            </a:r>
            <a:endParaRPr lang="en-US" dirty="0"/>
          </a:p>
          <a:p>
            <a:pPr lvl="1" algn="just"/>
            <a:r>
              <a:rPr lang="en-US" dirty="0">
                <a:ea typeface="+mn-lt"/>
                <a:cs typeface="+mn-lt"/>
              </a:rPr>
              <a:t>Networking software is a foundational element for any network. </a:t>
            </a:r>
          </a:p>
          <a:p>
            <a:pPr lvl="1" algn="just"/>
            <a:r>
              <a:rPr lang="en-US" dirty="0">
                <a:ea typeface="+mn-lt"/>
                <a:cs typeface="+mn-lt"/>
              </a:rPr>
              <a:t>It helps administrators deploy, manage and monitor a network. </a:t>
            </a:r>
            <a:endParaRPr lang="en-US" dirty="0" smtClean="0">
              <a:ea typeface="+mn-lt"/>
              <a:cs typeface="+mn-lt"/>
            </a:endParaRPr>
          </a:p>
          <a:p>
            <a:pPr lvl="1" algn="just"/>
            <a:r>
              <a:rPr lang="en-US" dirty="0">
                <a:ea typeface="+mn-lt"/>
                <a:cs typeface="+mn-lt"/>
              </a:rPr>
              <a:t>Traditional networks are made up of specialized hardware, such as routers and switches that bundle the networking software into the solution.</a:t>
            </a:r>
            <a:endParaRPr lang="en-US" dirty="0" smtClean="0"/>
          </a:p>
          <a:p>
            <a:pPr marL="0" indent="0" algn="just">
              <a:buNone/>
            </a:pPr>
            <a:r>
              <a:rPr lang="en-US" b="1" dirty="0" smtClean="0">
                <a:ea typeface="+mn-lt"/>
                <a:cs typeface="+mn-lt"/>
              </a:rPr>
              <a:t>1. Network </a:t>
            </a:r>
            <a:r>
              <a:rPr lang="en-US" b="1" dirty="0">
                <a:ea typeface="+mn-lt"/>
                <a:cs typeface="+mn-lt"/>
              </a:rPr>
              <a:t>operations and management</a:t>
            </a:r>
            <a:endParaRPr lang="en-US" dirty="0">
              <a:ea typeface="+mn-lt"/>
              <a:cs typeface="+mn-lt"/>
            </a:endParaRPr>
          </a:p>
          <a:p>
            <a:pPr lvl="1" algn="just">
              <a:buFont typeface="Wingdings" panose="05000000000000000000" pitchFamily="2" charset="2"/>
              <a:buChar char="ü"/>
            </a:pPr>
            <a:r>
              <a:rPr lang="en-US" dirty="0">
                <a:ea typeface="+mn-lt"/>
                <a:cs typeface="+mn-lt"/>
              </a:rPr>
              <a:t> </a:t>
            </a:r>
            <a:r>
              <a:rPr lang="en-US" dirty="0" smtClean="0">
                <a:ea typeface="+mn-lt"/>
                <a:cs typeface="+mn-lt"/>
              </a:rPr>
              <a:t>Manage</a:t>
            </a:r>
            <a:r>
              <a:rPr lang="en-US" dirty="0">
                <a:ea typeface="+mn-lt"/>
                <a:cs typeface="+mn-lt"/>
              </a:rPr>
              <a:t>, Automate, and Ensure agreement for Physical, Virtual, and  Software-Defined </a:t>
            </a:r>
            <a:r>
              <a:rPr lang="en-US" dirty="0" smtClean="0">
                <a:ea typeface="+mn-lt"/>
                <a:cs typeface="+mn-lt"/>
              </a:rPr>
              <a:t>Networks.</a:t>
            </a:r>
          </a:p>
          <a:p>
            <a:pPr lvl="1" algn="just">
              <a:buFont typeface="Wingdings" panose="05000000000000000000" pitchFamily="2" charset="2"/>
              <a:buChar char="ü"/>
            </a:pPr>
            <a:r>
              <a:rPr lang="en-US" dirty="0" smtClean="0">
                <a:ea typeface="+mn-lt"/>
                <a:cs typeface="+mn-lt"/>
              </a:rPr>
              <a:t>It </a:t>
            </a:r>
            <a:r>
              <a:rPr lang="en-US" dirty="0">
                <a:ea typeface="+mn-lt"/>
                <a:cs typeface="+mn-lt"/>
              </a:rPr>
              <a:t>is the first heterogeneous network management solution to provide unified management for modern networks.</a:t>
            </a:r>
            <a:endParaRPr lang="en-US" dirty="0" smtClean="0"/>
          </a:p>
          <a:p>
            <a:endParaRPr lang="en-US" dirty="0"/>
          </a:p>
        </p:txBody>
      </p:sp>
    </p:spTree>
    <p:extLst>
      <p:ext uri="{BB962C8B-B14F-4D97-AF65-F5344CB8AC3E}">
        <p14:creationId xmlns:p14="http://schemas.microsoft.com/office/powerpoint/2010/main" val="18961808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75000"/>
                  </a:schemeClr>
                </a:solidFill>
              </a:rPr>
              <a:t>Networking s/w…</a:t>
            </a:r>
            <a:endParaRPr lang="en-US" dirty="0">
              <a:solidFill>
                <a:schemeClr val="accent1">
                  <a:lumMod val="75000"/>
                </a:schemeClr>
              </a:solidFill>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a:ea typeface="+mn-lt"/>
                <a:cs typeface="+mn-lt"/>
              </a:rPr>
              <a:t>2</a:t>
            </a:r>
            <a:r>
              <a:rPr lang="en-US" b="1" dirty="0" smtClean="0">
                <a:ea typeface="+mn-lt"/>
                <a:cs typeface="+mn-lt"/>
              </a:rPr>
              <a:t>. Operating </a:t>
            </a:r>
            <a:r>
              <a:rPr lang="en-US" b="1" dirty="0">
                <a:ea typeface="+mn-lt"/>
                <a:cs typeface="+mn-lt"/>
              </a:rPr>
              <a:t>systems</a:t>
            </a:r>
            <a:endParaRPr lang="en-US" dirty="0">
              <a:ea typeface="+mn-lt"/>
              <a:cs typeface="+mn-lt"/>
            </a:endParaRPr>
          </a:p>
          <a:p>
            <a:pPr lvl="1" algn="just"/>
            <a:r>
              <a:rPr lang="en-US" dirty="0">
                <a:ea typeface="+mn-lt"/>
                <a:cs typeface="+mn-lt"/>
              </a:rPr>
              <a:t>An operating system is the most important software that runs on a computer. </a:t>
            </a:r>
            <a:endParaRPr lang="en-US" dirty="0" smtClean="0">
              <a:ea typeface="+mn-lt"/>
              <a:cs typeface="+mn-lt"/>
            </a:endParaRPr>
          </a:p>
          <a:p>
            <a:pPr lvl="1" algn="just"/>
            <a:r>
              <a:rPr lang="en-US" dirty="0">
                <a:ea typeface="+mn-lt"/>
                <a:cs typeface="+mn-lt"/>
              </a:rPr>
              <a:t>It manages the computer's memory and processes, as well as all of its software and hardware. </a:t>
            </a:r>
            <a:endParaRPr lang="en-US" dirty="0" smtClean="0">
              <a:ea typeface="+mn-lt"/>
              <a:cs typeface="+mn-lt"/>
            </a:endParaRPr>
          </a:p>
          <a:p>
            <a:pPr lvl="1" algn="just"/>
            <a:r>
              <a:rPr lang="en-US" dirty="0">
                <a:ea typeface="+mn-lt"/>
                <a:cs typeface="+mn-lt"/>
              </a:rPr>
              <a:t>It also allows you to communicate with the computer without knowing how to speak the computer's language. Without an operating system, a computer is useless.</a:t>
            </a:r>
            <a:endParaRPr lang="en-US" dirty="0" smtClean="0"/>
          </a:p>
          <a:p>
            <a:pPr marL="0" indent="0" algn="just">
              <a:buNone/>
            </a:pPr>
            <a:r>
              <a:rPr lang="en-US" b="1" dirty="0">
                <a:ea typeface="+mn-lt"/>
                <a:cs typeface="+mn-lt"/>
              </a:rPr>
              <a:t>3.Firewall</a:t>
            </a:r>
            <a:endParaRPr lang="en-US" dirty="0">
              <a:ea typeface="+mn-lt"/>
              <a:cs typeface="+mn-lt"/>
            </a:endParaRPr>
          </a:p>
          <a:p>
            <a:pPr lvl="1" algn="just"/>
            <a:r>
              <a:rPr lang="en-US" dirty="0">
                <a:ea typeface="+mn-lt"/>
                <a:cs typeface="+mn-lt"/>
              </a:rPr>
              <a:t>A firewall is a system designed to prevent unauthorized access to or from a private network. </a:t>
            </a:r>
          </a:p>
          <a:p>
            <a:pPr lvl="1" algn="just"/>
            <a:r>
              <a:rPr lang="en-US" dirty="0">
                <a:ea typeface="+mn-lt"/>
                <a:cs typeface="+mn-lt"/>
              </a:rPr>
              <a:t>You can implement a firewall in either hardware or software form, or a combination of both. </a:t>
            </a:r>
            <a:endParaRPr lang="en-US" dirty="0" smtClean="0">
              <a:ea typeface="+mn-lt"/>
              <a:cs typeface="+mn-lt"/>
            </a:endParaRPr>
          </a:p>
          <a:p>
            <a:pPr lvl="1" algn="just"/>
            <a:r>
              <a:rPr lang="en-US" dirty="0">
                <a:ea typeface="+mn-lt"/>
                <a:cs typeface="+mn-lt"/>
              </a:rPr>
              <a:t>Firewalls prevent unauthorized internet users from accessing private networks connected to the internet, especially intranets.</a:t>
            </a:r>
            <a:endParaRPr lang="en-US" dirty="0" smtClean="0"/>
          </a:p>
          <a:p>
            <a:endParaRPr lang="en-US" dirty="0"/>
          </a:p>
        </p:txBody>
      </p:sp>
    </p:spTree>
    <p:extLst>
      <p:ext uri="{BB962C8B-B14F-4D97-AF65-F5344CB8AC3E}">
        <p14:creationId xmlns:p14="http://schemas.microsoft.com/office/powerpoint/2010/main" val="40801784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lgn="just">
              <a:buNone/>
            </a:pPr>
            <a:r>
              <a:rPr lang="en-US" b="1" dirty="0">
                <a:ea typeface="+mn-lt"/>
                <a:cs typeface="+mn-lt"/>
              </a:rPr>
              <a:t>Network Services</a:t>
            </a:r>
            <a:endParaRPr lang="en-US" dirty="0"/>
          </a:p>
          <a:p>
            <a:pPr lvl="1" algn="just"/>
            <a:r>
              <a:rPr lang="en-US" dirty="0">
                <a:ea typeface="+mn-lt"/>
                <a:cs typeface="+mn-lt"/>
              </a:rPr>
              <a:t>A networking service is a low-level application that enables the network to perform more than basic functions.</a:t>
            </a:r>
          </a:p>
          <a:p>
            <a:pPr marL="0" indent="0" algn="just">
              <a:buNone/>
            </a:pPr>
            <a:r>
              <a:rPr lang="en-US" b="1" dirty="0">
                <a:ea typeface="+mn-lt"/>
                <a:cs typeface="+mn-lt"/>
              </a:rPr>
              <a:t>1</a:t>
            </a:r>
            <a:r>
              <a:rPr lang="en-US" b="1" dirty="0" smtClean="0">
                <a:ea typeface="+mn-lt"/>
                <a:cs typeface="+mn-lt"/>
              </a:rPr>
              <a:t>. T-1 </a:t>
            </a:r>
            <a:r>
              <a:rPr lang="en-US" b="1" dirty="0">
                <a:ea typeface="+mn-lt"/>
                <a:cs typeface="+mn-lt"/>
              </a:rPr>
              <a:t>Line</a:t>
            </a:r>
            <a:endParaRPr lang="en-US" dirty="0">
              <a:ea typeface="+mn-lt"/>
              <a:cs typeface="+mn-lt"/>
            </a:endParaRPr>
          </a:p>
          <a:p>
            <a:pPr lvl="1" algn="just"/>
            <a:r>
              <a:rPr lang="en-US" dirty="0">
                <a:ea typeface="+mn-lt"/>
                <a:cs typeface="+mn-lt"/>
              </a:rPr>
              <a:t>A T1 line is a communications transmission service that uses 2 twisted pair copper wires to transmit and receive data or voice traffic. A T1 line can transmit data at a speed of 1.544 Mbps. </a:t>
            </a:r>
          </a:p>
          <a:p>
            <a:pPr marL="0" indent="0" algn="just">
              <a:buNone/>
            </a:pPr>
            <a:r>
              <a:rPr lang="en-US" b="1" dirty="0">
                <a:ea typeface="+mn-lt"/>
                <a:cs typeface="+mn-lt"/>
              </a:rPr>
              <a:t>2.DSL</a:t>
            </a:r>
            <a:endParaRPr lang="en-US" dirty="0">
              <a:ea typeface="+mn-lt"/>
              <a:cs typeface="+mn-lt"/>
            </a:endParaRPr>
          </a:p>
          <a:p>
            <a:pPr lvl="1" algn="just"/>
            <a:r>
              <a:rPr lang="en-US" dirty="0">
                <a:ea typeface="+mn-lt"/>
                <a:cs typeface="+mn-lt"/>
              </a:rPr>
              <a:t>Stands for "Digital Subscriber Line." DSL is a communications medium used to transfer digital signals over standard telephone lines. Along with cable Internet, DSL is one of the most popular ways ISPs provide broadband Internet access.</a:t>
            </a:r>
          </a:p>
          <a:p>
            <a:pPr marL="0" indent="0" algn="just">
              <a:buNone/>
            </a:pPr>
            <a:r>
              <a:rPr lang="en-US" b="1" dirty="0">
                <a:ea typeface="+mn-lt"/>
                <a:cs typeface="+mn-lt"/>
              </a:rPr>
              <a:t>3</a:t>
            </a:r>
            <a:r>
              <a:rPr lang="en-US" b="1" dirty="0" smtClean="0">
                <a:ea typeface="+mn-lt"/>
                <a:cs typeface="+mn-lt"/>
              </a:rPr>
              <a:t>. Satellite</a:t>
            </a:r>
            <a:endParaRPr lang="en-US" dirty="0">
              <a:ea typeface="+mn-lt"/>
              <a:cs typeface="+mn-lt"/>
            </a:endParaRPr>
          </a:p>
          <a:p>
            <a:pPr lvl="1" algn="just"/>
            <a:r>
              <a:rPr lang="en-US" dirty="0">
                <a:ea typeface="+mn-lt"/>
                <a:cs typeface="+mn-lt"/>
              </a:rPr>
              <a:t>A satellite is an object in space that orbits or circles around a bigger object. There are two kinds of satellites: natural (such as the moon orbiting the Earth) or artificial (such as the International Space Station orbiting the Earth).</a:t>
            </a:r>
          </a:p>
          <a:p>
            <a:endParaRPr lang="en-US" dirty="0"/>
          </a:p>
        </p:txBody>
      </p:sp>
    </p:spTree>
    <p:extLst>
      <p:ext uri="{BB962C8B-B14F-4D97-AF65-F5344CB8AC3E}">
        <p14:creationId xmlns:p14="http://schemas.microsoft.com/office/powerpoint/2010/main" val="23852277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75000"/>
                  </a:schemeClr>
                </a:solidFill>
              </a:rPr>
              <a:t>Networking services…</a:t>
            </a:r>
            <a:endParaRPr lang="en-US" dirty="0">
              <a:solidFill>
                <a:schemeClr val="accent1">
                  <a:lumMod val="75000"/>
                </a:schemeClr>
              </a:solidFill>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a:ea typeface="+mn-lt"/>
                <a:cs typeface="+mn-lt"/>
              </a:rPr>
              <a:t>4.Wireless protocols</a:t>
            </a:r>
            <a:endParaRPr lang="en-US" dirty="0">
              <a:ea typeface="+mn-lt"/>
              <a:cs typeface="+mn-lt"/>
            </a:endParaRPr>
          </a:p>
          <a:p>
            <a:pPr lvl="1" algn="just"/>
            <a:r>
              <a:rPr lang="en-US" dirty="0">
                <a:ea typeface="+mn-lt"/>
                <a:cs typeface="+mn-lt"/>
              </a:rPr>
              <a:t>Wireless communication protocols are used to connect computers, laptops and smartphones. </a:t>
            </a:r>
          </a:p>
          <a:p>
            <a:pPr lvl="1" algn="just"/>
            <a:r>
              <a:rPr lang="en-US" dirty="0">
                <a:ea typeface="+mn-lt"/>
                <a:cs typeface="+mn-lt"/>
              </a:rPr>
              <a:t>The more widespread and standardized protocols are wireless LAN (IEEE 802.11) or Bluetooth (IEEE 802.15. 1). </a:t>
            </a:r>
          </a:p>
          <a:p>
            <a:pPr lvl="1" algn="just"/>
            <a:r>
              <a:rPr lang="en-US" dirty="0">
                <a:ea typeface="+mn-lt"/>
                <a:cs typeface="+mn-lt"/>
              </a:rPr>
              <a:t>The implementation of these protocols in a device requires high processing capacity and big energy consumption.</a:t>
            </a:r>
          </a:p>
          <a:p>
            <a:pPr marL="0" indent="0" algn="just">
              <a:buNone/>
            </a:pPr>
            <a:r>
              <a:rPr lang="en-US" b="1" dirty="0">
                <a:ea typeface="+mn-lt"/>
                <a:cs typeface="+mn-lt"/>
              </a:rPr>
              <a:t>5</a:t>
            </a:r>
            <a:r>
              <a:rPr lang="en-US" b="1" dirty="0" smtClean="0">
                <a:ea typeface="+mn-lt"/>
                <a:cs typeface="+mn-lt"/>
              </a:rPr>
              <a:t>. IP </a:t>
            </a:r>
            <a:r>
              <a:rPr lang="en-US" b="1" dirty="0">
                <a:ea typeface="+mn-lt"/>
                <a:cs typeface="+mn-lt"/>
              </a:rPr>
              <a:t>addressing</a:t>
            </a:r>
            <a:endParaRPr lang="en-US" dirty="0">
              <a:ea typeface="+mn-lt"/>
              <a:cs typeface="+mn-lt"/>
            </a:endParaRPr>
          </a:p>
          <a:p>
            <a:pPr lvl="1" algn="just"/>
            <a:r>
              <a:rPr lang="en-US" dirty="0">
                <a:ea typeface="+mn-lt"/>
                <a:cs typeface="+mn-lt"/>
              </a:rPr>
              <a:t>An Internet Protocol address (IP address) is a numerical label assigned to each device connected to a computer network that uses the Internet Protocol for communication.</a:t>
            </a:r>
          </a:p>
          <a:p>
            <a:pPr lvl="1" algn="just"/>
            <a:r>
              <a:rPr lang="en-US" dirty="0" smtClean="0">
                <a:ea typeface="+mn-lt"/>
                <a:cs typeface="+mn-lt"/>
              </a:rPr>
              <a:t>An</a:t>
            </a:r>
            <a:r>
              <a:rPr lang="en-US" dirty="0">
                <a:ea typeface="+mn-lt"/>
                <a:cs typeface="+mn-lt"/>
              </a:rPr>
              <a:t> IP address serves two main functions: host or network interface identification and location addressing.</a:t>
            </a:r>
            <a:endParaRPr lang="en-US" dirty="0" smtClean="0"/>
          </a:p>
          <a:p>
            <a:endParaRPr lang="en-US" dirty="0"/>
          </a:p>
        </p:txBody>
      </p:sp>
    </p:spTree>
    <p:extLst>
      <p:ext uri="{BB962C8B-B14F-4D97-AF65-F5344CB8AC3E}">
        <p14:creationId xmlns:p14="http://schemas.microsoft.com/office/powerpoint/2010/main" val="1826079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4935"/>
          </a:xfrm>
        </p:spPr>
        <p:txBody>
          <a:bodyPr/>
          <a:lstStyle/>
          <a:p>
            <a:pPr algn="just"/>
            <a:r>
              <a:rPr lang="en-US" b="1" i="0" cap="small" dirty="0" smtClean="0">
                <a:solidFill>
                  <a:schemeClr val="accent1">
                    <a:lumMod val="75000"/>
                  </a:schemeClr>
                </a:solidFill>
                <a:ea typeface="+mj-lt"/>
                <a:cs typeface="+mj-lt"/>
              </a:rPr>
              <a:t>Computing Infrastructure </a:t>
            </a:r>
            <a:endParaRPr lang="en-US" dirty="0">
              <a:solidFill>
                <a:schemeClr val="accent1">
                  <a:lumMod val="75000"/>
                </a:schemeClr>
              </a:solidFill>
            </a:endParaRPr>
          </a:p>
        </p:txBody>
      </p:sp>
      <p:sp>
        <p:nvSpPr>
          <p:cNvPr id="3" name="Content Placeholder 2"/>
          <p:cNvSpPr>
            <a:spLocks noGrp="1"/>
          </p:cNvSpPr>
          <p:nvPr>
            <p:ph idx="1"/>
          </p:nvPr>
        </p:nvSpPr>
        <p:spPr>
          <a:xfrm>
            <a:off x="729017" y="1443488"/>
            <a:ext cx="10515600" cy="4351338"/>
          </a:xfrm>
        </p:spPr>
        <p:txBody>
          <a:bodyPr>
            <a:normAutofit lnSpcReduction="10000"/>
          </a:bodyPr>
          <a:lstStyle/>
          <a:p>
            <a:pPr algn="just"/>
            <a:r>
              <a:rPr lang="en-US" dirty="0">
                <a:ea typeface="+mn-lt"/>
                <a:cs typeface="+mn-lt"/>
              </a:rPr>
              <a:t>Computing Infrastructure provides the hardware and services that other systems and services are built on. </a:t>
            </a:r>
            <a:endParaRPr lang="en-US" dirty="0" smtClean="0"/>
          </a:p>
          <a:p>
            <a:pPr algn="just"/>
            <a:r>
              <a:rPr lang="en-US" dirty="0">
                <a:ea typeface="+mn-lt"/>
                <a:cs typeface="+mn-lt"/>
              </a:rPr>
              <a:t>Computing Infrastructure provides management and support for end-user computers, servers, storage systems, operating systems, databases, middleware and </a:t>
            </a:r>
            <a:r>
              <a:rPr lang="en-US" dirty="0" smtClean="0">
                <a:ea typeface="+mn-lt"/>
                <a:cs typeface="+mn-lt"/>
              </a:rPr>
              <a:t>ERP systems (</a:t>
            </a:r>
            <a:r>
              <a:rPr lang="en-US" dirty="0" smtClean="0"/>
              <a:t>Enterprise Resource Planning software system)</a:t>
            </a:r>
            <a:r>
              <a:rPr lang="en-US" dirty="0" smtClean="0">
                <a:ea typeface="+mn-lt"/>
                <a:cs typeface="+mn-lt"/>
              </a:rPr>
              <a:t>.</a:t>
            </a:r>
            <a:r>
              <a:rPr lang="en-US" dirty="0">
                <a:ea typeface="+mn-lt"/>
                <a:cs typeface="+mn-lt"/>
              </a:rPr>
              <a:t> </a:t>
            </a:r>
            <a:endParaRPr lang="en-US" dirty="0" smtClean="0">
              <a:ea typeface="+mn-lt"/>
              <a:cs typeface="+mn-lt"/>
            </a:endParaRPr>
          </a:p>
          <a:p>
            <a:pPr algn="just"/>
            <a:r>
              <a:rPr lang="en-US" dirty="0">
                <a:ea typeface="+mn-lt"/>
                <a:cs typeface="+mn-lt"/>
              </a:rPr>
              <a:t>There are three groups that make up the Computing Infrastructure team</a:t>
            </a:r>
            <a:r>
              <a:rPr lang="en-US" dirty="0" smtClean="0">
                <a:ea typeface="+mn-lt"/>
                <a:cs typeface="+mn-lt"/>
              </a:rPr>
              <a:t>:</a:t>
            </a:r>
            <a:endParaRPr lang="en-US" dirty="0">
              <a:ea typeface="+mn-lt"/>
              <a:cs typeface="+mn-lt"/>
            </a:endParaRPr>
          </a:p>
          <a:p>
            <a:pPr lvl="1" algn="just">
              <a:buFont typeface="Wingdings" panose="05000000000000000000" pitchFamily="2" charset="2"/>
              <a:buChar char="ü"/>
            </a:pPr>
            <a:r>
              <a:rPr lang="en-US" dirty="0" smtClean="0"/>
              <a:t>Database and ERP Administration</a:t>
            </a:r>
          </a:p>
          <a:p>
            <a:pPr lvl="1" algn="just">
              <a:buFont typeface="Wingdings" panose="05000000000000000000" pitchFamily="2" charset="2"/>
              <a:buChar char="ü"/>
            </a:pPr>
            <a:r>
              <a:rPr lang="en-US" dirty="0" smtClean="0"/>
              <a:t>End-User Computing</a:t>
            </a:r>
          </a:p>
          <a:p>
            <a:pPr lvl="1" algn="just">
              <a:buFont typeface="Wingdings" panose="05000000000000000000" pitchFamily="2" charset="2"/>
              <a:buChar char="ü"/>
            </a:pPr>
            <a:r>
              <a:rPr lang="en-US" dirty="0" smtClean="0"/>
              <a:t>Server &amp; Storage Services</a:t>
            </a:r>
          </a:p>
          <a:p>
            <a:pPr lvl="1" algn="just"/>
            <a:endParaRPr lang="en-US" dirty="0"/>
          </a:p>
        </p:txBody>
      </p:sp>
    </p:spTree>
    <p:extLst>
      <p:ext uri="{BB962C8B-B14F-4D97-AF65-F5344CB8AC3E}">
        <p14:creationId xmlns:p14="http://schemas.microsoft.com/office/powerpoint/2010/main" val="28453165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a typeface="+mn-lt"/>
                <a:cs typeface="+mn-lt"/>
              </a:rPr>
              <a:t>Database and ERP Administration</a:t>
            </a:r>
            <a:endParaRPr lang="en-US" b="1" dirty="0">
              <a:ea typeface="+mn-lt"/>
              <a:cs typeface="+mn-lt"/>
            </a:endParaRPr>
          </a:p>
        </p:txBody>
      </p:sp>
      <p:sp>
        <p:nvSpPr>
          <p:cNvPr id="3" name="Content Placeholder 2"/>
          <p:cNvSpPr>
            <a:spLocks noGrp="1"/>
          </p:cNvSpPr>
          <p:nvPr>
            <p:ph idx="1"/>
          </p:nvPr>
        </p:nvSpPr>
        <p:spPr/>
        <p:txBody>
          <a:bodyPr>
            <a:normAutofit fontScale="92500" lnSpcReduction="10000"/>
          </a:bodyPr>
          <a:lstStyle/>
          <a:p>
            <a:pPr algn="just"/>
            <a:r>
              <a:rPr lang="en-US" dirty="0" smtClean="0">
                <a:ea typeface="+mn-lt"/>
                <a:cs typeface="+mn-lt"/>
              </a:rPr>
              <a:t>The </a:t>
            </a:r>
            <a:r>
              <a:rPr lang="en-US" dirty="0">
                <a:ea typeface="+mn-lt"/>
                <a:cs typeface="+mn-lt"/>
              </a:rPr>
              <a:t>Database and ERP Administration group manages and supports the main database infrastructure for core applications used by </a:t>
            </a:r>
            <a:r>
              <a:rPr lang="en-US" dirty="0" smtClean="0">
                <a:ea typeface="+mn-lt"/>
                <a:cs typeface="+mn-lt"/>
              </a:rPr>
              <a:t>stakeholders, </a:t>
            </a:r>
            <a:r>
              <a:rPr lang="en-US" dirty="0">
                <a:ea typeface="+mn-lt"/>
                <a:cs typeface="+mn-lt"/>
              </a:rPr>
              <a:t>based on Oracle Database software. </a:t>
            </a:r>
          </a:p>
          <a:p>
            <a:pPr algn="just"/>
            <a:r>
              <a:rPr lang="en-US" dirty="0">
                <a:ea typeface="+mn-lt"/>
                <a:cs typeface="+mn-lt"/>
              </a:rPr>
              <a:t>It also manages and supports Oracle and MySQL databases for a variety of administrative and academic needs.  </a:t>
            </a:r>
          </a:p>
          <a:p>
            <a:pPr algn="just"/>
            <a:r>
              <a:rPr lang="en-US" dirty="0">
                <a:ea typeface="+mn-lt"/>
                <a:cs typeface="+mn-lt"/>
              </a:rPr>
              <a:t>In addition, it  provides Microsoft SQL Server database support and assists with the integration of the SQL Server database with other third-party applications. </a:t>
            </a:r>
          </a:p>
          <a:p>
            <a:pPr algn="just"/>
            <a:r>
              <a:rPr lang="en-US" dirty="0">
                <a:ea typeface="+mn-lt"/>
                <a:cs typeface="+mn-lt"/>
              </a:rPr>
              <a:t>The group is also responsible for installing, configuring, building and recovering processes, securing and monitoring the health of the database infrastructure.</a:t>
            </a:r>
            <a:endParaRPr lang="en-US" dirty="0"/>
          </a:p>
        </p:txBody>
      </p:sp>
    </p:spTree>
    <p:extLst>
      <p:ext uri="{BB962C8B-B14F-4D97-AF65-F5344CB8AC3E}">
        <p14:creationId xmlns:p14="http://schemas.microsoft.com/office/powerpoint/2010/main" val="3259366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fontScale="90000"/>
          </a:bodyPr>
          <a:lstStyle/>
          <a:p>
            <a:r>
              <a:rPr lang="en-US" b="1" dirty="0" smtClean="0">
                <a:ea typeface="+mn-lt"/>
                <a:cs typeface="+mn-lt"/>
              </a:rPr>
              <a:t>End-User Computing</a:t>
            </a:r>
            <a:endParaRPr lang="en-US" b="1" dirty="0">
              <a:ea typeface="+mn-lt"/>
              <a:cs typeface="+mn-lt"/>
            </a:endParaRPr>
          </a:p>
        </p:txBody>
      </p:sp>
      <p:sp>
        <p:nvSpPr>
          <p:cNvPr id="3" name="Content Placeholder 2"/>
          <p:cNvSpPr>
            <a:spLocks noGrp="1"/>
          </p:cNvSpPr>
          <p:nvPr>
            <p:ph idx="1"/>
          </p:nvPr>
        </p:nvSpPr>
        <p:spPr>
          <a:xfrm>
            <a:off x="334371" y="907576"/>
            <a:ext cx="11593772" cy="5269387"/>
          </a:xfrm>
        </p:spPr>
        <p:txBody>
          <a:bodyPr>
            <a:noAutofit/>
          </a:bodyPr>
          <a:lstStyle/>
          <a:p>
            <a:pPr algn="just"/>
            <a:r>
              <a:rPr lang="en-US" sz="2000" dirty="0" smtClean="0">
                <a:ea typeface="+mn-lt"/>
                <a:cs typeface="+mn-lt"/>
              </a:rPr>
              <a:t>The </a:t>
            </a:r>
            <a:r>
              <a:rPr lang="en-US" sz="2000" dirty="0">
                <a:ea typeface="+mn-lt"/>
                <a:cs typeface="+mn-lt"/>
              </a:rPr>
              <a:t>End-User Computing group consists of two teams that provide personal computer management, support and </a:t>
            </a:r>
            <a:r>
              <a:rPr lang="en-US" sz="2000" dirty="0" smtClean="0">
                <a:ea typeface="+mn-lt"/>
                <a:cs typeface="+mn-lt"/>
              </a:rPr>
              <a:t>assistance.</a:t>
            </a:r>
            <a:endParaRPr lang="en-US" sz="2000" dirty="0">
              <a:ea typeface="+mn-lt"/>
              <a:cs typeface="+mn-lt"/>
            </a:endParaRPr>
          </a:p>
          <a:p>
            <a:pPr algn="just"/>
            <a:r>
              <a:rPr lang="en-US" sz="2000" dirty="0">
                <a:ea typeface="+mn-lt"/>
                <a:cs typeface="+mn-lt"/>
              </a:rPr>
              <a:t>The End-User Computing hardware team is the "hands and feet" for CCS. This team provides guidance, recommendations and assists </a:t>
            </a:r>
            <a:r>
              <a:rPr lang="en-US" sz="2000" dirty="0" smtClean="0">
                <a:ea typeface="+mn-lt"/>
                <a:cs typeface="+mn-lt"/>
              </a:rPr>
              <a:t>users </a:t>
            </a:r>
            <a:r>
              <a:rPr lang="en-US" sz="2000" dirty="0">
                <a:ea typeface="+mn-lt"/>
                <a:cs typeface="+mn-lt"/>
              </a:rPr>
              <a:t>with personal computer, printer, and other device acquisition needs.</a:t>
            </a:r>
          </a:p>
          <a:p>
            <a:pPr algn="just"/>
            <a:r>
              <a:rPr lang="en-US" sz="2000" dirty="0">
                <a:ea typeface="+mn-lt"/>
                <a:cs typeface="+mn-lt"/>
              </a:rPr>
              <a:t> The team also provides personal computer operating system imaging and application setup and support, including hardware installation and connectivity to the network.  </a:t>
            </a:r>
          </a:p>
          <a:p>
            <a:pPr algn="just"/>
            <a:r>
              <a:rPr lang="en-US" sz="2000" dirty="0">
                <a:ea typeface="+mn-lt"/>
                <a:cs typeface="+mn-lt"/>
              </a:rPr>
              <a:t>In addition, the hardware team provides hardware troubleshooting and repairs of supported desktop, laptop and printer equipment used by </a:t>
            </a:r>
            <a:r>
              <a:rPr lang="en-US" sz="2000" dirty="0" smtClean="0">
                <a:ea typeface="+mn-lt"/>
                <a:cs typeface="+mn-lt"/>
              </a:rPr>
              <a:t>users </a:t>
            </a:r>
            <a:r>
              <a:rPr lang="en-US" sz="2000" dirty="0">
                <a:ea typeface="+mn-lt"/>
                <a:cs typeface="+mn-lt"/>
              </a:rPr>
              <a:t> </a:t>
            </a:r>
            <a:endParaRPr lang="en-US" sz="2000" dirty="0" smtClean="0">
              <a:ea typeface="+mn-lt"/>
              <a:cs typeface="+mn-lt"/>
            </a:endParaRPr>
          </a:p>
          <a:p>
            <a:pPr algn="just"/>
            <a:r>
              <a:rPr lang="en-US" sz="2000" dirty="0">
                <a:ea typeface="+mn-lt"/>
                <a:cs typeface="+mn-lt"/>
              </a:rPr>
              <a:t>The End-User Computing infrastructure team provides back-end management and support for a number of key applications, including Microsoft Active Directory, used to provide authentication and rights access to services such as network shares and other services. </a:t>
            </a:r>
          </a:p>
          <a:p>
            <a:pPr algn="just"/>
            <a:r>
              <a:rPr lang="en-US" sz="2000" dirty="0">
                <a:ea typeface="+mn-lt"/>
                <a:cs typeface="+mn-lt"/>
              </a:rPr>
              <a:t>This team is responsible for managing the printing infrastructure for administrative networked </a:t>
            </a:r>
            <a:r>
              <a:rPr lang="en-US" sz="2000" dirty="0" smtClean="0">
                <a:ea typeface="+mn-lt"/>
                <a:cs typeface="+mn-lt"/>
              </a:rPr>
              <a:t>printers.</a:t>
            </a:r>
            <a:r>
              <a:rPr lang="en-US" sz="2000" dirty="0">
                <a:ea typeface="+mn-lt"/>
                <a:cs typeface="+mn-lt"/>
              </a:rPr>
              <a:t> In addition, the infrastructure team builds, tests, installs and manages desktop images </a:t>
            </a:r>
            <a:r>
              <a:rPr lang="en-US" sz="2000" dirty="0" smtClean="0">
                <a:ea typeface="+mn-lt"/>
                <a:cs typeface="+mn-lt"/>
              </a:rPr>
              <a:t>deployed.</a:t>
            </a:r>
            <a:endParaRPr lang="en-US" sz="2000" dirty="0">
              <a:ea typeface="+mn-lt"/>
              <a:cs typeface="+mn-lt"/>
            </a:endParaRPr>
          </a:p>
          <a:p>
            <a:pPr algn="just"/>
            <a:r>
              <a:rPr lang="en-US" sz="2000" dirty="0">
                <a:ea typeface="+mn-lt"/>
                <a:cs typeface="+mn-lt"/>
              </a:rPr>
              <a:t> The End-User Computing group, as a unit, works very closely with other groups within CCS and other departments, to ensure that the best solutions and services are delivered in a secure and manageable way.</a:t>
            </a:r>
            <a:endParaRPr lang="en-US" sz="2000" dirty="0"/>
          </a:p>
          <a:p>
            <a:endParaRPr lang="en-US" sz="2000" dirty="0">
              <a:ea typeface="+mn-lt"/>
              <a:cs typeface="+mn-lt"/>
            </a:endParaRPr>
          </a:p>
          <a:p>
            <a:endParaRPr lang="en-US" sz="2000" dirty="0"/>
          </a:p>
          <a:p>
            <a:pPr algn="just"/>
            <a:endParaRPr lang="en-US" sz="2000" dirty="0"/>
          </a:p>
        </p:txBody>
      </p:sp>
    </p:spTree>
    <p:extLst>
      <p:ext uri="{BB962C8B-B14F-4D97-AF65-F5344CB8AC3E}">
        <p14:creationId xmlns:p14="http://schemas.microsoft.com/office/powerpoint/2010/main" val="583970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a typeface="+mn-lt"/>
                <a:cs typeface="+mn-lt"/>
              </a:rPr>
              <a:t>Server &amp; Storage Services</a:t>
            </a:r>
          </a:p>
        </p:txBody>
      </p:sp>
      <p:sp>
        <p:nvSpPr>
          <p:cNvPr id="3" name="Content Placeholder 2"/>
          <p:cNvSpPr>
            <a:spLocks noGrp="1"/>
          </p:cNvSpPr>
          <p:nvPr>
            <p:ph idx="1"/>
          </p:nvPr>
        </p:nvSpPr>
        <p:spPr/>
        <p:txBody>
          <a:bodyPr>
            <a:normAutofit fontScale="77500" lnSpcReduction="20000"/>
          </a:bodyPr>
          <a:lstStyle/>
          <a:p>
            <a:pPr algn="just"/>
            <a:r>
              <a:rPr lang="en-US" dirty="0" smtClean="0">
                <a:ea typeface="+mn-lt"/>
                <a:cs typeface="+mn-lt"/>
              </a:rPr>
              <a:t>The Server and Storage Services group is responsible for the CCS managed data centers, servers and storage systems that provide infrastructure resources to applications and services used. </a:t>
            </a:r>
          </a:p>
          <a:p>
            <a:pPr algn="just"/>
            <a:r>
              <a:rPr lang="en-US" dirty="0" smtClean="0">
                <a:ea typeface="+mn-lt"/>
                <a:cs typeface="+mn-lt"/>
              </a:rPr>
              <a:t>This group ensures that the UPS and HVAC solutions within the data centers are operating efficiently and coordinates any maintenance, repairs and changes with other groups within CCS or outside of CCS </a:t>
            </a:r>
          </a:p>
          <a:p>
            <a:pPr algn="just"/>
            <a:r>
              <a:rPr lang="en-US" dirty="0" smtClean="0">
                <a:ea typeface="+mn-lt"/>
                <a:cs typeface="+mn-lt"/>
              </a:rPr>
              <a:t>The Server and Storage Services group is responsible for optimizing the operations within the data center, including the power distribution from UPS systems to allow power redundancy sources to data center equipment, as well as efficient cooling within the data center. </a:t>
            </a:r>
          </a:p>
          <a:p>
            <a:pPr algn="just"/>
            <a:r>
              <a:rPr lang="en-US" dirty="0">
                <a:ea typeface="+mn-lt"/>
                <a:cs typeface="+mn-lt"/>
              </a:rPr>
              <a:t>The Server and Storage Services group is also responsible for establishing standard server and storage platforms and for the management of the hardware and software required to integrate these platforms to deliver an efficient, scalable and cost-effective infrastructure capable of supporting layered services that consume server and storage resources, including core applications such as RAMSS, Human Resources, </a:t>
            </a:r>
            <a:r>
              <a:rPr lang="en-US" dirty="0" smtClean="0">
                <a:ea typeface="+mn-lt"/>
                <a:cs typeface="+mn-lt"/>
              </a:rPr>
              <a:t>Finance.</a:t>
            </a:r>
            <a:r>
              <a:rPr lang="en-US" dirty="0">
                <a:ea typeface="+mn-lt"/>
                <a:cs typeface="+mn-lt"/>
              </a:rPr>
              <a:t>   </a:t>
            </a:r>
          </a:p>
          <a:p>
            <a:endParaRPr lang="en-US" dirty="0">
              <a:ea typeface="+mn-lt"/>
              <a:cs typeface="+mn-lt"/>
            </a:endParaRPr>
          </a:p>
          <a:p>
            <a:endParaRPr lang="en-US" dirty="0"/>
          </a:p>
          <a:p>
            <a:pPr algn="just"/>
            <a:endParaRPr lang="en-US" dirty="0"/>
          </a:p>
        </p:txBody>
      </p:sp>
    </p:spTree>
    <p:extLst>
      <p:ext uri="{BB962C8B-B14F-4D97-AF65-F5344CB8AC3E}">
        <p14:creationId xmlns:p14="http://schemas.microsoft.com/office/powerpoint/2010/main" val="1982383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0848"/>
            <a:ext cx="10515600" cy="5706115"/>
          </a:xfrm>
        </p:spPr>
        <p:txBody>
          <a:bodyPr>
            <a:normAutofit fontScale="85000" lnSpcReduction="20000"/>
          </a:bodyPr>
          <a:lstStyle/>
          <a:p>
            <a:r>
              <a:rPr lang="en-US" dirty="0">
                <a:ea typeface="+mn-lt"/>
                <a:cs typeface="+mn-lt"/>
              </a:rPr>
              <a:t>The Computing Infrastructure team has a vast collective set of skills and expertise in areas such as data center management, Storage Area Networks, desktop and server imaging, database administration and general troubleshooting skills, that can be leveraged by other groups at the University for advice and consultation</a:t>
            </a:r>
            <a:r>
              <a:rPr lang="en-US" dirty="0" smtClean="0">
                <a:ea typeface="+mn-lt"/>
                <a:cs typeface="+mn-lt"/>
              </a:rPr>
              <a:t>.</a:t>
            </a:r>
          </a:p>
          <a:p>
            <a:r>
              <a:rPr lang="en-US" dirty="0">
                <a:ea typeface="+mn-lt"/>
                <a:cs typeface="+mn-lt"/>
              </a:rPr>
              <a:t>Computing Infrastructure provides the hardware and services that other systems and services are built </a:t>
            </a:r>
            <a:r>
              <a:rPr lang="en-US" dirty="0" smtClean="0">
                <a:ea typeface="+mn-lt"/>
                <a:cs typeface="+mn-lt"/>
              </a:rPr>
              <a:t>on.</a:t>
            </a:r>
            <a:endParaRPr lang="en-US" dirty="0">
              <a:ea typeface="+mn-lt"/>
              <a:cs typeface="+mn-lt"/>
            </a:endParaRPr>
          </a:p>
          <a:p>
            <a:pPr algn="just"/>
            <a:r>
              <a:rPr lang="en-US" b="1" dirty="0">
                <a:ea typeface="+mn-lt"/>
                <a:cs typeface="+mn-lt"/>
              </a:rPr>
              <a:t>File and disk storage services: </a:t>
            </a:r>
            <a:r>
              <a:rPr lang="en-US" dirty="0">
                <a:ea typeface="+mn-lt"/>
                <a:cs typeface="+mn-lt"/>
              </a:rPr>
              <a:t>Information Services provides a number of file and disk storage services. These include file servers, file backup, long-term archive and ftp services. Some of these services are provided by Storage Area Networks (SANs).</a:t>
            </a:r>
          </a:p>
          <a:p>
            <a:pPr algn="just"/>
            <a:r>
              <a:rPr lang="en-US" b="1" dirty="0">
                <a:ea typeface="+mn-lt"/>
                <a:cs typeface="+mn-lt"/>
              </a:rPr>
              <a:t>Authentication and authorization: </a:t>
            </a:r>
            <a:r>
              <a:rPr lang="en-US" dirty="0">
                <a:ea typeface="+mn-lt"/>
                <a:cs typeface="+mn-lt"/>
              </a:rPr>
              <a:t>Authentication is the means by which you log in and identify yourself. Authorization is the means by which a service determines whether an authenticated person should have access to a service.</a:t>
            </a:r>
          </a:p>
          <a:p>
            <a:pPr algn="just"/>
            <a:r>
              <a:rPr lang="en-US" b="1" dirty="0">
                <a:ea typeface="+mn-lt"/>
                <a:cs typeface="+mn-lt"/>
              </a:rPr>
              <a:t>Virtual hosting: </a:t>
            </a:r>
            <a:r>
              <a:rPr lang="en-US" dirty="0">
                <a:ea typeface="+mn-lt"/>
                <a:cs typeface="+mn-lt"/>
              </a:rPr>
              <a:t>The virtual hosting service provides a managed platform for hosting Windows, Linux and Unix services on a highly resilient virtualization platform based on VMware.</a:t>
            </a:r>
          </a:p>
          <a:p>
            <a:pPr algn="just"/>
            <a:r>
              <a:rPr lang="en-US" b="1" dirty="0">
                <a:ea typeface="+mn-lt"/>
                <a:cs typeface="+mn-lt"/>
              </a:rPr>
              <a:t>Cloud computing services: </a:t>
            </a:r>
            <a:r>
              <a:rPr lang="en-US" dirty="0">
                <a:ea typeface="+mn-lt"/>
                <a:cs typeface="+mn-lt"/>
              </a:rPr>
              <a:t>An Open Stack service to provide a platform to self-provision server infrastructure to support both researchers and development teams.</a:t>
            </a:r>
          </a:p>
          <a:p>
            <a:pPr algn="just"/>
            <a:endParaRPr lang="en-US" dirty="0"/>
          </a:p>
          <a:p>
            <a:endParaRPr lang="en-US" dirty="0"/>
          </a:p>
          <a:p>
            <a:endParaRPr lang="en-US" dirty="0">
              <a:ea typeface="+mn-lt"/>
              <a:cs typeface="+mn-lt"/>
            </a:endParaRPr>
          </a:p>
        </p:txBody>
      </p:sp>
    </p:spTree>
    <p:extLst>
      <p:ext uri="{BB962C8B-B14F-4D97-AF65-F5344CB8AC3E}">
        <p14:creationId xmlns:p14="http://schemas.microsoft.com/office/powerpoint/2010/main" val="1004557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center</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89147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E-governance Architecture</a:t>
            </a:r>
            <a:endParaRPr lang="en-US" dirty="0">
              <a:solidFill>
                <a:srgbClr val="0070C0"/>
              </a:solidFill>
            </a:endParaRPr>
          </a:p>
        </p:txBody>
      </p:sp>
      <p:sp>
        <p:nvSpPr>
          <p:cNvPr id="3" name="Content Placeholder 2"/>
          <p:cNvSpPr>
            <a:spLocks noGrp="1"/>
          </p:cNvSpPr>
          <p:nvPr>
            <p:ph idx="1"/>
          </p:nvPr>
        </p:nvSpPr>
        <p:spPr/>
        <p:txBody>
          <a:bodyPr/>
          <a:lstStyle/>
          <a:p>
            <a:pPr algn="just"/>
            <a:r>
              <a:rPr lang="en-US" dirty="0"/>
              <a:t>E-governance architecture refers to the comprehensive framework </a:t>
            </a:r>
            <a:r>
              <a:rPr lang="en-US" dirty="0" smtClean="0"/>
              <a:t>that outlines the design</a:t>
            </a:r>
            <a:r>
              <a:rPr lang="en-US" dirty="0"/>
              <a:t>, development, implementation, and operation of digital government services. </a:t>
            </a:r>
            <a:endParaRPr lang="en-US" dirty="0" smtClean="0"/>
          </a:p>
          <a:p>
            <a:pPr algn="just"/>
            <a:r>
              <a:rPr lang="en-US" dirty="0" smtClean="0"/>
              <a:t>It's </a:t>
            </a:r>
            <a:r>
              <a:rPr lang="en-US" dirty="0"/>
              <a:t>about how </a:t>
            </a:r>
            <a:r>
              <a:rPr lang="en-US" dirty="0" smtClean="0"/>
              <a:t>ICTs </a:t>
            </a:r>
            <a:r>
              <a:rPr lang="en-US" dirty="0"/>
              <a:t>are leveraged to transform government operations, improve service delivery, enhance transparency, and foster citizen participation</a:t>
            </a:r>
            <a:r>
              <a:rPr lang="en-US" dirty="0" smtClean="0"/>
              <a:t>.</a:t>
            </a:r>
          </a:p>
          <a:p>
            <a:pPr algn="just"/>
            <a:r>
              <a:rPr lang="en-US" dirty="0" smtClean="0"/>
              <a:t>E-governance architecture typically involves several interconnect layers and components as shown in figure in next slide.</a:t>
            </a:r>
            <a:endParaRPr lang="en-US" dirty="0"/>
          </a:p>
        </p:txBody>
      </p:sp>
    </p:spTree>
    <p:extLst>
      <p:ext uri="{BB962C8B-B14F-4D97-AF65-F5344CB8AC3E}">
        <p14:creationId xmlns:p14="http://schemas.microsoft.com/office/powerpoint/2010/main" val="11437752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close up of a logo&#10;&#10;Description automatically generated">
            <a:extLst>
              <a:ext uri="{FF2B5EF4-FFF2-40B4-BE49-F238E27FC236}">
                <a16:creationId xmlns:a16="http://schemas.microsoft.com/office/drawing/2014/main" id="{13F3E9AF-737A-41DE-9ED5-7FACBB1F2927}"/>
              </a:ext>
            </a:extLst>
          </p:cNvPr>
          <p:cNvPicPr>
            <a:picLocks noGrp="1" noChangeAspect="1"/>
          </p:cNvPicPr>
          <p:nvPr>
            <p:ph idx="1"/>
          </p:nvPr>
        </p:nvPicPr>
        <p:blipFill>
          <a:blip r:embed="rId2"/>
          <a:stretch>
            <a:fillRect/>
          </a:stretch>
        </p:blipFill>
        <p:spPr>
          <a:xfrm>
            <a:off x="252663" y="928048"/>
            <a:ext cx="11150041" cy="5142547"/>
          </a:xfrm>
        </p:spPr>
      </p:pic>
    </p:spTree>
    <p:extLst>
      <p:ext uri="{BB962C8B-B14F-4D97-AF65-F5344CB8AC3E}">
        <p14:creationId xmlns:p14="http://schemas.microsoft.com/office/powerpoint/2010/main" val="7674959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Presentation layer (user interface)</a:t>
            </a:r>
            <a:endParaRPr lang="en-US" dirty="0"/>
          </a:p>
        </p:txBody>
      </p:sp>
      <p:sp>
        <p:nvSpPr>
          <p:cNvPr id="3" name="Content Placeholder 2"/>
          <p:cNvSpPr>
            <a:spLocks noGrp="1"/>
          </p:cNvSpPr>
          <p:nvPr>
            <p:ph idx="1"/>
          </p:nvPr>
        </p:nvSpPr>
        <p:spPr/>
        <p:txBody>
          <a:bodyPr/>
          <a:lstStyle/>
          <a:p>
            <a:r>
              <a:rPr lang="en-US" dirty="0">
                <a:ea typeface="+mn-lt"/>
                <a:cs typeface="+mn-lt"/>
              </a:rPr>
              <a:t>The presentation layer identifies and describes the system users, who require access to government information at different capacities, and the channels through which information can be accessed. </a:t>
            </a:r>
            <a:endParaRPr lang="en-US" dirty="0" smtClean="0"/>
          </a:p>
          <a:p>
            <a:r>
              <a:rPr lang="en-US" dirty="0" smtClean="0"/>
              <a:t>It is the visible part that </a:t>
            </a:r>
            <a:r>
              <a:rPr lang="en-US" dirty="0"/>
              <a:t>c</a:t>
            </a:r>
            <a:r>
              <a:rPr lang="en-US" dirty="0" smtClean="0"/>
              <a:t>itizens, business, and government employee interact with.</a:t>
            </a:r>
          </a:p>
          <a:p>
            <a:r>
              <a:rPr lang="en-US" dirty="0" smtClean="0"/>
              <a:t>It includes citizens portals and web interface, Mobiles applications, Kiosks and other interfaces.</a:t>
            </a:r>
          </a:p>
          <a:p>
            <a:pPr lvl="1"/>
            <a:endParaRPr lang="en-US" dirty="0" smtClean="0"/>
          </a:p>
          <a:p>
            <a:pPr lvl="1"/>
            <a:endParaRPr lang="en-US" dirty="0"/>
          </a:p>
        </p:txBody>
      </p:sp>
    </p:spTree>
    <p:extLst>
      <p:ext uri="{BB962C8B-B14F-4D97-AF65-F5344CB8AC3E}">
        <p14:creationId xmlns:p14="http://schemas.microsoft.com/office/powerpoint/2010/main" val="38170716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mn-lt"/>
                <a:cs typeface="+mn-lt"/>
              </a:rPr>
              <a:t>E-Government Layer </a:t>
            </a:r>
          </a:p>
        </p:txBody>
      </p:sp>
      <p:sp>
        <p:nvSpPr>
          <p:cNvPr id="3" name="Content Placeholder 2"/>
          <p:cNvSpPr>
            <a:spLocks noGrp="1"/>
          </p:cNvSpPr>
          <p:nvPr>
            <p:ph idx="1"/>
          </p:nvPr>
        </p:nvSpPr>
        <p:spPr/>
        <p:txBody>
          <a:bodyPr>
            <a:normAutofit/>
          </a:bodyPr>
          <a:lstStyle/>
          <a:p>
            <a:r>
              <a:rPr lang="en-US" sz="3200" dirty="0" smtClean="0"/>
              <a:t>It focuses on actual delivery of government services.</a:t>
            </a:r>
          </a:p>
          <a:p>
            <a:pPr algn="just"/>
            <a:r>
              <a:rPr lang="en-US" sz="3200" dirty="0" smtClean="0"/>
              <a:t>Aims to optimize the services for various stakeholders (citizens, business and other government entities)</a:t>
            </a:r>
          </a:p>
          <a:p>
            <a:pPr algn="just"/>
            <a:r>
              <a:rPr lang="en-US" sz="3200" dirty="0" smtClean="0"/>
              <a:t>This layer often involves a Service Delivery Gateway to provide a single point access.</a:t>
            </a:r>
            <a:endParaRPr lang="en-US" sz="3200" dirty="0"/>
          </a:p>
        </p:txBody>
      </p:sp>
    </p:spTree>
    <p:extLst>
      <p:ext uri="{BB962C8B-B14F-4D97-AF65-F5344CB8AC3E}">
        <p14:creationId xmlns:p14="http://schemas.microsoft.com/office/powerpoint/2010/main" val="42181553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Architecture layer</a:t>
            </a:r>
            <a:endParaRPr lang="en-US" dirty="0"/>
          </a:p>
        </p:txBody>
      </p:sp>
      <p:sp>
        <p:nvSpPr>
          <p:cNvPr id="3" name="Content Placeholder 2"/>
          <p:cNvSpPr>
            <a:spLocks noGrp="1"/>
          </p:cNvSpPr>
          <p:nvPr>
            <p:ph idx="1"/>
          </p:nvPr>
        </p:nvSpPr>
        <p:spPr/>
        <p:txBody>
          <a:bodyPr/>
          <a:lstStyle/>
          <a:p>
            <a:r>
              <a:rPr lang="en-US" dirty="0" smtClean="0"/>
              <a:t>It describe the government functions and process</a:t>
            </a:r>
          </a:p>
          <a:p>
            <a:r>
              <a:rPr lang="en-US" dirty="0" smtClean="0"/>
              <a:t>It focuses on streamlining existing processes, reducing manual touch points and promoting collaboration among departments.</a:t>
            </a:r>
          </a:p>
          <a:p>
            <a:r>
              <a:rPr lang="en-US" dirty="0" smtClean="0"/>
              <a:t>It also involves business process re-engineering to make transaction more efficient and user friendly.</a:t>
            </a:r>
          </a:p>
          <a:p>
            <a:endParaRPr lang="en-US" dirty="0" smtClean="0"/>
          </a:p>
          <a:p>
            <a:endParaRPr lang="en-US" dirty="0"/>
          </a:p>
        </p:txBody>
      </p:sp>
    </p:spTree>
    <p:extLst>
      <p:ext uri="{BB962C8B-B14F-4D97-AF65-F5344CB8AC3E}">
        <p14:creationId xmlns:p14="http://schemas.microsoft.com/office/powerpoint/2010/main" val="41161736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mn-lt"/>
                <a:cs typeface="+mn-lt"/>
              </a:rPr>
              <a:t>Information Architecture Layer</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This layer deal with the structure, organization and management of information (data) assets.</a:t>
            </a:r>
          </a:p>
          <a:p>
            <a:r>
              <a:rPr lang="en-US" dirty="0" smtClean="0"/>
              <a:t>It includes data models, databases, metadata, and components that govern how information is captured, stored, processed and accessed.</a:t>
            </a:r>
          </a:p>
          <a:p>
            <a:r>
              <a:rPr lang="en-US" dirty="0" smtClean="0"/>
              <a:t>It emphasizes common, centralized database to eliminate redundancy and ensure consistency.</a:t>
            </a:r>
          </a:p>
          <a:p>
            <a:pPr algn="just"/>
            <a:r>
              <a:rPr lang="en-US" dirty="0">
                <a:ea typeface="+mn-lt"/>
                <a:cs typeface="+mn-lt"/>
              </a:rPr>
              <a:t>This layer can be divided into </a:t>
            </a:r>
            <a:r>
              <a:rPr lang="en-US" dirty="0" smtClean="0">
                <a:ea typeface="+mn-lt"/>
                <a:cs typeface="+mn-lt"/>
              </a:rPr>
              <a:t>two: </a:t>
            </a:r>
            <a:r>
              <a:rPr lang="en-US" b="1" dirty="0">
                <a:ea typeface="+mn-lt"/>
                <a:cs typeface="+mn-lt"/>
              </a:rPr>
              <a:t>Service classification </a:t>
            </a:r>
            <a:r>
              <a:rPr lang="en-US" b="1" dirty="0" smtClean="0">
                <a:ea typeface="+mn-lt"/>
                <a:cs typeface="+mn-lt"/>
              </a:rPr>
              <a:t>sub-layer</a:t>
            </a:r>
            <a:r>
              <a:rPr lang="en-US" dirty="0">
                <a:ea typeface="+mn-lt"/>
                <a:cs typeface="+mn-lt"/>
              </a:rPr>
              <a:t> </a:t>
            </a:r>
            <a:r>
              <a:rPr lang="en-US" dirty="0" smtClean="0">
                <a:ea typeface="+mn-lt"/>
                <a:cs typeface="+mn-lt"/>
              </a:rPr>
              <a:t>and </a:t>
            </a:r>
            <a:r>
              <a:rPr lang="en-US" b="1" dirty="0">
                <a:ea typeface="+mn-lt"/>
                <a:cs typeface="+mn-lt"/>
              </a:rPr>
              <a:t>Data Standardization </a:t>
            </a:r>
            <a:r>
              <a:rPr lang="en-US" b="1" dirty="0" smtClean="0">
                <a:ea typeface="+mn-lt"/>
                <a:cs typeface="+mn-lt"/>
              </a:rPr>
              <a:t>Sub-layer</a:t>
            </a:r>
          </a:p>
          <a:p>
            <a:pPr marL="0" indent="0" algn="just">
              <a:buNone/>
            </a:pPr>
            <a:r>
              <a:rPr lang="en-US" b="1" dirty="0">
                <a:ea typeface="+mn-lt"/>
                <a:cs typeface="+mn-lt"/>
              </a:rPr>
              <a:t>Service classification sub-layer</a:t>
            </a:r>
            <a:endParaRPr lang="en-US" dirty="0">
              <a:ea typeface="+mn-lt"/>
              <a:cs typeface="+mn-lt"/>
            </a:endParaRPr>
          </a:p>
          <a:p>
            <a:pPr algn="just"/>
            <a:r>
              <a:rPr lang="en-US" dirty="0">
                <a:ea typeface="+mn-lt"/>
                <a:cs typeface="+mn-lt"/>
              </a:rPr>
              <a:t>The service classification sub-layer classifies service components according to how they support business and performance objectives  </a:t>
            </a:r>
          </a:p>
          <a:p>
            <a:pPr algn="just"/>
            <a:r>
              <a:rPr lang="en-US" dirty="0">
                <a:ea typeface="+mn-lt"/>
                <a:cs typeface="+mn-lt"/>
              </a:rPr>
              <a:t>It serves to identify and classify horizontal and vertical service components supporting government and their IT investments and assets. </a:t>
            </a:r>
          </a:p>
          <a:p>
            <a:pPr algn="just"/>
            <a:r>
              <a:rPr lang="en-US" dirty="0">
                <a:ea typeface="+mn-lt"/>
                <a:cs typeface="+mn-lt"/>
              </a:rPr>
              <a:t>It is organized across horizontal service areas independent of the business functions, providing a leverage able foundation for reuse of applications, application capabilities and business services.</a:t>
            </a:r>
            <a:endParaRPr lang="en-US" dirty="0"/>
          </a:p>
        </p:txBody>
      </p:sp>
    </p:spTree>
    <p:extLst>
      <p:ext uri="{BB962C8B-B14F-4D97-AF65-F5344CB8AC3E}">
        <p14:creationId xmlns:p14="http://schemas.microsoft.com/office/powerpoint/2010/main" val="19954749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fontScale="77500" lnSpcReduction="20000"/>
          </a:bodyPr>
          <a:lstStyle/>
          <a:p>
            <a:pPr marL="0" indent="0" algn="just">
              <a:buNone/>
            </a:pPr>
            <a:r>
              <a:rPr lang="en-US" b="1" dirty="0">
                <a:ea typeface="+mn-lt"/>
                <a:cs typeface="+mn-lt"/>
              </a:rPr>
              <a:t>Data Standardization Sub-layer </a:t>
            </a:r>
            <a:endParaRPr lang="en-US" b="1" dirty="0"/>
          </a:p>
          <a:p>
            <a:pPr algn="just"/>
            <a:r>
              <a:rPr lang="en-US" dirty="0">
                <a:ea typeface="+mn-lt"/>
                <a:cs typeface="+mn-lt"/>
              </a:rPr>
              <a:t>The data standardization sub-layer is flexible and standard based to enable information sharing and reuse across the government via the standard description and discovery of common data and the promotion of uniform data management practices.</a:t>
            </a:r>
          </a:p>
          <a:p>
            <a:pPr algn="just"/>
            <a:r>
              <a:rPr lang="en-US" dirty="0">
                <a:ea typeface="+mn-lt"/>
                <a:cs typeface="+mn-lt"/>
              </a:rPr>
              <a:t> It provides a standard means by which data may be described, categorized and shared. These are reflected within each of the three standardized areas; </a:t>
            </a:r>
            <a:endParaRPr lang="en-US" dirty="0" smtClean="0">
              <a:ea typeface="+mn-lt"/>
              <a:cs typeface="+mn-lt"/>
            </a:endParaRPr>
          </a:p>
          <a:p>
            <a:pPr marL="0" indent="0" algn="just">
              <a:buNone/>
            </a:pPr>
            <a:r>
              <a:rPr lang="en-US" b="1" dirty="0">
                <a:ea typeface="+mn-lt"/>
                <a:cs typeface="+mn-lt"/>
              </a:rPr>
              <a:t>Data descriptions </a:t>
            </a:r>
          </a:p>
          <a:p>
            <a:pPr lvl="1" algn="just"/>
            <a:r>
              <a:rPr lang="en-US" dirty="0">
                <a:ea typeface="+mn-lt"/>
                <a:cs typeface="+mn-lt"/>
              </a:rPr>
              <a:t>Data descriptions, provides a means to uniformly describe data, thereby supporting its discovery and sharing. </a:t>
            </a:r>
          </a:p>
          <a:p>
            <a:pPr marL="0" indent="0" algn="just">
              <a:buNone/>
            </a:pPr>
            <a:r>
              <a:rPr lang="en-US" b="1" dirty="0">
                <a:ea typeface="+mn-lt"/>
                <a:cs typeface="+mn-lt"/>
              </a:rPr>
              <a:t>Data context </a:t>
            </a:r>
          </a:p>
          <a:p>
            <a:pPr lvl="1" algn="just"/>
            <a:r>
              <a:rPr lang="en-US" dirty="0">
                <a:ea typeface="+mn-lt"/>
                <a:cs typeface="+mn-lt"/>
              </a:rPr>
              <a:t>Data facilitates discovery of data through an approach to the categorization of data according to taxonomies. </a:t>
            </a:r>
          </a:p>
          <a:p>
            <a:pPr marL="0" indent="0" algn="just">
              <a:buNone/>
            </a:pPr>
            <a:r>
              <a:rPr lang="en-US" b="1" dirty="0">
                <a:ea typeface="+mn-lt"/>
                <a:cs typeface="+mn-lt"/>
              </a:rPr>
              <a:t>Data sharing;</a:t>
            </a:r>
            <a:r>
              <a:rPr lang="en-US" dirty="0">
                <a:ea typeface="+mn-lt"/>
                <a:cs typeface="+mn-lt"/>
              </a:rPr>
              <a:t> </a:t>
            </a:r>
          </a:p>
          <a:p>
            <a:pPr lvl="1" algn="just"/>
            <a:r>
              <a:rPr lang="en-US" dirty="0">
                <a:ea typeface="+mn-lt"/>
                <a:cs typeface="+mn-lt"/>
              </a:rPr>
              <a:t>Data sharing, supports the access and exchange of data; where access consists of ad hoc requests (such as a query of data access asset) and exchange consists of fixed, recurring transactions between parties, enabled by capabilities provided by both the data context and data description standardization areas.</a:t>
            </a:r>
          </a:p>
          <a:p>
            <a:pPr lvl="1" algn="just"/>
            <a:r>
              <a:rPr lang="en-US" dirty="0">
                <a:ea typeface="+mn-lt"/>
                <a:cs typeface="+mn-lt"/>
              </a:rPr>
              <a:t>It provides guidance for implementing repeatable processes to enable data sharing in accordance with government-wide agreements encompassing national, county as well as other public and private non-governmental institutions. </a:t>
            </a:r>
          </a:p>
          <a:p>
            <a:pPr lvl="1" algn="just"/>
            <a:r>
              <a:rPr lang="en-US" dirty="0">
                <a:ea typeface="+mn-lt"/>
                <a:cs typeface="+mn-lt"/>
              </a:rPr>
              <a:t>The intent is to mature, advance and sustains their data agreements in and iterative manner. </a:t>
            </a:r>
            <a:endParaRPr lang="en-US" dirty="0"/>
          </a:p>
          <a:p>
            <a:endParaRPr lang="en-US" dirty="0"/>
          </a:p>
          <a:p>
            <a:pPr algn="just"/>
            <a:endParaRPr lang="en-US" dirty="0"/>
          </a:p>
          <a:p>
            <a:endParaRPr lang="en-US" dirty="0"/>
          </a:p>
        </p:txBody>
      </p:sp>
    </p:spTree>
    <p:extLst>
      <p:ext uri="{BB962C8B-B14F-4D97-AF65-F5344CB8AC3E}">
        <p14:creationId xmlns:p14="http://schemas.microsoft.com/office/powerpoint/2010/main" val="25926269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 Architecture layer</a:t>
            </a:r>
            <a:endParaRPr lang="en-US" dirty="0"/>
          </a:p>
        </p:txBody>
      </p:sp>
      <p:sp>
        <p:nvSpPr>
          <p:cNvPr id="3" name="Content Placeholder 2"/>
          <p:cNvSpPr>
            <a:spLocks noGrp="1"/>
          </p:cNvSpPr>
          <p:nvPr>
            <p:ph idx="1"/>
          </p:nvPr>
        </p:nvSpPr>
        <p:spPr/>
        <p:txBody>
          <a:bodyPr>
            <a:normAutofit lnSpcReduction="10000"/>
          </a:bodyPr>
          <a:lstStyle/>
          <a:p>
            <a:pPr algn="just"/>
            <a:r>
              <a:rPr lang="en-US" dirty="0">
                <a:ea typeface="+mn-lt"/>
                <a:cs typeface="+mn-lt"/>
              </a:rPr>
              <a:t>The technology architecture layer categorizes the standards and technologies that support and enable the delivery of service components and capabilities. </a:t>
            </a:r>
            <a:endParaRPr lang="en-US" dirty="0" smtClean="0">
              <a:ea typeface="+mn-lt"/>
              <a:cs typeface="+mn-lt"/>
            </a:endParaRPr>
          </a:p>
          <a:p>
            <a:pPr algn="just"/>
            <a:r>
              <a:rPr lang="en-US" dirty="0" smtClean="0">
                <a:ea typeface="+mn-lt"/>
                <a:cs typeface="+mn-lt"/>
              </a:rPr>
              <a:t>It includes </a:t>
            </a:r>
          </a:p>
          <a:p>
            <a:pPr lvl="1" algn="just"/>
            <a:r>
              <a:rPr lang="en-US" dirty="0" smtClean="0">
                <a:ea typeface="+mn-lt"/>
                <a:cs typeface="+mn-lt"/>
              </a:rPr>
              <a:t>Connectivity – high speed </a:t>
            </a:r>
            <a:r>
              <a:rPr lang="en-US" dirty="0"/>
              <a:t>internet networks, broadband connectivity, and mobile networks form the backbone.</a:t>
            </a:r>
            <a:endParaRPr lang="en-US" dirty="0" smtClean="0">
              <a:ea typeface="+mn-lt"/>
              <a:cs typeface="+mn-lt"/>
            </a:endParaRPr>
          </a:p>
          <a:p>
            <a:pPr lvl="1" algn="just"/>
            <a:r>
              <a:rPr lang="en-US" dirty="0" smtClean="0">
                <a:ea typeface="+mn-lt"/>
                <a:cs typeface="+mn-lt"/>
              </a:rPr>
              <a:t>Hardware – datacenters, servers, computers, mobile devices </a:t>
            </a:r>
            <a:r>
              <a:rPr lang="en-US" dirty="0"/>
              <a:t>at both government and user </a:t>
            </a:r>
            <a:r>
              <a:rPr lang="en-US" dirty="0" smtClean="0"/>
              <a:t>ends</a:t>
            </a:r>
            <a:r>
              <a:rPr lang="en-US" dirty="0" smtClean="0">
                <a:ea typeface="+mn-lt"/>
                <a:cs typeface="+mn-lt"/>
              </a:rPr>
              <a:t>.</a:t>
            </a:r>
          </a:p>
          <a:p>
            <a:pPr lvl="1" algn="just"/>
            <a:r>
              <a:rPr lang="en-US" dirty="0" smtClean="0">
                <a:ea typeface="+mn-lt"/>
                <a:cs typeface="+mn-lt"/>
              </a:rPr>
              <a:t>Software</a:t>
            </a:r>
          </a:p>
          <a:p>
            <a:pPr algn="just"/>
            <a:r>
              <a:rPr lang="en-US" dirty="0" smtClean="0">
                <a:ea typeface="+mn-lt"/>
                <a:cs typeface="+mn-lt"/>
              </a:rPr>
              <a:t>This layer often </a:t>
            </a:r>
            <a:r>
              <a:rPr lang="en-US" dirty="0"/>
              <a:t>Increasingly utilized </a:t>
            </a:r>
            <a:r>
              <a:rPr lang="en-US" dirty="0" smtClean="0"/>
              <a:t>cloud computing for </a:t>
            </a:r>
            <a:r>
              <a:rPr lang="en-US" dirty="0"/>
              <a:t>scalability, cost-effectiveness, and accessibility</a:t>
            </a:r>
            <a:endParaRPr lang="en-US" dirty="0">
              <a:ea typeface="+mn-lt"/>
              <a:cs typeface="+mn-lt"/>
            </a:endParaRPr>
          </a:p>
        </p:txBody>
      </p:sp>
    </p:spTree>
    <p:extLst>
      <p:ext uri="{BB962C8B-B14F-4D97-AF65-F5344CB8AC3E}">
        <p14:creationId xmlns:p14="http://schemas.microsoft.com/office/powerpoint/2010/main" val="14946402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small" dirty="0">
                <a:ea typeface="+mj-lt"/>
                <a:cs typeface="+mj-lt"/>
              </a:rPr>
              <a:t>Interoperability Framework</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ea typeface="+mn-lt"/>
                <a:cs typeface="+mn-lt"/>
              </a:rPr>
              <a:t>Interoperability Framework is Set of standards and guidelines which describe the way in which organizations have agreed, or should agree, to interact with each other.</a:t>
            </a:r>
          </a:p>
          <a:p>
            <a:pPr marL="0" indent="0" algn="just">
              <a:buNone/>
            </a:pPr>
            <a:r>
              <a:rPr lang="en-US" b="1" dirty="0">
                <a:ea typeface="+mn-lt"/>
                <a:cs typeface="+mn-lt"/>
              </a:rPr>
              <a:t>First Definition </a:t>
            </a:r>
          </a:p>
          <a:p>
            <a:pPr algn="just"/>
            <a:r>
              <a:rPr lang="en-US" dirty="0">
                <a:ea typeface="+mn-lt"/>
                <a:cs typeface="+mn-lt"/>
              </a:rPr>
              <a:t>E Government Interoperability Framework (</a:t>
            </a:r>
            <a:r>
              <a:rPr lang="en-US" dirty="0" err="1">
                <a:ea typeface="+mn-lt"/>
                <a:cs typeface="+mn-lt"/>
              </a:rPr>
              <a:t>eGIF</a:t>
            </a:r>
            <a:r>
              <a:rPr lang="en-US" dirty="0">
                <a:ea typeface="+mn-lt"/>
                <a:cs typeface="+mn-lt"/>
              </a:rPr>
              <a:t>) is a set of guidelines and standards to be followed by public sector information systems and processes, in order to achieve technical, organizational and semantic interoperability during service provision. </a:t>
            </a:r>
          </a:p>
          <a:p>
            <a:pPr marL="0" indent="0" algn="just">
              <a:buNone/>
            </a:pPr>
            <a:r>
              <a:rPr lang="en-US" b="1" dirty="0">
                <a:ea typeface="+mn-lt"/>
                <a:cs typeface="+mn-lt"/>
              </a:rPr>
              <a:t>Second Definition </a:t>
            </a:r>
          </a:p>
          <a:p>
            <a:pPr algn="just"/>
            <a:r>
              <a:rPr lang="en-US" dirty="0">
                <a:ea typeface="+mn-lt"/>
                <a:cs typeface="+mn-lt"/>
              </a:rPr>
              <a:t>An e-government Interoperability Framework (IF) is a document or group of documents that specify a set of common elements such as vocabularies, concepts, principles, policies, guidelines, recommendations, standards, and practices for agencies that wish to work together, towards the joint delivery of public services. </a:t>
            </a:r>
          </a:p>
        </p:txBody>
      </p:sp>
    </p:spTree>
    <p:extLst>
      <p:ext uri="{BB962C8B-B14F-4D97-AF65-F5344CB8AC3E}">
        <p14:creationId xmlns:p14="http://schemas.microsoft.com/office/powerpoint/2010/main" val="9390059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ormAutofit fontScale="92500" lnSpcReduction="20000"/>
          </a:bodyPr>
          <a:lstStyle/>
          <a:p>
            <a:pPr algn="just"/>
            <a:r>
              <a:rPr lang="en-US" dirty="0">
                <a:ea typeface="+mn-lt"/>
                <a:cs typeface="+mn-lt"/>
              </a:rPr>
              <a:t>IFs are seen by governments as promising instruments to boost the interoperability of their services and systems. Henceforth, many countries have created and published their Ifs.</a:t>
            </a:r>
          </a:p>
          <a:p>
            <a:pPr algn="just"/>
            <a:r>
              <a:rPr lang="en-US" dirty="0">
                <a:ea typeface="+mn-lt"/>
                <a:cs typeface="+mn-lt"/>
              </a:rPr>
              <a:t>The e-GIF, launched in September 2000 in the United Kingdom by Minister Ian McCartney, is usually considered the first IF published. Since then, many other countries have published their national IFs, not only because they perceive them as an important instrument to foster and facilitate interoperability of public systems but also due to financial and political pressures set by prominent and powerful organizations and institutions such as the European Commission, United Nations, and the World Bank</a:t>
            </a:r>
            <a:r>
              <a:rPr lang="en-US" dirty="0" smtClean="0">
                <a:ea typeface="+mn-lt"/>
                <a:cs typeface="+mn-lt"/>
              </a:rPr>
              <a:t>.</a:t>
            </a:r>
          </a:p>
          <a:p>
            <a:r>
              <a:rPr lang="en-US" dirty="0">
                <a:ea typeface="+mn-lt"/>
                <a:cs typeface="+mn-lt"/>
              </a:rPr>
              <a:t>An IF is “a strategic document containing specifications and standards to be followed in order to ensure interoperability among public administrations and their beneficiaries (citizens, businesses, other public administrations)”.</a:t>
            </a:r>
            <a:endParaRPr lang="en-US" dirty="0"/>
          </a:p>
          <a:p>
            <a:r>
              <a:rPr lang="en-US" dirty="0">
                <a:ea typeface="+mn-lt"/>
                <a:cs typeface="+mn-lt"/>
              </a:rPr>
              <a:t> It “specifies a set of common elements such as vocabulary, concepts, principles, policies, guidelines, recommendations, standards, specifications and practices”, which provide guidance to practitioners about what to consider and do in order to enable seamless interaction within their public administration as well as with other public authorities. </a:t>
            </a:r>
            <a:endParaRPr lang="en-US" dirty="0"/>
          </a:p>
          <a:p>
            <a:pPr algn="just"/>
            <a:endParaRPr lang="en-US" b="1" dirty="0">
              <a:ea typeface="+mn-lt"/>
              <a:cs typeface="+mn-lt"/>
            </a:endParaRPr>
          </a:p>
          <a:p>
            <a:endParaRPr lang="en-US" dirty="0"/>
          </a:p>
        </p:txBody>
      </p:sp>
    </p:spTree>
    <p:extLst>
      <p:ext uri="{BB962C8B-B14F-4D97-AF65-F5344CB8AC3E}">
        <p14:creationId xmlns:p14="http://schemas.microsoft.com/office/powerpoint/2010/main" val="26601113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6507"/>
            <a:ext cx="10515600" cy="5460456"/>
          </a:xfrm>
        </p:spPr>
        <p:txBody>
          <a:bodyPr>
            <a:normAutofit/>
          </a:bodyPr>
          <a:lstStyle/>
          <a:p>
            <a:r>
              <a:rPr lang="en-US" dirty="0">
                <a:ea typeface="+mn-lt"/>
                <a:cs typeface="+mn-lt"/>
              </a:rPr>
              <a:t>The common elements set in an IF may cover multiple issues at a technical, semantic, organizational, or even at a legal or political level.</a:t>
            </a:r>
            <a:endParaRPr lang="en-US" dirty="0"/>
          </a:p>
          <a:p>
            <a:r>
              <a:rPr lang="en-US" dirty="0">
                <a:ea typeface="+mn-lt"/>
                <a:cs typeface="+mn-lt"/>
              </a:rPr>
              <a:t> IFs are seen as promising instruments to boost interoperability. Many practitioners and academics consider that the creation and publication of a national IF and its adoption by the multiple public agencies may, gradually, generate the appearing of a favorable environment to naturally achieve interoperability. </a:t>
            </a:r>
          </a:p>
          <a:p>
            <a:pPr algn="just"/>
            <a:r>
              <a:rPr lang="en-US" dirty="0">
                <a:ea typeface="+mn-lt"/>
                <a:cs typeface="+mn-lt"/>
              </a:rPr>
              <a:t>The existence of IFs may thus ending up contributing to the improvement of the quality of services provided to citizens, to the reduction of agencies’ operating costs, to the improvement of the coordination of government agency programs, and to the increase of transparency and accountability of government.</a:t>
            </a:r>
            <a:endParaRPr lang="en-US" dirty="0"/>
          </a:p>
          <a:p>
            <a:endParaRPr lang="en-US" dirty="0"/>
          </a:p>
        </p:txBody>
      </p:sp>
    </p:spTree>
    <p:extLst>
      <p:ext uri="{BB962C8B-B14F-4D97-AF65-F5344CB8AC3E}">
        <p14:creationId xmlns:p14="http://schemas.microsoft.com/office/powerpoint/2010/main" val="571628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mn-lt"/>
                <a:cs typeface="+mn-lt"/>
              </a:rPr>
              <a:t>Interoperability Framework for E-Governance </a:t>
            </a:r>
          </a:p>
        </p:txBody>
      </p:sp>
      <p:sp>
        <p:nvSpPr>
          <p:cNvPr id="3" name="Content Placeholder 2"/>
          <p:cNvSpPr>
            <a:spLocks noGrp="1"/>
          </p:cNvSpPr>
          <p:nvPr>
            <p:ph idx="1"/>
          </p:nvPr>
        </p:nvSpPr>
        <p:spPr/>
        <p:txBody>
          <a:bodyPr>
            <a:normAutofit/>
          </a:bodyPr>
          <a:lstStyle/>
          <a:p>
            <a:pPr algn="just"/>
            <a:r>
              <a:rPr lang="en-US" dirty="0" smtClean="0">
                <a:ea typeface="+mn-lt"/>
                <a:cs typeface="+mn-lt"/>
              </a:rPr>
              <a:t>IFEG </a:t>
            </a:r>
            <a:r>
              <a:rPr lang="en-US" dirty="0">
                <a:ea typeface="+mn-lt"/>
                <a:cs typeface="+mn-lt"/>
              </a:rPr>
              <a:t>in Indian context would encompass agreed approach to be adopted by the public agencies that wish to work together towards the joint delivery of public services using ICT, to achieve above mentioned goals, namely exchange of data, meaning of exchanged data and agreed process. </a:t>
            </a:r>
          </a:p>
          <a:p>
            <a:pPr algn="just"/>
            <a:r>
              <a:rPr lang="en-US" dirty="0">
                <a:ea typeface="+mn-lt"/>
                <a:cs typeface="+mn-lt"/>
              </a:rPr>
              <a:t>An IFEG involves a common structure which comprises a set of standards and guidelines; the structure can be used by the public agencies to specify the preferred way that all stake-holders interact with each other to share the information.</a:t>
            </a:r>
          </a:p>
          <a:p>
            <a:pPr algn="just"/>
            <a:r>
              <a:rPr lang="en-US" dirty="0">
                <a:ea typeface="+mn-lt"/>
                <a:cs typeface="+mn-lt"/>
              </a:rPr>
              <a:t> It is synonymous to speaking a common language.</a:t>
            </a:r>
            <a:endParaRPr lang="en-US" dirty="0"/>
          </a:p>
        </p:txBody>
      </p:sp>
    </p:spTree>
    <p:extLst>
      <p:ext uri="{BB962C8B-B14F-4D97-AF65-F5344CB8AC3E}">
        <p14:creationId xmlns:p14="http://schemas.microsoft.com/office/powerpoint/2010/main" val="27723881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659" y="180880"/>
            <a:ext cx="10515600" cy="781287"/>
          </a:xfrm>
        </p:spPr>
        <p:txBody>
          <a:bodyPr/>
          <a:lstStyle/>
          <a:p>
            <a:r>
              <a:rPr lang="en-US" b="1" dirty="0">
                <a:ea typeface="+mn-lt"/>
                <a:cs typeface="+mn-lt"/>
              </a:rPr>
              <a:t>Levels of Interoperability </a:t>
            </a:r>
          </a:p>
        </p:txBody>
      </p:sp>
      <p:sp>
        <p:nvSpPr>
          <p:cNvPr id="3" name="Content Placeholder 2"/>
          <p:cNvSpPr>
            <a:spLocks noGrp="1"/>
          </p:cNvSpPr>
          <p:nvPr>
            <p:ph idx="1"/>
          </p:nvPr>
        </p:nvSpPr>
        <p:spPr>
          <a:xfrm>
            <a:off x="838200" y="1030406"/>
            <a:ext cx="10515600" cy="5146557"/>
          </a:xfrm>
        </p:spPr>
        <p:txBody>
          <a:bodyPr>
            <a:normAutofit/>
          </a:bodyPr>
          <a:lstStyle/>
          <a:p>
            <a:pPr algn="just"/>
            <a:r>
              <a:rPr lang="en-US" dirty="0" smtClean="0">
                <a:ea typeface="+mn-lt"/>
                <a:cs typeface="+mn-lt"/>
              </a:rPr>
              <a:t>The </a:t>
            </a:r>
            <a:r>
              <a:rPr lang="en-US" dirty="0">
                <a:ea typeface="+mn-lt"/>
                <a:cs typeface="+mn-lt"/>
              </a:rPr>
              <a:t>interoperability levels related to the sharing of information in IFEG are mainly classified into:</a:t>
            </a:r>
          </a:p>
          <a:p>
            <a:pPr algn="just"/>
            <a:endParaRPr lang="en-US" dirty="0"/>
          </a:p>
          <a:p>
            <a:endParaRPr lang="en-US" dirty="0"/>
          </a:p>
          <a:p>
            <a:pPr algn="just"/>
            <a:endParaRPr lang="en-US" dirty="0">
              <a:ea typeface="+mn-lt"/>
              <a:cs typeface="+mn-lt"/>
            </a:endParaRPr>
          </a:p>
        </p:txBody>
      </p:sp>
      <p:pic>
        <p:nvPicPr>
          <p:cNvPr id="4" name="Content Placeholder 4"/>
          <p:cNvPicPr>
            <a:picLocks noChangeAspect="1"/>
          </p:cNvPicPr>
          <p:nvPr/>
        </p:nvPicPr>
        <p:blipFill>
          <a:blip r:embed="rId2"/>
          <a:stretch>
            <a:fillRect/>
          </a:stretch>
        </p:blipFill>
        <p:spPr>
          <a:xfrm>
            <a:off x="1214650" y="1856606"/>
            <a:ext cx="9273654" cy="4939979"/>
          </a:xfrm>
          <a:prstGeom prst="rect">
            <a:avLst/>
          </a:prstGeom>
        </p:spPr>
      </p:pic>
    </p:spTree>
    <p:extLst>
      <p:ext uri="{BB962C8B-B14F-4D97-AF65-F5344CB8AC3E}">
        <p14:creationId xmlns:p14="http://schemas.microsoft.com/office/powerpoint/2010/main" val="15336845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8615"/>
            <a:ext cx="10515600" cy="5658348"/>
          </a:xfrm>
        </p:spPr>
        <p:txBody>
          <a:bodyPr>
            <a:normAutofit fontScale="77500" lnSpcReduction="20000"/>
          </a:bodyPr>
          <a:lstStyle/>
          <a:p>
            <a:pPr algn="just"/>
            <a:r>
              <a:rPr lang="en-US" b="1" dirty="0">
                <a:ea typeface="+mn-lt"/>
                <a:cs typeface="+mn-lt"/>
              </a:rPr>
              <a:t>Organizational </a:t>
            </a:r>
            <a:r>
              <a:rPr lang="en-US" b="1" dirty="0" smtClean="0">
                <a:ea typeface="+mn-lt"/>
                <a:cs typeface="+mn-lt"/>
              </a:rPr>
              <a:t>Interoperability </a:t>
            </a:r>
            <a:r>
              <a:rPr lang="en-US" dirty="0"/>
              <a:t> is concerned with how different organizations collaborate to achieve their mutually agreed e-government goals. </a:t>
            </a:r>
            <a:r>
              <a:rPr lang="en-US" dirty="0" smtClean="0">
                <a:ea typeface="+mn-lt"/>
                <a:cs typeface="+mn-lt"/>
              </a:rPr>
              <a:t>(like </a:t>
            </a:r>
            <a:r>
              <a:rPr lang="en-US" dirty="0">
                <a:ea typeface="+mn-lt"/>
                <a:cs typeface="+mn-lt"/>
              </a:rPr>
              <a:t>process-re-engineering </a:t>
            </a:r>
            <a:r>
              <a:rPr lang="en-US" dirty="0" smtClean="0">
                <a:ea typeface="+mn-lt"/>
                <a:cs typeface="+mn-lt"/>
              </a:rPr>
              <a:t>including Government-Orders, Process Changes, Organizational Structures),</a:t>
            </a:r>
          </a:p>
          <a:p>
            <a:pPr algn="just"/>
            <a:r>
              <a:rPr lang="en-US" b="1" dirty="0" smtClean="0"/>
              <a:t>Semantic Interoperability</a:t>
            </a:r>
            <a:r>
              <a:rPr lang="en-US" dirty="0" smtClean="0"/>
              <a:t> (Enabling data to be interpreted &amp; processed with the same meaning, etc.)</a:t>
            </a:r>
            <a:endParaRPr lang="en-US" dirty="0" smtClean="0">
              <a:ea typeface="+mn-lt"/>
              <a:cs typeface="+mn-lt"/>
            </a:endParaRPr>
          </a:p>
          <a:p>
            <a:pPr algn="just"/>
            <a:r>
              <a:rPr lang="en-US" b="1" dirty="0" smtClean="0">
                <a:ea typeface="+mn-lt"/>
                <a:cs typeface="+mn-lt"/>
              </a:rPr>
              <a:t>Technical </a:t>
            </a:r>
            <a:r>
              <a:rPr lang="en-US" b="1" dirty="0">
                <a:ea typeface="+mn-lt"/>
                <a:cs typeface="+mn-lt"/>
              </a:rPr>
              <a:t>Interoperability</a:t>
            </a:r>
            <a:r>
              <a:rPr lang="en-US" dirty="0">
                <a:ea typeface="+mn-lt"/>
                <a:cs typeface="+mn-lt"/>
              </a:rPr>
              <a:t> </a:t>
            </a:r>
            <a:r>
              <a:rPr lang="en-US" dirty="0" smtClean="0">
                <a:ea typeface="+mn-lt"/>
                <a:cs typeface="+mn-lt"/>
              </a:rPr>
              <a:t>: it </a:t>
            </a:r>
            <a:r>
              <a:rPr lang="en-US" dirty="0"/>
              <a:t>covers the applications and infrastructures linking systems and services. </a:t>
            </a:r>
            <a:r>
              <a:rPr lang="en-US" dirty="0" smtClean="0">
                <a:ea typeface="+mn-lt"/>
                <a:cs typeface="+mn-lt"/>
              </a:rPr>
              <a:t>(like </a:t>
            </a:r>
            <a:r>
              <a:rPr lang="en-US" dirty="0">
                <a:ea typeface="+mn-lt"/>
                <a:cs typeface="+mn-lt"/>
              </a:rPr>
              <a:t>technical issues in interconnecting ICT systems and services, information storage and archival, protocols for information exchange and networking, security, etc.); in general, technical interoperability was considered for classifying the standards into various layers or domains (</a:t>
            </a:r>
            <a:r>
              <a:rPr lang="en-US" dirty="0" err="1">
                <a:ea typeface="+mn-lt"/>
                <a:cs typeface="+mn-lt"/>
              </a:rPr>
              <a:t>eg</a:t>
            </a:r>
            <a:r>
              <a:rPr lang="en-US" dirty="0">
                <a:ea typeface="+mn-lt"/>
                <a:cs typeface="+mn-lt"/>
              </a:rPr>
              <a:t>. Presentation domain, Network domain, Data Interchange domain, etc.) in earlier versions of IFEG/GIF documents from various countries. </a:t>
            </a:r>
          </a:p>
          <a:p>
            <a:pPr algn="just"/>
            <a:r>
              <a:rPr lang="en-US" dirty="0">
                <a:ea typeface="+mn-lt"/>
                <a:cs typeface="+mn-lt"/>
              </a:rPr>
              <a:t>Figure provides an overall view of the levels of the interoperability system. This helps to define the way in which applications and re-usable services will be developed and their interaction with other ICT systems. </a:t>
            </a:r>
          </a:p>
          <a:p>
            <a:pPr algn="just"/>
            <a:r>
              <a:rPr lang="en-US" dirty="0">
                <a:ea typeface="+mn-lt"/>
                <a:cs typeface="+mn-lt"/>
              </a:rPr>
              <a:t>As indicated in the Figure, Organizational Interoperability is supported by Semantic Interoperability, which in turn is supported by Technical Interoperability. </a:t>
            </a:r>
          </a:p>
          <a:p>
            <a:pPr algn="just"/>
            <a:r>
              <a:rPr lang="en-US" dirty="0">
                <a:ea typeface="+mn-lt"/>
                <a:cs typeface="+mn-lt"/>
              </a:rPr>
              <a:t>Hence Technical Interoperability forms the basis for the IFEG. Governance facilitates and enforces the implementation of IFEG.</a:t>
            </a:r>
            <a:endParaRPr lang="en-US" dirty="0"/>
          </a:p>
        </p:txBody>
      </p:sp>
    </p:spTree>
    <p:extLst>
      <p:ext uri="{BB962C8B-B14F-4D97-AF65-F5344CB8AC3E}">
        <p14:creationId xmlns:p14="http://schemas.microsoft.com/office/powerpoint/2010/main" val="42388413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4496"/>
            <a:ext cx="10515600" cy="5692467"/>
          </a:xfrm>
        </p:spPr>
        <p:txBody>
          <a:bodyPr>
            <a:normAutofit fontScale="85000" lnSpcReduction="20000"/>
          </a:bodyPr>
          <a:lstStyle/>
          <a:p>
            <a:r>
              <a:rPr lang="en-US" dirty="0">
                <a:ea typeface="+mn-lt"/>
                <a:cs typeface="+mn-lt"/>
              </a:rPr>
              <a:t>The Multilateral mechanism for IFEG is influenced by the following key sub-areas: </a:t>
            </a:r>
          </a:p>
          <a:p>
            <a:pPr algn="just"/>
            <a:r>
              <a:rPr lang="en-US" b="1" dirty="0">
                <a:ea typeface="+mn-lt"/>
                <a:cs typeface="+mn-lt"/>
              </a:rPr>
              <a:t>Political</a:t>
            </a:r>
            <a:r>
              <a:rPr lang="en-US" dirty="0">
                <a:ea typeface="+mn-lt"/>
                <a:cs typeface="+mn-lt"/>
              </a:rPr>
              <a:t>: For strategy related issues. In Political context, support and commitment from authority, provisioning of policies / guidelines, strategies over different levels of interoperability are expected. </a:t>
            </a:r>
          </a:p>
          <a:p>
            <a:pPr algn="just"/>
            <a:r>
              <a:rPr lang="en-US" b="1" dirty="0">
                <a:ea typeface="+mn-lt"/>
                <a:cs typeface="+mn-lt"/>
              </a:rPr>
              <a:t>Legal:</a:t>
            </a:r>
            <a:r>
              <a:rPr lang="en-US" dirty="0">
                <a:ea typeface="+mn-lt"/>
                <a:cs typeface="+mn-lt"/>
              </a:rPr>
              <a:t> For issues like IPR / Copy Right, content regulation, privacy, freedom of information, electronic identities, </a:t>
            </a:r>
            <a:r>
              <a:rPr lang="en-US" dirty="0" err="1">
                <a:ea typeface="+mn-lt"/>
                <a:cs typeface="+mn-lt"/>
              </a:rPr>
              <a:t>etc</a:t>
            </a:r>
            <a:r>
              <a:rPr lang="en-US" dirty="0">
                <a:ea typeface="+mn-lt"/>
                <a:cs typeface="+mn-lt"/>
              </a:rPr>
              <a:t>; these are context-sensitive. Legal factors include legal-power assigned to system for data protection and privacy information of the citizen, governance issues related to information management, executive orders and laws related to e-Governance services, citizen services driven by administrative procedures, enforcement, etc. </a:t>
            </a:r>
          </a:p>
          <a:p>
            <a:pPr algn="just"/>
            <a:r>
              <a:rPr lang="en-US" b="1" dirty="0">
                <a:ea typeface="+mn-lt"/>
                <a:cs typeface="+mn-lt"/>
              </a:rPr>
              <a:t>Managerial:</a:t>
            </a:r>
            <a:r>
              <a:rPr lang="en-US" dirty="0">
                <a:ea typeface="+mn-lt"/>
                <a:cs typeface="+mn-lt"/>
              </a:rPr>
              <a:t> For issues like training, motivation, reorientation of concerned staff from public agencies. </a:t>
            </a:r>
          </a:p>
          <a:p>
            <a:pPr algn="just"/>
            <a:r>
              <a:rPr lang="en-US" b="1" dirty="0">
                <a:ea typeface="+mn-lt"/>
                <a:cs typeface="+mn-lt"/>
              </a:rPr>
              <a:t>Economic</a:t>
            </a:r>
            <a:r>
              <a:rPr lang="en-US" dirty="0">
                <a:ea typeface="+mn-lt"/>
                <a:cs typeface="+mn-lt"/>
              </a:rPr>
              <a:t>: For funding related issues. </a:t>
            </a:r>
          </a:p>
          <a:p>
            <a:pPr algn="just"/>
            <a:r>
              <a:rPr lang="en-US" b="1" dirty="0">
                <a:ea typeface="+mn-lt"/>
                <a:cs typeface="+mn-lt"/>
              </a:rPr>
              <a:t>Social/Cultural:</a:t>
            </a:r>
            <a:r>
              <a:rPr lang="en-US" dirty="0">
                <a:ea typeface="+mn-lt"/>
                <a:cs typeface="+mn-lt"/>
              </a:rPr>
              <a:t> For social/cultural characteristics of system stakeholders. Social / Cultural factors like differences in culture, working practices, issues of trust, timings, social exclusion issues have more influence. Cultural and linguistic diversity </a:t>
            </a:r>
            <a:r>
              <a:rPr lang="en-US" dirty="0" smtClean="0">
                <a:ea typeface="+mn-lt"/>
                <a:cs typeface="+mn-lt"/>
              </a:rPr>
              <a:t>introduces </a:t>
            </a:r>
            <a:r>
              <a:rPr lang="en-US" dirty="0">
                <a:ea typeface="+mn-lt"/>
                <a:cs typeface="+mn-lt"/>
              </a:rPr>
              <a:t>additional administrative constraints like naming conventions, multiple local official languages, language dependent format, etc.</a:t>
            </a:r>
          </a:p>
          <a:p>
            <a:endParaRPr lang="en-US" dirty="0">
              <a:ea typeface="+mn-lt"/>
              <a:cs typeface="+mn-lt"/>
            </a:endParaRPr>
          </a:p>
        </p:txBody>
      </p:sp>
    </p:spTree>
    <p:extLst>
      <p:ext uri="{BB962C8B-B14F-4D97-AF65-F5344CB8AC3E}">
        <p14:creationId xmlns:p14="http://schemas.microsoft.com/office/powerpoint/2010/main" val="16243756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Cloud Governance</a:t>
            </a:r>
          </a:p>
        </p:txBody>
      </p:sp>
      <p:sp>
        <p:nvSpPr>
          <p:cNvPr id="6" name="TextBox 5"/>
          <p:cNvSpPr txBox="1"/>
          <p:nvPr/>
        </p:nvSpPr>
        <p:spPr>
          <a:xfrm>
            <a:off x="1378424" y="5766179"/>
            <a:ext cx="8366077" cy="369332"/>
          </a:xfrm>
          <a:prstGeom prst="rect">
            <a:avLst/>
          </a:prstGeom>
          <a:noFill/>
        </p:spPr>
        <p:txBody>
          <a:bodyPr wrap="square" rtlCol="0">
            <a:spAutoFit/>
          </a:bodyPr>
          <a:lstStyle/>
          <a:p>
            <a:pPr algn="ctr"/>
            <a:r>
              <a:rPr lang="en-US" dirty="0" smtClean="0"/>
              <a:t>Fig</a:t>
            </a:r>
            <a:r>
              <a:rPr lang="en-US" smtClean="0"/>
              <a:t>: Interoperability Model</a:t>
            </a:r>
            <a:endParaRPr lang="en-US"/>
          </a:p>
        </p:txBody>
      </p:sp>
      <p:sp>
        <p:nvSpPr>
          <p:cNvPr id="3" name="Content Placeholder 2"/>
          <p:cNvSpPr>
            <a:spLocks noGrp="1"/>
          </p:cNvSpPr>
          <p:nvPr>
            <p:ph idx="1"/>
          </p:nvPr>
        </p:nvSpPr>
        <p:spPr/>
        <p:txBody>
          <a:bodyPr/>
          <a:lstStyle/>
          <a:p>
            <a:pPr algn="just"/>
            <a:r>
              <a:rPr lang="en-US">
                <a:ea typeface="+mn-lt"/>
                <a:cs typeface="+mn-lt"/>
              </a:rPr>
              <a:t>Cloud governance is a framework to govern the use of cloud services</a:t>
            </a:r>
            <a:endParaRPr lang="en-US" smtClean="0"/>
          </a:p>
          <a:p>
            <a:pPr algn="just"/>
            <a:r>
              <a:rPr lang="en-US" dirty="0" smtClean="0"/>
              <a:t>Cloud </a:t>
            </a:r>
            <a:r>
              <a:rPr lang="en-US" dirty="0"/>
              <a:t>governance refers to the </a:t>
            </a:r>
            <a:r>
              <a:rPr lang="en-US" b="1" i="1" dirty="0"/>
              <a:t>set of policies, procedures, controls, and best practices implemented by organizations to ensure the effective and secure use of cloud computing services</a:t>
            </a:r>
            <a:r>
              <a:rPr lang="en-US" b="1" i="1" dirty="0" smtClean="0"/>
              <a:t>.</a:t>
            </a:r>
          </a:p>
          <a:p>
            <a:pPr algn="just"/>
            <a:r>
              <a:rPr lang="en-US" dirty="0"/>
              <a:t>As businesses increasingly rely on cloud-based infrastructure, platforms, and applications to store, process, and manage data, cloud governance becomes essential for mitigating risks, optimizing costs, and ensuring compliance with regulatory </a:t>
            </a:r>
            <a:r>
              <a:rPr lang="en-US" dirty="0" smtClean="0"/>
              <a:t>requirements</a:t>
            </a:r>
          </a:p>
          <a:p>
            <a:pPr algn="just"/>
            <a:endParaRPr lang="en-US" dirty="0"/>
          </a:p>
        </p:txBody>
      </p:sp>
    </p:spTree>
    <p:extLst>
      <p:ext uri="{BB962C8B-B14F-4D97-AF65-F5344CB8AC3E}">
        <p14:creationId xmlns:p14="http://schemas.microsoft.com/office/powerpoint/2010/main" val="30292653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governance</a:t>
            </a:r>
            <a:endParaRPr lang="en-US" dirty="0"/>
          </a:p>
        </p:txBody>
      </p:sp>
      <p:pic>
        <p:nvPicPr>
          <p:cNvPr id="4" name="Content Placeholder 3"/>
          <p:cNvPicPr>
            <a:picLocks noGrp="1" noChangeAspect="1"/>
          </p:cNvPicPr>
          <p:nvPr>
            <p:ph idx="1"/>
          </p:nvPr>
        </p:nvPicPr>
        <p:blipFill>
          <a:blip r:embed="rId2"/>
          <a:stretch>
            <a:fillRect/>
          </a:stretch>
        </p:blipFill>
        <p:spPr>
          <a:xfrm>
            <a:off x="3548418" y="1514902"/>
            <a:ext cx="4651000" cy="5497820"/>
          </a:xfrm>
          <a:prstGeom prst="rect">
            <a:avLst/>
          </a:prstGeom>
        </p:spPr>
      </p:pic>
    </p:spTree>
    <p:extLst>
      <p:ext uri="{BB962C8B-B14F-4D97-AF65-F5344CB8AC3E}">
        <p14:creationId xmlns:p14="http://schemas.microsoft.com/office/powerpoint/2010/main" val="23522970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cloud </a:t>
            </a:r>
            <a:r>
              <a:rPr lang="en-US" b="1" dirty="0" smtClean="0"/>
              <a:t>governance</a:t>
            </a:r>
            <a:endParaRPr lang="en-US" dirty="0"/>
          </a:p>
        </p:txBody>
      </p:sp>
      <p:sp>
        <p:nvSpPr>
          <p:cNvPr id="3" name="Content Placeholder 2"/>
          <p:cNvSpPr>
            <a:spLocks noGrp="1"/>
          </p:cNvSpPr>
          <p:nvPr>
            <p:ph idx="1"/>
          </p:nvPr>
        </p:nvSpPr>
        <p:spPr>
          <a:xfrm>
            <a:off x="838200" y="1398896"/>
            <a:ext cx="10515600" cy="4778067"/>
          </a:xfrm>
        </p:spPr>
        <p:txBody>
          <a:bodyPr>
            <a:normAutofit fontScale="92500" lnSpcReduction="10000"/>
          </a:bodyPr>
          <a:lstStyle/>
          <a:p>
            <a:pPr algn="just"/>
            <a:r>
              <a:rPr lang="en-US" b="1" dirty="0"/>
              <a:t>Cloud Strategy and Adoption:</a:t>
            </a:r>
            <a:r>
              <a:rPr lang="en-US" dirty="0"/>
              <a:t> Developing a clear cloud strategy aligned with the organization's business objectives and IT goals. This involves evaluating the suitability of different cloud deployment models (public, private, hybrid) and service models (IaaS, PaaS, SaaS) based on factors such as scalability, flexibility, security, and cost-effectiveness.</a:t>
            </a:r>
          </a:p>
          <a:p>
            <a:pPr algn="just"/>
            <a:r>
              <a:rPr lang="en-US" b="1" dirty="0"/>
              <a:t>Cloud Service Provider Selection: </a:t>
            </a:r>
            <a:r>
              <a:rPr lang="en-US" dirty="0"/>
              <a:t>Establishing criteria for selecting cloud service providers based on factors such as reliability, performance, security capabilities, compliance certifications, data residency requirements, and contractual terms. </a:t>
            </a:r>
          </a:p>
          <a:p>
            <a:pPr algn="just"/>
            <a:r>
              <a:rPr lang="en-US" b="1" dirty="0"/>
              <a:t>Data Governance:</a:t>
            </a:r>
            <a:r>
              <a:rPr lang="en-US" dirty="0"/>
              <a:t> Implementing data governance practices to ensure the confidentiality, integrity, and availability of data stored and processed in the cloud. This includes defining data classification policies, access controls, encryption standards, and data retention policies. </a:t>
            </a:r>
          </a:p>
        </p:txBody>
      </p:sp>
    </p:spTree>
    <p:extLst>
      <p:ext uri="{BB962C8B-B14F-4D97-AF65-F5344CB8AC3E}">
        <p14:creationId xmlns:p14="http://schemas.microsoft.com/office/powerpoint/2010/main" val="31060947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4898" y="515440"/>
            <a:ext cx="10515600" cy="4351338"/>
          </a:xfrm>
        </p:spPr>
        <p:txBody>
          <a:bodyPr/>
          <a:lstStyle/>
          <a:p>
            <a:pPr algn="just"/>
            <a:r>
              <a:rPr lang="en-US" b="1" dirty="0"/>
              <a:t>Security and Compliance:</a:t>
            </a:r>
            <a:r>
              <a:rPr lang="en-US" dirty="0"/>
              <a:t> Implementing security controls and compliance measures to protect cloud environments from cyber threats, data breaches, and regulatory violations. </a:t>
            </a:r>
          </a:p>
          <a:p>
            <a:pPr algn="just"/>
            <a:r>
              <a:rPr lang="en-US" b="1" dirty="0"/>
              <a:t>Service Level Agreements (SLAs): </a:t>
            </a:r>
            <a:r>
              <a:rPr lang="en-US" dirty="0"/>
              <a:t>Negotiating and managing SLAs with cloud service providers to ensure that agreed-upon service levels, performance metrics, uptime guarantees, and support commitments are met. SLAs should clearly define roles and responsibilities, escalation procedures, service credits, and remedies for service disruptions or failures.</a:t>
            </a:r>
          </a:p>
          <a:p>
            <a:pPr algn="just"/>
            <a:r>
              <a:rPr lang="en-US" dirty="0"/>
              <a:t> </a:t>
            </a:r>
          </a:p>
        </p:txBody>
      </p:sp>
    </p:spTree>
    <p:extLst>
      <p:ext uri="{BB962C8B-B14F-4D97-AF65-F5344CB8AC3E}">
        <p14:creationId xmlns:p14="http://schemas.microsoft.com/office/powerpoint/2010/main" val="845124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230"/>
          </a:xfrm>
        </p:spPr>
        <p:txBody>
          <a:bodyPr/>
          <a:lstStyle/>
          <a:p>
            <a:r>
              <a:rPr lang="en-US" dirty="0" smtClean="0"/>
              <a:t>Benefits	</a:t>
            </a:r>
            <a:endParaRPr lang="en-US" dirty="0"/>
          </a:p>
        </p:txBody>
      </p:sp>
      <p:sp>
        <p:nvSpPr>
          <p:cNvPr id="3" name="Content Placeholder 2"/>
          <p:cNvSpPr>
            <a:spLocks noGrp="1"/>
          </p:cNvSpPr>
          <p:nvPr>
            <p:ph idx="1"/>
          </p:nvPr>
        </p:nvSpPr>
        <p:spPr>
          <a:xfrm>
            <a:off x="838200" y="1187356"/>
            <a:ext cx="10515600" cy="4989607"/>
          </a:xfrm>
        </p:spPr>
        <p:txBody>
          <a:bodyPr>
            <a:normAutofit fontScale="92500" lnSpcReduction="10000"/>
          </a:bodyPr>
          <a:lstStyle/>
          <a:p>
            <a:pPr algn="just"/>
            <a:r>
              <a:rPr lang="en-US" b="1" dirty="0">
                <a:ea typeface="+mn-lt"/>
                <a:cs typeface="+mn-lt"/>
              </a:rPr>
              <a:t>Controlled Access</a:t>
            </a:r>
          </a:p>
          <a:p>
            <a:pPr lvl="1" algn="just"/>
            <a:r>
              <a:rPr lang="en-US" dirty="0">
                <a:ea typeface="+mn-lt"/>
                <a:cs typeface="+mn-lt"/>
              </a:rPr>
              <a:t>By designating who owns each area of asset and software management, your cloud governance plan will build necessary limits on who can access and impact your cloud ecosystem. As mentioned earlier, this is especially important considering how easy it is to implement new assets to the cloud. The last thing you want is rogue IT applications and initiatives tampering with your sensitive architecture. Controlling access to critical assets is vital and will enhance the reliability of your cloud processes. </a:t>
            </a:r>
          </a:p>
          <a:p>
            <a:pPr algn="just"/>
            <a:r>
              <a:rPr lang="en-US" b="1" dirty="0" smtClean="0">
                <a:ea typeface="+mn-lt"/>
                <a:cs typeface="+mn-lt"/>
              </a:rPr>
              <a:t>Lowered</a:t>
            </a:r>
            <a:r>
              <a:rPr lang="en-US" b="1" dirty="0">
                <a:ea typeface="+mn-lt"/>
                <a:cs typeface="+mn-lt"/>
              </a:rPr>
              <a:t> Costs</a:t>
            </a:r>
          </a:p>
          <a:p>
            <a:pPr lvl="1" algn="just"/>
            <a:r>
              <a:rPr lang="en-US" dirty="0">
                <a:ea typeface="+mn-lt"/>
                <a:cs typeface="+mn-lt"/>
              </a:rPr>
              <a:t>Cloud governance shifts workflows from </a:t>
            </a:r>
            <a:r>
              <a:rPr lang="en-US" dirty="0" smtClean="0">
                <a:ea typeface="+mn-lt"/>
                <a:cs typeface="+mn-lt"/>
              </a:rPr>
              <a:t>manual </a:t>
            </a:r>
            <a:r>
              <a:rPr lang="en-US" dirty="0">
                <a:ea typeface="+mn-lt"/>
                <a:cs typeface="+mn-lt"/>
              </a:rPr>
              <a:t>to automated. Instead of relying on time-consuming manual processes (like crafting complicated spreadsheets to track various accounts and system activity), cloud governance programs allow you to build in guardrails that automate the management of everything from budgets to policies. These guardrails can also trigger automated responses to cloud activity, which reduces the manpower needed to enforce your cloud governance. And reduced manpower means reduced costs</a:t>
            </a:r>
            <a:endParaRPr lang="en-US" dirty="0"/>
          </a:p>
        </p:txBody>
      </p:sp>
    </p:spTree>
    <p:extLst>
      <p:ext uri="{BB962C8B-B14F-4D97-AF65-F5344CB8AC3E}">
        <p14:creationId xmlns:p14="http://schemas.microsoft.com/office/powerpoint/2010/main" val="34332726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2985"/>
            <a:ext cx="10515600" cy="5317154"/>
          </a:xfrm>
        </p:spPr>
        <p:txBody>
          <a:bodyPr>
            <a:normAutofit fontScale="92500" lnSpcReduction="20000"/>
          </a:bodyPr>
          <a:lstStyle/>
          <a:p>
            <a:pPr algn="just"/>
            <a:r>
              <a:rPr lang="en-US" b="1" dirty="0">
                <a:ea typeface="+mn-lt"/>
                <a:cs typeface="+mn-lt"/>
              </a:rPr>
              <a:t>Reduced Security Risks</a:t>
            </a:r>
          </a:p>
          <a:p>
            <a:pPr lvl="1" algn="just"/>
            <a:r>
              <a:rPr lang="en-US" dirty="0">
                <a:ea typeface="+mn-lt"/>
                <a:cs typeface="+mn-lt"/>
              </a:rPr>
              <a:t>Once an organization has committed to moving their data to the cloud, it’s imperative that they develop the security measures to protect that data. While housing data on the cloud is certainly more convenient than hosting that data </a:t>
            </a:r>
            <a:r>
              <a:rPr lang="en-US" dirty="0" err="1">
                <a:ea typeface="+mn-lt"/>
                <a:cs typeface="+mn-lt"/>
              </a:rPr>
              <a:t>on-premise</a:t>
            </a:r>
            <a:r>
              <a:rPr lang="en-US" dirty="0">
                <a:ea typeface="+mn-lt"/>
                <a:cs typeface="+mn-lt"/>
              </a:rPr>
              <a:t>, it also brings increased risk for data breaches and unauthorized attempts to access data. Your cloud governance plan will help you identify vulnerabilities in your system, enact plans to mitigate risk, and establish metrics to gauge the impact of security measures.  </a:t>
            </a:r>
          </a:p>
          <a:p>
            <a:pPr algn="just"/>
            <a:r>
              <a:rPr lang="en-US" b="1" dirty="0">
                <a:ea typeface="+mn-lt"/>
                <a:cs typeface="+mn-lt"/>
              </a:rPr>
              <a:t>Enhanced Compliance Readiness</a:t>
            </a:r>
          </a:p>
          <a:p>
            <a:pPr lvl="1" algn="just"/>
            <a:r>
              <a:rPr lang="en-US" dirty="0">
                <a:ea typeface="+mn-lt"/>
                <a:cs typeface="+mn-lt"/>
              </a:rPr>
              <a:t>No matter your specific industry, it’s likely that you need to pass regular audits and compliance assessments. Whether you’re working with HIPAA, PCI, or SOC 2 requirements, your cloud governance program will streamline your compliance preparation and make it easier to demonstrate that compliance. </a:t>
            </a:r>
            <a:endParaRPr lang="en-US" dirty="0" smtClean="0">
              <a:ea typeface="+mn-lt"/>
              <a:cs typeface="+mn-lt"/>
            </a:endParaRPr>
          </a:p>
          <a:p>
            <a:pPr marL="0" indent="0" algn="just">
              <a:buNone/>
            </a:pPr>
            <a:r>
              <a:rPr lang="en-US" dirty="0" smtClean="0">
                <a:ea typeface="+mn-lt"/>
                <a:cs typeface="+mn-lt"/>
              </a:rPr>
              <a:t>The </a:t>
            </a:r>
            <a:r>
              <a:rPr lang="en-US" dirty="0">
                <a:ea typeface="+mn-lt"/>
                <a:cs typeface="+mn-lt"/>
              </a:rPr>
              <a:t>benefits are two-fold. First, developing a cloud governance program with your particular compliance requirements in mind allows you to build compliance review and standards into your processes and architecture. Second, when it comes time to document your compliance, you’ll have a thorough archive of your system’s history, its current status, and your plans to enhance compliance. </a:t>
            </a:r>
          </a:p>
        </p:txBody>
      </p:sp>
    </p:spTree>
    <p:extLst>
      <p:ext uri="{BB962C8B-B14F-4D97-AF65-F5344CB8AC3E}">
        <p14:creationId xmlns:p14="http://schemas.microsoft.com/office/powerpoint/2010/main" val="23542409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7358"/>
            <a:ext cx="10515600" cy="1593329"/>
          </a:xfrm>
        </p:spPr>
        <p:txBody>
          <a:bodyPr/>
          <a:lstStyle/>
          <a:p>
            <a:r>
              <a:rPr lang="en-US" dirty="0" smtClean="0"/>
              <a:t>Establishing cloud governance</a:t>
            </a:r>
            <a:br>
              <a:rPr lang="en-US" dirty="0" smtClean="0"/>
            </a:br>
            <a:r>
              <a:rPr lang="en-US" sz="2400" dirty="0" smtClean="0"/>
              <a:t>Three phases in establishing cloud governance are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12311998"/>
              </p:ext>
            </p:extLst>
          </p:nvPr>
        </p:nvGraphicFramePr>
        <p:xfrm>
          <a:off x="838200" y="2019869"/>
          <a:ext cx="10515600" cy="3169009"/>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115592553"/>
                    </a:ext>
                  </a:extLst>
                </a:gridCol>
                <a:gridCol w="3505200">
                  <a:extLst>
                    <a:ext uri="{9D8B030D-6E8A-4147-A177-3AD203B41FA5}">
                      <a16:colId xmlns:a16="http://schemas.microsoft.com/office/drawing/2014/main" val="1671982043"/>
                    </a:ext>
                  </a:extLst>
                </a:gridCol>
                <a:gridCol w="3505200">
                  <a:extLst>
                    <a:ext uri="{9D8B030D-6E8A-4147-A177-3AD203B41FA5}">
                      <a16:colId xmlns:a16="http://schemas.microsoft.com/office/drawing/2014/main" val="2923374950"/>
                    </a:ext>
                  </a:extLst>
                </a:gridCol>
              </a:tblGrid>
              <a:tr h="487540">
                <a:tc>
                  <a:txBody>
                    <a:bodyPr/>
                    <a:lstStyle/>
                    <a:p>
                      <a:r>
                        <a:rPr lang="en-US" dirty="0" smtClean="0"/>
                        <a:t>Plan</a:t>
                      </a:r>
                      <a:endParaRPr lang="en-US" dirty="0"/>
                    </a:p>
                  </a:txBody>
                  <a:tcPr/>
                </a:tc>
                <a:tc>
                  <a:txBody>
                    <a:bodyPr/>
                    <a:lstStyle/>
                    <a:p>
                      <a:r>
                        <a:rPr lang="en-US" dirty="0" smtClean="0"/>
                        <a:t>Build</a:t>
                      </a:r>
                      <a:endParaRPr lang="en-US" dirty="0"/>
                    </a:p>
                  </a:txBody>
                  <a:tcPr/>
                </a:tc>
                <a:tc>
                  <a:txBody>
                    <a:bodyPr/>
                    <a:lstStyle/>
                    <a:p>
                      <a:r>
                        <a:rPr lang="en-US" dirty="0" smtClean="0"/>
                        <a:t>Operate and manage</a:t>
                      </a:r>
                      <a:endParaRPr lang="en-US" dirty="0"/>
                    </a:p>
                  </a:txBody>
                  <a:tcPr/>
                </a:tc>
                <a:extLst>
                  <a:ext uri="{0D108BD9-81ED-4DB2-BD59-A6C34878D82A}">
                    <a16:rowId xmlns:a16="http://schemas.microsoft.com/office/drawing/2014/main" val="1491152248"/>
                  </a:ext>
                </a:extLst>
              </a:tr>
              <a:tr h="2681469">
                <a:tc>
                  <a:txBody>
                    <a:bodyPr/>
                    <a:lstStyle/>
                    <a:p>
                      <a:pPr marL="285750" indent="-285750">
                        <a:buFont typeface="Arial" panose="020B0604020202020204" pitchFamily="34" charset="0"/>
                        <a:buChar char="•"/>
                      </a:pPr>
                      <a:r>
                        <a:rPr lang="en-US" dirty="0" smtClean="0"/>
                        <a:t>Define vision and scope</a:t>
                      </a:r>
                    </a:p>
                    <a:p>
                      <a:pPr marL="285750" indent="-285750">
                        <a:buFont typeface="Arial" panose="020B0604020202020204" pitchFamily="34" charset="0"/>
                        <a:buChar char="•"/>
                      </a:pPr>
                      <a:r>
                        <a:rPr lang="en-US" dirty="0" smtClean="0"/>
                        <a:t>Define service catalog</a:t>
                      </a:r>
                    </a:p>
                    <a:p>
                      <a:pPr marL="285750" indent="-285750">
                        <a:buFont typeface="Arial" panose="020B0604020202020204" pitchFamily="34" charset="0"/>
                        <a:buChar char="•"/>
                      </a:pPr>
                      <a:r>
                        <a:rPr lang="en-US" dirty="0" smtClean="0"/>
                        <a:t>Define government</a:t>
                      </a:r>
                      <a:r>
                        <a:rPr lang="en-US" baseline="0" dirty="0" smtClean="0"/>
                        <a:t> framework and tool</a:t>
                      </a:r>
                    </a:p>
                    <a:p>
                      <a:pPr marL="285750" indent="-285750">
                        <a:buFont typeface="Arial" panose="020B0604020202020204" pitchFamily="34" charset="0"/>
                        <a:buChar char="•"/>
                      </a:pPr>
                      <a:r>
                        <a:rPr lang="en-US" baseline="0" dirty="0" smtClean="0"/>
                        <a:t>Define KPIs to measure the effectiveness of the cloud governance</a:t>
                      </a:r>
                      <a:endParaRPr lang="en-US" dirty="0"/>
                    </a:p>
                  </a:txBody>
                  <a:tcPr/>
                </a:tc>
                <a:tc>
                  <a:txBody>
                    <a:bodyPr/>
                    <a:lstStyle/>
                    <a:p>
                      <a:pPr marL="285750" indent="-285750">
                        <a:buFont typeface="Arial" panose="020B0604020202020204" pitchFamily="34" charset="0"/>
                        <a:buChar char="•"/>
                      </a:pPr>
                      <a:r>
                        <a:rPr lang="en-US" dirty="0" smtClean="0"/>
                        <a:t>Define reference architecture</a:t>
                      </a:r>
                    </a:p>
                    <a:p>
                      <a:pPr marL="285750" indent="-285750">
                        <a:buFont typeface="Arial" panose="020B0604020202020204" pitchFamily="34" charset="0"/>
                        <a:buChar char="•"/>
                      </a:pPr>
                      <a:r>
                        <a:rPr lang="en-US" dirty="0" smtClean="0"/>
                        <a:t>Setup/configure tool</a:t>
                      </a:r>
                    </a:p>
                    <a:p>
                      <a:pPr marL="285750" indent="-285750">
                        <a:buFont typeface="Arial" panose="020B0604020202020204" pitchFamily="34" charset="0"/>
                        <a:buChar char="•"/>
                      </a:pPr>
                      <a:r>
                        <a:rPr lang="en-US" dirty="0" smtClean="0"/>
                        <a:t>Build governance organization</a:t>
                      </a:r>
                    </a:p>
                    <a:p>
                      <a:pPr marL="285750" indent="-285750">
                        <a:buFont typeface="Arial" panose="020B0604020202020204" pitchFamily="34" charset="0"/>
                        <a:buChar char="•"/>
                      </a:pPr>
                      <a:r>
                        <a:rPr lang="en-US" dirty="0" smtClean="0"/>
                        <a:t>Define standards, templates</a:t>
                      </a:r>
                      <a:r>
                        <a:rPr lang="en-US" baseline="0" dirty="0" smtClean="0"/>
                        <a:t>, polices and procedures</a:t>
                      </a:r>
                      <a:endParaRPr lang="en-US" dirty="0"/>
                    </a:p>
                  </a:txBody>
                  <a:tcPr/>
                </a:tc>
                <a:tc>
                  <a:txBody>
                    <a:bodyPr/>
                    <a:lstStyle/>
                    <a:p>
                      <a:pPr marL="285750" indent="-285750">
                        <a:buFont typeface="Arial" panose="020B0604020202020204" pitchFamily="34" charset="0"/>
                        <a:buChar char="•"/>
                      </a:pPr>
                      <a:r>
                        <a:rPr lang="en-US" dirty="0" smtClean="0"/>
                        <a:t>Monitors</a:t>
                      </a:r>
                    </a:p>
                    <a:p>
                      <a:pPr marL="285750" indent="-285750">
                        <a:buFont typeface="Arial" panose="020B0604020202020204" pitchFamily="34" charset="0"/>
                        <a:buChar char="•"/>
                      </a:pPr>
                      <a:r>
                        <a:rPr lang="en-US" dirty="0" smtClean="0"/>
                        <a:t>Measure KPI</a:t>
                      </a:r>
                    </a:p>
                    <a:p>
                      <a:pPr marL="285750" indent="-285750">
                        <a:buFont typeface="Arial" panose="020B0604020202020204" pitchFamily="34" charset="0"/>
                        <a:buChar char="•"/>
                      </a:pPr>
                      <a:r>
                        <a:rPr lang="en-US" dirty="0" smtClean="0"/>
                        <a:t>Optimize</a:t>
                      </a:r>
                      <a:endParaRPr lang="en-US" dirty="0"/>
                    </a:p>
                  </a:txBody>
                  <a:tcPr/>
                </a:tc>
                <a:extLst>
                  <a:ext uri="{0D108BD9-81ED-4DB2-BD59-A6C34878D82A}">
                    <a16:rowId xmlns:a16="http://schemas.microsoft.com/office/drawing/2014/main" val="1572518702"/>
                  </a:ext>
                </a:extLst>
              </a:tr>
            </a:tbl>
          </a:graphicData>
        </a:graphic>
      </p:graphicFrame>
    </p:spTree>
    <p:extLst>
      <p:ext uri="{BB962C8B-B14F-4D97-AF65-F5344CB8AC3E}">
        <p14:creationId xmlns:p14="http://schemas.microsoft.com/office/powerpoint/2010/main" val="37341557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ea typeface="+mj-lt"/>
                <a:cs typeface="+mj-lt"/>
              </a:rPr>
              <a:t>Risk of Poor Cloud Governance</a:t>
            </a:r>
            <a:endParaRPr lang="en-US" dirty="0">
              <a:solidFill>
                <a:srgbClr val="0070C0"/>
              </a:solidFill>
            </a:endParaRPr>
          </a:p>
        </p:txBody>
      </p:sp>
      <p:sp>
        <p:nvSpPr>
          <p:cNvPr id="3" name="Content Placeholder 2"/>
          <p:cNvSpPr>
            <a:spLocks noGrp="1"/>
          </p:cNvSpPr>
          <p:nvPr>
            <p:ph idx="1"/>
          </p:nvPr>
        </p:nvSpPr>
        <p:spPr/>
        <p:txBody>
          <a:bodyPr>
            <a:normAutofit fontScale="92500"/>
          </a:bodyPr>
          <a:lstStyle/>
          <a:p>
            <a:pPr algn="just"/>
            <a:r>
              <a:rPr lang="en-US" dirty="0">
                <a:ea typeface="+mn-lt"/>
                <a:cs typeface="+mn-lt"/>
              </a:rPr>
              <a:t>Cloud Security Risks </a:t>
            </a:r>
          </a:p>
          <a:p>
            <a:pPr algn="just"/>
            <a:r>
              <a:rPr lang="en-US" dirty="0">
                <a:ea typeface="+mn-lt"/>
                <a:cs typeface="+mn-lt"/>
              </a:rPr>
              <a:t>Cloud Proliferation and Sprawl </a:t>
            </a:r>
          </a:p>
          <a:p>
            <a:pPr algn="just"/>
            <a:r>
              <a:rPr lang="en-US" dirty="0">
                <a:ea typeface="+mn-lt"/>
                <a:cs typeface="+mn-lt"/>
              </a:rPr>
              <a:t>Cloud Integration (post proliferation) </a:t>
            </a:r>
          </a:p>
          <a:p>
            <a:pPr algn="just"/>
            <a:r>
              <a:rPr lang="en-US" dirty="0">
                <a:ea typeface="+mn-lt"/>
                <a:cs typeface="+mn-lt"/>
              </a:rPr>
              <a:t>Cloud Portability &amp; Interoperability </a:t>
            </a:r>
          </a:p>
          <a:p>
            <a:pPr algn="just"/>
            <a:r>
              <a:rPr lang="en-US" dirty="0">
                <a:ea typeface="+mn-lt"/>
                <a:cs typeface="+mn-lt"/>
              </a:rPr>
              <a:t>Cloud Vendor Lock-In</a:t>
            </a:r>
          </a:p>
          <a:p>
            <a:pPr algn="just"/>
            <a:r>
              <a:rPr lang="en-US" dirty="0">
                <a:ea typeface="+mn-lt"/>
                <a:cs typeface="+mn-lt"/>
              </a:rPr>
              <a:t>Cloud Applications Governance – designing and migrating applications to appropriate Cloud pattern(s) </a:t>
            </a:r>
          </a:p>
          <a:p>
            <a:pPr algn="just"/>
            <a:r>
              <a:rPr lang="en-US" dirty="0">
                <a:ea typeface="+mn-lt"/>
                <a:cs typeface="+mn-lt"/>
              </a:rPr>
              <a:t>Lack of Incentives for Consumers to Onboard/Consume Cloud resources </a:t>
            </a:r>
          </a:p>
          <a:p>
            <a:pPr algn="just"/>
            <a:r>
              <a:rPr lang="en-US" dirty="0">
                <a:ea typeface="+mn-lt"/>
                <a:cs typeface="+mn-lt"/>
              </a:rPr>
              <a:t>Shadow IT and Hidden Clouds</a:t>
            </a:r>
          </a:p>
          <a:p>
            <a:pPr marL="0" indent="0">
              <a:buNone/>
            </a:pPr>
            <a:endParaRPr lang="en-US" dirty="0"/>
          </a:p>
        </p:txBody>
      </p:sp>
    </p:spTree>
    <p:extLst>
      <p:ext uri="{BB962C8B-B14F-4D97-AF65-F5344CB8AC3E}">
        <p14:creationId xmlns:p14="http://schemas.microsoft.com/office/powerpoint/2010/main" val="42401253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576"/>
          </a:xfrm>
        </p:spPr>
        <p:txBody>
          <a:bodyPr>
            <a:normAutofit fontScale="90000"/>
          </a:bodyPr>
          <a:lstStyle/>
          <a:p>
            <a:r>
              <a:rPr lang="en-US" dirty="0" smtClean="0">
                <a:solidFill>
                  <a:srgbClr val="0070C0"/>
                </a:solidFill>
              </a:rPr>
              <a:t>E-readiness</a:t>
            </a:r>
            <a:endParaRPr lang="en-US" dirty="0">
              <a:solidFill>
                <a:srgbClr val="0070C0"/>
              </a:solidFill>
            </a:endParaRPr>
          </a:p>
        </p:txBody>
      </p:sp>
      <p:sp>
        <p:nvSpPr>
          <p:cNvPr id="3" name="Content Placeholder 2"/>
          <p:cNvSpPr>
            <a:spLocks noGrp="1"/>
          </p:cNvSpPr>
          <p:nvPr>
            <p:ph idx="1"/>
          </p:nvPr>
        </p:nvSpPr>
        <p:spPr>
          <a:xfrm>
            <a:off x="190500" y="1057702"/>
            <a:ext cx="11893550" cy="5317697"/>
          </a:xfrm>
        </p:spPr>
        <p:txBody>
          <a:bodyPr>
            <a:noAutofit/>
          </a:bodyPr>
          <a:lstStyle/>
          <a:p>
            <a:pPr algn="just"/>
            <a:r>
              <a:rPr lang="en-US" sz="2300" dirty="0" smtClean="0"/>
              <a:t>"</a:t>
            </a:r>
            <a:r>
              <a:rPr lang="en-US" sz="2300" dirty="0"/>
              <a:t>E-readiness" refers to the level of preparedness or readiness of individuals, organizations, communities, or even entire nations to effectively use information and communication technologies (ICTs) for various purposes, such as communication, education, business, and governance</a:t>
            </a:r>
            <a:r>
              <a:rPr lang="en-US" sz="2300" dirty="0" smtClean="0"/>
              <a:t>.</a:t>
            </a:r>
          </a:p>
          <a:p>
            <a:pPr algn="just"/>
            <a:r>
              <a:rPr lang="en-US" sz="2300" dirty="0">
                <a:ea typeface="+mn-lt"/>
                <a:cs typeface="+mn-lt"/>
              </a:rPr>
              <a:t>E-readiness (electronic readiness) is defined as a degree to which to a country or economy may be ready, willing or prepared to obtain benefits which arise from information and communication technologies. This measure is often used to gauge how ready a country is to participate in electronic activities such as e-governance. </a:t>
            </a:r>
            <a:endParaRPr lang="en-US" sz="2300" dirty="0"/>
          </a:p>
          <a:p>
            <a:pPr algn="just"/>
            <a:r>
              <a:rPr lang="en-US" sz="2300" dirty="0">
                <a:ea typeface="+mn-lt"/>
                <a:cs typeface="+mn-lt"/>
              </a:rPr>
              <a:t>E-readiness also defined as “The degree to which a community is prepared to participate in the Networked World, which is gauged by accessing a community’s relative advancement in the area that are most critical for ICT adoption and the most important of ICTs” </a:t>
            </a:r>
            <a:endParaRPr lang="en-US" sz="2300" dirty="0" smtClean="0">
              <a:ea typeface="+mn-lt"/>
              <a:cs typeface="+mn-lt"/>
            </a:endParaRPr>
          </a:p>
          <a:p>
            <a:pPr algn="just"/>
            <a:r>
              <a:rPr lang="en-US" sz="2300" dirty="0">
                <a:ea typeface="+mn-lt"/>
                <a:cs typeface="+mn-lt"/>
              </a:rPr>
              <a:t>Is not simply a matter of the number of computer servers, websites and mobile phones in the country, but also things such as its citizen's ability to utilize technology skillfully, the transparency of its business and legal systems, and the extent to which governments encourage the use of digital technologies. </a:t>
            </a:r>
            <a:endParaRPr lang="en-US" sz="2300" dirty="0" smtClean="0">
              <a:ea typeface="+mn-lt"/>
              <a:cs typeface="+mn-lt"/>
            </a:endParaRPr>
          </a:p>
          <a:p>
            <a:pPr marL="0" indent="0" algn="just">
              <a:buNone/>
            </a:pPr>
            <a:endParaRPr lang="en-US" sz="2300" dirty="0">
              <a:ea typeface="+mn-lt"/>
              <a:cs typeface="+mn-lt"/>
            </a:endParaRPr>
          </a:p>
          <a:p>
            <a:pPr algn="just"/>
            <a:endParaRPr lang="en-US" sz="2300" dirty="0"/>
          </a:p>
          <a:p>
            <a:endParaRPr lang="en-US" sz="2300" dirty="0"/>
          </a:p>
          <a:p>
            <a:pPr algn="just"/>
            <a:endParaRPr lang="en-US" sz="2300" dirty="0"/>
          </a:p>
        </p:txBody>
      </p:sp>
    </p:spTree>
    <p:extLst>
      <p:ext uri="{BB962C8B-B14F-4D97-AF65-F5344CB8AC3E}">
        <p14:creationId xmlns:p14="http://schemas.microsoft.com/office/powerpoint/2010/main" val="23478006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4117"/>
          </a:xfrm>
        </p:spPr>
        <p:txBody>
          <a:bodyPr/>
          <a:lstStyle/>
          <a:p>
            <a:r>
              <a:rPr lang="en-US" b="1" dirty="0">
                <a:solidFill>
                  <a:srgbClr val="0070C0"/>
                </a:solidFill>
              </a:rPr>
              <a:t>Requirements for </a:t>
            </a:r>
            <a:r>
              <a:rPr lang="en-US" b="1" dirty="0" smtClean="0">
                <a:solidFill>
                  <a:srgbClr val="0070C0"/>
                </a:solidFill>
              </a:rPr>
              <a:t>E-readiness</a:t>
            </a:r>
            <a:endParaRPr lang="en-US" dirty="0">
              <a:solidFill>
                <a:srgbClr val="0070C0"/>
              </a:solidFill>
            </a:endParaRPr>
          </a:p>
        </p:txBody>
      </p:sp>
      <p:sp>
        <p:nvSpPr>
          <p:cNvPr id="3" name="Content Placeholder 2"/>
          <p:cNvSpPr>
            <a:spLocks noGrp="1"/>
          </p:cNvSpPr>
          <p:nvPr>
            <p:ph idx="1"/>
          </p:nvPr>
        </p:nvSpPr>
        <p:spPr>
          <a:xfrm>
            <a:off x="838200" y="1269242"/>
            <a:ext cx="10515600" cy="4907721"/>
          </a:xfrm>
        </p:spPr>
        <p:txBody>
          <a:bodyPr>
            <a:normAutofit fontScale="85000" lnSpcReduction="10000"/>
          </a:bodyPr>
          <a:lstStyle/>
          <a:p>
            <a:pPr algn="just"/>
            <a:r>
              <a:rPr lang="en-US" b="1" dirty="0"/>
              <a:t>Access to Infrastructure: </a:t>
            </a:r>
            <a:r>
              <a:rPr lang="en-US" dirty="0"/>
              <a:t>This includes access to reliable and affordable internet connectivity, as well as access to devices such as computers, smartphones, and tablets. E-readiness depends on the availability of broadband internet infrastructure, mobile networks, and access points in both urban and rural areas.</a:t>
            </a:r>
          </a:p>
          <a:p>
            <a:pPr algn="just"/>
            <a:r>
              <a:rPr lang="en-US" b="1" dirty="0"/>
              <a:t>Digital Literacy and Skills: </a:t>
            </a:r>
            <a:r>
              <a:rPr lang="en-US" dirty="0"/>
              <a:t>E-readiness requires individuals to have the necessary digital literacy skills to navigate online platforms, use digital tools and applications, critically evaluate online information, and protect themselves from online threats such as cybercrime and misinformation. Digital literacy programs and educational initiatives play a crucial role in enhancing e-readiness at the individual level.</a:t>
            </a:r>
          </a:p>
          <a:p>
            <a:pPr algn="just"/>
            <a:r>
              <a:rPr lang="en-US" b="1" dirty="0"/>
              <a:t>Government Policies and Regulations:</a:t>
            </a:r>
            <a:r>
              <a:rPr lang="en-US" dirty="0"/>
              <a:t> E-readiness is influenced by government policies and regulations related to ICTs, including policies on internet access, digital rights, data privacy, cybersecurity, and e-commerce. Enabling policies that promote competition, innovation, investment in ICT infrastructure, and digital inclusion can enhance e-readiness at the national level.</a:t>
            </a:r>
          </a:p>
        </p:txBody>
      </p:sp>
    </p:spTree>
    <p:extLst>
      <p:ext uri="{BB962C8B-B14F-4D97-AF65-F5344CB8AC3E}">
        <p14:creationId xmlns:p14="http://schemas.microsoft.com/office/powerpoint/2010/main" val="9504774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Requirements for </a:t>
            </a:r>
            <a:r>
              <a:rPr lang="en-US" b="1" dirty="0" smtClean="0">
                <a:solidFill>
                  <a:srgbClr val="0070C0"/>
                </a:solidFill>
              </a:rPr>
              <a:t>E-readiness…</a:t>
            </a:r>
            <a:endParaRPr lang="en-US" dirty="0"/>
          </a:p>
        </p:txBody>
      </p:sp>
      <p:sp>
        <p:nvSpPr>
          <p:cNvPr id="3" name="Content Placeholder 2"/>
          <p:cNvSpPr>
            <a:spLocks noGrp="1"/>
          </p:cNvSpPr>
          <p:nvPr>
            <p:ph idx="1"/>
          </p:nvPr>
        </p:nvSpPr>
        <p:spPr/>
        <p:txBody>
          <a:bodyPr>
            <a:normAutofit lnSpcReduction="10000"/>
          </a:bodyPr>
          <a:lstStyle/>
          <a:p>
            <a:pPr algn="just"/>
            <a:r>
              <a:rPr lang="en-US" b="1" dirty="0"/>
              <a:t>Economic and Social Factors:</a:t>
            </a:r>
            <a:r>
              <a:rPr lang="en-US" dirty="0"/>
              <a:t> Economic factors, such as income levels, affordability of ICT devices and services, and the availability of digital payment systems, can influence e-readiness by determining access to ICT resources. Social factors, such as cultural attitudes towards technology, social norms, and demographic characteristics, also play a role in shaping e-readiness levels within communities.</a:t>
            </a:r>
          </a:p>
          <a:p>
            <a:pPr algn="just"/>
            <a:r>
              <a:rPr lang="en-US" b="1" dirty="0"/>
              <a:t>Collaboration and Partnerships:</a:t>
            </a:r>
            <a:r>
              <a:rPr lang="en-US" dirty="0"/>
              <a:t> Collaboration among stakeholders, including governments, private sector organizations, civil society groups, and international organizations, is essential for improving e-readiness. Public-private partnerships, multi-stakeholder initiatives, and international cooperation can help address gaps in ICT infrastructure, digital skills, and policy frameworks.</a:t>
            </a:r>
          </a:p>
        </p:txBody>
      </p:sp>
    </p:spTree>
    <p:extLst>
      <p:ext uri="{BB962C8B-B14F-4D97-AF65-F5344CB8AC3E}">
        <p14:creationId xmlns:p14="http://schemas.microsoft.com/office/powerpoint/2010/main" val="156499869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solidFill>
                  <a:srgbClr val="0070C0"/>
                </a:solidFill>
              </a:rPr>
              <a:t>E-</a:t>
            </a:r>
            <a:r>
              <a:rPr lang="ru-RU" dirty="0" err="1">
                <a:solidFill>
                  <a:srgbClr val="0070C0"/>
                </a:solidFill>
              </a:rPr>
              <a:t>Readiness</a:t>
            </a:r>
            <a:r>
              <a:rPr lang="ru-RU" dirty="0">
                <a:solidFill>
                  <a:srgbClr val="0070C0"/>
                </a:solidFill>
              </a:rPr>
              <a:t>: </a:t>
            </a:r>
            <a:r>
              <a:rPr lang="ru-RU" dirty="0" err="1">
                <a:solidFill>
                  <a:srgbClr val="0070C0"/>
                </a:solidFill>
              </a:rPr>
              <a:t>Infrastructural</a:t>
            </a:r>
            <a:r>
              <a:rPr lang="ru-RU" dirty="0">
                <a:solidFill>
                  <a:srgbClr val="0070C0"/>
                </a:solidFill>
              </a:rPr>
              <a:t> </a:t>
            </a:r>
            <a:r>
              <a:rPr lang="ru-RU" dirty="0" err="1">
                <a:solidFill>
                  <a:srgbClr val="0070C0"/>
                </a:solidFill>
              </a:rPr>
              <a:t>Prerequisites</a:t>
            </a:r>
            <a:endParaRPr lang="en-US" dirty="0"/>
          </a:p>
        </p:txBody>
      </p:sp>
      <p:sp>
        <p:nvSpPr>
          <p:cNvPr id="3" name="Content Placeholder 2"/>
          <p:cNvSpPr>
            <a:spLocks noGrp="1"/>
          </p:cNvSpPr>
          <p:nvPr>
            <p:ph idx="1"/>
          </p:nvPr>
        </p:nvSpPr>
        <p:spPr/>
        <p:txBody>
          <a:bodyPr>
            <a:normAutofit lnSpcReduction="10000"/>
          </a:bodyPr>
          <a:lstStyle/>
          <a:p>
            <a:pPr algn="just"/>
            <a:r>
              <a:rPr lang="en-US" dirty="0">
                <a:solidFill>
                  <a:srgbClr val="FF0000"/>
                </a:solidFill>
              </a:rPr>
              <a:t>E-readiness means infrastructural pre-requisites for taking up e-governance initiative.</a:t>
            </a:r>
          </a:p>
          <a:p>
            <a:r>
              <a:rPr lang="en-US" dirty="0"/>
              <a:t>The infrastructural prerequisite or preconditions may be identified as:</a:t>
            </a:r>
          </a:p>
          <a:p>
            <a:pPr>
              <a:buNone/>
            </a:pPr>
            <a:r>
              <a:rPr lang="en-US" dirty="0"/>
              <a:t>	</a:t>
            </a:r>
            <a:r>
              <a:rPr lang="ru-RU" dirty="0"/>
              <a:t>1.   </a:t>
            </a:r>
            <a:r>
              <a:rPr lang="ru-RU" dirty="0" err="1"/>
              <a:t>Data</a:t>
            </a:r>
            <a:r>
              <a:rPr lang="ru-RU" dirty="0"/>
              <a:t> </a:t>
            </a:r>
            <a:r>
              <a:rPr lang="ru-RU" dirty="0" err="1"/>
              <a:t>Systems</a:t>
            </a:r>
            <a:r>
              <a:rPr lang="ru-RU" dirty="0"/>
              <a:t> </a:t>
            </a:r>
            <a:r>
              <a:rPr lang="ru-RU" dirty="0" err="1"/>
              <a:t>Infrastructure</a:t>
            </a:r>
            <a:endParaRPr lang="en-US" dirty="0"/>
          </a:p>
          <a:p>
            <a:pPr>
              <a:buNone/>
            </a:pPr>
            <a:r>
              <a:rPr lang="en-US" dirty="0"/>
              <a:t>	</a:t>
            </a:r>
            <a:r>
              <a:rPr lang="ru-RU" dirty="0"/>
              <a:t>2.   </a:t>
            </a:r>
            <a:r>
              <a:rPr lang="ru-RU" dirty="0" err="1"/>
              <a:t>Legal</a:t>
            </a:r>
            <a:r>
              <a:rPr lang="ru-RU" dirty="0"/>
              <a:t> </a:t>
            </a:r>
            <a:r>
              <a:rPr lang="ru-RU" dirty="0" err="1"/>
              <a:t>Infrastructure</a:t>
            </a:r>
            <a:endParaRPr lang="en-US" dirty="0"/>
          </a:p>
          <a:p>
            <a:pPr>
              <a:buNone/>
            </a:pPr>
            <a:r>
              <a:rPr lang="en-US" dirty="0"/>
              <a:t>	</a:t>
            </a:r>
            <a:r>
              <a:rPr lang="ru-RU" dirty="0"/>
              <a:t>3.   </a:t>
            </a:r>
            <a:r>
              <a:rPr lang="ru-RU" dirty="0" err="1"/>
              <a:t>Human</a:t>
            </a:r>
            <a:r>
              <a:rPr lang="ru-RU" dirty="0"/>
              <a:t> </a:t>
            </a:r>
            <a:r>
              <a:rPr lang="ru-RU" dirty="0" err="1"/>
              <a:t>Infrastructure</a:t>
            </a:r>
            <a:r>
              <a:rPr lang="ru-RU" dirty="0"/>
              <a:t> </a:t>
            </a:r>
            <a:endParaRPr lang="en-US" dirty="0"/>
          </a:p>
          <a:p>
            <a:pPr>
              <a:buNone/>
            </a:pPr>
            <a:r>
              <a:rPr lang="en-US" dirty="0"/>
              <a:t>	</a:t>
            </a:r>
            <a:r>
              <a:rPr lang="ru-RU" dirty="0"/>
              <a:t>4.   </a:t>
            </a:r>
            <a:r>
              <a:rPr lang="ru-RU" dirty="0" err="1"/>
              <a:t>Institutional</a:t>
            </a:r>
            <a:r>
              <a:rPr lang="ru-RU" dirty="0"/>
              <a:t> </a:t>
            </a:r>
            <a:r>
              <a:rPr lang="ru-RU" dirty="0" err="1"/>
              <a:t>Infrastructure</a:t>
            </a:r>
            <a:endParaRPr lang="en-US" dirty="0"/>
          </a:p>
          <a:p>
            <a:pPr>
              <a:buNone/>
            </a:pPr>
            <a:r>
              <a:rPr lang="en-US" dirty="0"/>
              <a:t>	</a:t>
            </a:r>
            <a:r>
              <a:rPr lang="ru-RU" dirty="0"/>
              <a:t>5.   </a:t>
            </a:r>
            <a:r>
              <a:rPr lang="ru-RU" dirty="0" err="1"/>
              <a:t>Technological</a:t>
            </a:r>
            <a:r>
              <a:rPr lang="ru-RU" dirty="0"/>
              <a:t> </a:t>
            </a:r>
            <a:r>
              <a:rPr lang="ru-RU" dirty="0" err="1"/>
              <a:t>Infrastructure</a:t>
            </a:r>
            <a:endParaRPr lang="en-US" dirty="0"/>
          </a:p>
          <a:p>
            <a:pPr>
              <a:buNone/>
            </a:pPr>
            <a:r>
              <a:rPr lang="en-US" dirty="0"/>
              <a:t>	</a:t>
            </a:r>
            <a:r>
              <a:rPr lang="ru-RU" dirty="0"/>
              <a:t>6.   </a:t>
            </a:r>
            <a:r>
              <a:rPr lang="ru-RU" dirty="0" err="1"/>
              <a:t>Leadership</a:t>
            </a:r>
            <a:r>
              <a:rPr lang="ru-RU" dirty="0"/>
              <a:t> </a:t>
            </a:r>
            <a:r>
              <a:rPr lang="ru-RU" dirty="0" err="1"/>
              <a:t>and</a:t>
            </a:r>
            <a:r>
              <a:rPr lang="ru-RU" dirty="0"/>
              <a:t> </a:t>
            </a:r>
            <a:r>
              <a:rPr lang="ru-RU" dirty="0" err="1"/>
              <a:t>Strategic</a:t>
            </a:r>
            <a:r>
              <a:rPr lang="ru-RU" dirty="0"/>
              <a:t> </a:t>
            </a:r>
            <a:r>
              <a:rPr lang="ru-RU" dirty="0" err="1"/>
              <a:t>Planning</a:t>
            </a:r>
            <a:endParaRPr lang="en-US" dirty="0"/>
          </a:p>
          <a:p>
            <a:pPr>
              <a:buNone/>
            </a:pPr>
            <a:endParaRPr lang="en-US" dirty="0"/>
          </a:p>
          <a:p>
            <a:endParaRPr lang="en-US" dirty="0"/>
          </a:p>
          <a:p>
            <a:pPr algn="just"/>
            <a:endParaRPr lang="en-US" dirty="0"/>
          </a:p>
        </p:txBody>
      </p:sp>
    </p:spTree>
    <p:extLst>
      <p:ext uri="{BB962C8B-B14F-4D97-AF65-F5344CB8AC3E}">
        <p14:creationId xmlns:p14="http://schemas.microsoft.com/office/powerpoint/2010/main" val="26654286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1225"/>
          </a:xfrm>
        </p:spPr>
        <p:txBody>
          <a:bodyPr/>
          <a:lstStyle/>
          <a:p>
            <a:r>
              <a:rPr lang="ru-RU" dirty="0" err="1">
                <a:solidFill>
                  <a:srgbClr val="0070C0"/>
                </a:solidFill>
              </a:rPr>
              <a:t>Data</a:t>
            </a:r>
            <a:r>
              <a:rPr lang="ru-RU" dirty="0">
                <a:solidFill>
                  <a:srgbClr val="0070C0"/>
                </a:solidFill>
              </a:rPr>
              <a:t> </a:t>
            </a:r>
            <a:r>
              <a:rPr lang="ru-RU" dirty="0" err="1">
                <a:solidFill>
                  <a:srgbClr val="0070C0"/>
                </a:solidFill>
              </a:rPr>
              <a:t>System</a:t>
            </a:r>
            <a:r>
              <a:rPr lang="ru-RU" dirty="0">
                <a:solidFill>
                  <a:srgbClr val="0070C0"/>
                </a:solidFill>
              </a:rPr>
              <a:t> </a:t>
            </a:r>
            <a:r>
              <a:rPr lang="ru-RU" dirty="0" err="1">
                <a:solidFill>
                  <a:srgbClr val="0070C0"/>
                </a:solidFill>
              </a:rPr>
              <a:t>Infrastructure</a:t>
            </a:r>
            <a:endParaRPr lang="en-US" dirty="0"/>
          </a:p>
        </p:txBody>
      </p:sp>
      <p:sp>
        <p:nvSpPr>
          <p:cNvPr id="3" name="Content Placeholder 2"/>
          <p:cNvSpPr>
            <a:spLocks noGrp="1"/>
          </p:cNvSpPr>
          <p:nvPr>
            <p:ph idx="1"/>
          </p:nvPr>
        </p:nvSpPr>
        <p:spPr>
          <a:xfrm>
            <a:off x="838200" y="1352550"/>
            <a:ext cx="10515600" cy="4824413"/>
          </a:xfrm>
        </p:spPr>
        <p:txBody>
          <a:bodyPr>
            <a:normAutofit/>
          </a:bodyPr>
          <a:lstStyle/>
          <a:p>
            <a:pPr algn="just">
              <a:buFont typeface="Wingdings" pitchFamily="2" charset="2"/>
              <a:buChar char="§"/>
            </a:pPr>
            <a:r>
              <a:rPr lang="ru-RU" sz="2000" dirty="0" err="1"/>
              <a:t>The</a:t>
            </a:r>
            <a:r>
              <a:rPr lang="ru-RU" sz="2000" dirty="0"/>
              <a:t>  </a:t>
            </a:r>
            <a:r>
              <a:rPr lang="ru-RU" sz="2000" dirty="0" err="1">
                <a:solidFill>
                  <a:srgbClr val="C00000"/>
                </a:solidFill>
              </a:rPr>
              <a:t>core</a:t>
            </a:r>
            <a:r>
              <a:rPr lang="ru-RU" sz="2000" dirty="0">
                <a:solidFill>
                  <a:srgbClr val="C00000"/>
                </a:solidFill>
              </a:rPr>
              <a:t>   </a:t>
            </a:r>
            <a:r>
              <a:rPr lang="ru-RU" sz="2000" dirty="0" err="1">
                <a:solidFill>
                  <a:srgbClr val="C00000"/>
                </a:solidFill>
              </a:rPr>
              <a:t>of</a:t>
            </a:r>
            <a:r>
              <a:rPr lang="ru-RU" sz="2000" dirty="0">
                <a:solidFill>
                  <a:srgbClr val="C00000"/>
                </a:solidFill>
              </a:rPr>
              <a:t>  e-</a:t>
            </a:r>
            <a:r>
              <a:rPr lang="ru-RU" sz="2000" dirty="0" err="1">
                <a:solidFill>
                  <a:srgbClr val="C00000"/>
                </a:solidFill>
              </a:rPr>
              <a:t>governance</a:t>
            </a:r>
            <a:r>
              <a:rPr lang="ru-RU" sz="2000" dirty="0">
                <a:solidFill>
                  <a:srgbClr val="C00000"/>
                </a:solidFill>
              </a:rPr>
              <a:t>   </a:t>
            </a:r>
            <a:r>
              <a:rPr lang="ru-RU" sz="2000" dirty="0" err="1">
                <a:solidFill>
                  <a:srgbClr val="C00000"/>
                </a:solidFill>
              </a:rPr>
              <a:t>is</a:t>
            </a:r>
            <a:r>
              <a:rPr lang="ru-RU" sz="2000" dirty="0">
                <a:solidFill>
                  <a:srgbClr val="C00000"/>
                </a:solidFill>
              </a:rPr>
              <a:t>  e-MIS</a:t>
            </a:r>
            <a:r>
              <a:rPr lang="en-US" sz="2000" dirty="0">
                <a:solidFill>
                  <a:srgbClr val="C00000"/>
                </a:solidFill>
              </a:rPr>
              <a:t>, the Electronic Management Information System</a:t>
            </a:r>
            <a:r>
              <a:rPr lang="ru-RU" sz="2000" dirty="0">
                <a:solidFill>
                  <a:srgbClr val="C00000"/>
                </a:solidFill>
              </a:rPr>
              <a:t>  </a:t>
            </a:r>
            <a:r>
              <a:rPr lang="ru-RU" sz="2000" dirty="0" err="1"/>
              <a:t>and</a:t>
            </a:r>
            <a:r>
              <a:rPr lang="ru-RU" sz="2000" dirty="0"/>
              <a:t>   </a:t>
            </a:r>
            <a:r>
              <a:rPr lang="ru-RU" sz="2000" dirty="0" err="1"/>
              <a:t>holds</a:t>
            </a:r>
            <a:r>
              <a:rPr lang="ru-RU" sz="2000" dirty="0"/>
              <a:t>  </a:t>
            </a:r>
            <a:r>
              <a:rPr lang="ru-RU" sz="2000" dirty="0" err="1"/>
              <a:t>the</a:t>
            </a:r>
            <a:r>
              <a:rPr lang="ru-RU" sz="2000" dirty="0"/>
              <a:t>   </a:t>
            </a:r>
            <a:r>
              <a:rPr lang="ru-RU" sz="2000" dirty="0" err="1"/>
              <a:t>entire</a:t>
            </a:r>
            <a:r>
              <a:rPr lang="ru-RU" sz="2000" dirty="0"/>
              <a:t> </a:t>
            </a:r>
            <a:r>
              <a:rPr lang="ru-RU" sz="2000" dirty="0" err="1"/>
              <a:t>database</a:t>
            </a:r>
            <a:r>
              <a:rPr lang="ru-RU" sz="2000" dirty="0"/>
              <a:t> </a:t>
            </a:r>
            <a:r>
              <a:rPr lang="ru-RU" sz="2000" dirty="0" err="1"/>
              <a:t>of</a:t>
            </a:r>
            <a:r>
              <a:rPr lang="ru-RU" sz="2000" dirty="0"/>
              <a:t> </a:t>
            </a:r>
            <a:r>
              <a:rPr lang="ru-RU" sz="2000" dirty="0" err="1"/>
              <a:t>any</a:t>
            </a:r>
            <a:r>
              <a:rPr lang="ru-RU" sz="2000" dirty="0"/>
              <a:t> </a:t>
            </a:r>
            <a:r>
              <a:rPr lang="ru-RU" sz="2000" dirty="0" err="1"/>
              <a:t>organization</a:t>
            </a:r>
            <a:r>
              <a:rPr lang="ru-RU" sz="2000" dirty="0"/>
              <a:t> .</a:t>
            </a:r>
            <a:endParaRPr lang="en-US" sz="2000" dirty="0"/>
          </a:p>
          <a:p>
            <a:pPr algn="just">
              <a:buFont typeface="Wingdings" pitchFamily="2" charset="2"/>
              <a:buChar char="§"/>
            </a:pPr>
            <a:r>
              <a:rPr lang="ru-RU" sz="2000" dirty="0" err="1"/>
              <a:t>The</a:t>
            </a:r>
            <a:r>
              <a:rPr lang="ru-RU" sz="2000" dirty="0"/>
              <a:t>   </a:t>
            </a:r>
            <a:r>
              <a:rPr lang="ru-RU" sz="2000" dirty="0" err="1"/>
              <a:t>data</a:t>
            </a:r>
            <a:r>
              <a:rPr lang="ru-RU" sz="2000" dirty="0"/>
              <a:t>    </a:t>
            </a:r>
            <a:r>
              <a:rPr lang="ru-RU" sz="2000" dirty="0" err="1"/>
              <a:t>that</a:t>
            </a:r>
            <a:r>
              <a:rPr lang="ru-RU" sz="2000" dirty="0"/>
              <a:t>   </a:t>
            </a:r>
            <a:r>
              <a:rPr lang="ru-RU" sz="2000" dirty="0" err="1"/>
              <a:t>were</a:t>
            </a:r>
            <a:r>
              <a:rPr lang="ru-RU" sz="2000" dirty="0"/>
              <a:t>    </a:t>
            </a:r>
            <a:r>
              <a:rPr lang="ru-RU" sz="2000" dirty="0" err="1"/>
              <a:t>managed</a:t>
            </a:r>
            <a:r>
              <a:rPr lang="ru-RU" sz="2000" dirty="0"/>
              <a:t>   </a:t>
            </a:r>
            <a:r>
              <a:rPr lang="ru-RU" sz="2000" dirty="0" err="1"/>
              <a:t>manually</a:t>
            </a:r>
            <a:r>
              <a:rPr lang="en-US" sz="2000" dirty="0"/>
              <a:t> or conventionally</a:t>
            </a:r>
            <a:r>
              <a:rPr lang="ru-RU" sz="2000" dirty="0"/>
              <a:t>    </a:t>
            </a:r>
            <a:r>
              <a:rPr lang="ru-RU" sz="2000" dirty="0" err="1"/>
              <a:t>need</a:t>
            </a:r>
            <a:r>
              <a:rPr lang="en-US" sz="2000" dirty="0"/>
              <a:t>s</a:t>
            </a:r>
            <a:r>
              <a:rPr lang="ru-RU" sz="2000" dirty="0"/>
              <a:t>   </a:t>
            </a:r>
            <a:r>
              <a:rPr lang="ru-RU" sz="2000" dirty="0" err="1"/>
              <a:t>to</a:t>
            </a:r>
            <a:r>
              <a:rPr lang="ru-RU" sz="2000" dirty="0"/>
              <a:t>    </a:t>
            </a:r>
            <a:r>
              <a:rPr lang="ru-RU" sz="2000" dirty="0" err="1"/>
              <a:t>be</a:t>
            </a:r>
            <a:r>
              <a:rPr lang="ru-RU" sz="2000" dirty="0"/>
              <a:t> </a:t>
            </a:r>
            <a:r>
              <a:rPr lang="ru-RU" sz="2000" dirty="0" err="1"/>
              <a:t>computerized</a:t>
            </a:r>
            <a:r>
              <a:rPr lang="ru-RU" sz="2000" dirty="0"/>
              <a:t> </a:t>
            </a:r>
            <a:r>
              <a:rPr lang="ru-RU" sz="2000" dirty="0" err="1"/>
              <a:t>or</a:t>
            </a:r>
            <a:r>
              <a:rPr lang="ru-RU" sz="2000" dirty="0"/>
              <a:t> </a:t>
            </a:r>
            <a:r>
              <a:rPr lang="ru-RU" sz="2000" dirty="0" err="1"/>
              <a:t>brought</a:t>
            </a:r>
            <a:r>
              <a:rPr lang="ru-RU" sz="2000" dirty="0"/>
              <a:t> </a:t>
            </a:r>
            <a:r>
              <a:rPr lang="ru-RU" sz="2000" dirty="0" err="1"/>
              <a:t>into</a:t>
            </a:r>
            <a:r>
              <a:rPr lang="ru-RU" sz="2000" dirty="0"/>
              <a:t> </a:t>
            </a:r>
            <a:r>
              <a:rPr lang="ru-RU" sz="2000" dirty="0" err="1"/>
              <a:t>electronic</a:t>
            </a:r>
            <a:r>
              <a:rPr lang="ru-RU" sz="2000" dirty="0"/>
              <a:t> </a:t>
            </a:r>
            <a:r>
              <a:rPr lang="ru-RU" sz="2000" dirty="0" err="1"/>
              <a:t>form</a:t>
            </a:r>
            <a:r>
              <a:rPr lang="ru-RU" sz="2000" dirty="0"/>
              <a:t> </a:t>
            </a:r>
            <a:r>
              <a:rPr lang="ru-RU" sz="2000" dirty="0" err="1"/>
              <a:t>which</a:t>
            </a:r>
            <a:r>
              <a:rPr lang="ru-RU" sz="2000" dirty="0"/>
              <a:t> </a:t>
            </a:r>
            <a:r>
              <a:rPr lang="ru-RU" sz="2000" dirty="0" err="1"/>
              <a:t>means</a:t>
            </a:r>
            <a:r>
              <a:rPr lang="ru-RU" sz="2000" dirty="0"/>
              <a:t> </a:t>
            </a:r>
            <a:r>
              <a:rPr lang="ru-RU" sz="2000" dirty="0" err="1"/>
              <a:t>that</a:t>
            </a:r>
            <a:r>
              <a:rPr lang="en-US" sz="2000" dirty="0"/>
              <a:t> </a:t>
            </a:r>
            <a:r>
              <a:rPr lang="ru-RU" sz="2000" dirty="0"/>
              <a:t> </a:t>
            </a:r>
            <a:r>
              <a:rPr lang="ru-RU" sz="2000" dirty="0" err="1"/>
              <a:t>the</a:t>
            </a:r>
            <a:r>
              <a:rPr lang="ru-RU" sz="2000" dirty="0"/>
              <a:t> </a:t>
            </a:r>
            <a:r>
              <a:rPr lang="ru-RU" sz="2000" dirty="0" err="1">
                <a:solidFill>
                  <a:srgbClr val="C00000"/>
                </a:solidFill>
              </a:rPr>
              <a:t>prepare</a:t>
            </a:r>
            <a:r>
              <a:rPr lang="ru-RU" sz="2000" dirty="0">
                <a:solidFill>
                  <a:srgbClr val="C00000"/>
                </a:solidFill>
              </a:rPr>
              <a:t> </a:t>
            </a:r>
            <a:r>
              <a:rPr lang="ru-RU" sz="2000" dirty="0" err="1">
                <a:solidFill>
                  <a:srgbClr val="C00000"/>
                </a:solidFill>
              </a:rPr>
              <a:t>of</a:t>
            </a:r>
            <a:r>
              <a:rPr lang="ru-RU" sz="2000" dirty="0">
                <a:solidFill>
                  <a:srgbClr val="C00000"/>
                </a:solidFill>
              </a:rPr>
              <a:t> </a:t>
            </a:r>
            <a:r>
              <a:rPr lang="ru-RU" sz="2000" dirty="0" err="1">
                <a:solidFill>
                  <a:srgbClr val="C00000"/>
                </a:solidFill>
              </a:rPr>
              <a:t>computerized</a:t>
            </a:r>
            <a:r>
              <a:rPr lang="ru-RU" sz="2000" dirty="0">
                <a:solidFill>
                  <a:srgbClr val="C00000"/>
                </a:solidFill>
              </a:rPr>
              <a:t> </a:t>
            </a:r>
            <a:r>
              <a:rPr lang="en-US" sz="2000" dirty="0">
                <a:solidFill>
                  <a:srgbClr val="C00000"/>
                </a:solidFill>
              </a:rPr>
              <a:t>MIS and </a:t>
            </a:r>
            <a:r>
              <a:rPr lang="ru-RU" sz="2000" dirty="0" err="1">
                <a:solidFill>
                  <a:srgbClr val="C00000"/>
                </a:solidFill>
              </a:rPr>
              <a:t>database</a:t>
            </a:r>
            <a:r>
              <a:rPr lang="ru-RU" sz="2000" dirty="0">
                <a:solidFill>
                  <a:srgbClr val="C00000"/>
                </a:solidFill>
              </a:rPr>
              <a:t> </a:t>
            </a:r>
            <a:r>
              <a:rPr lang="ru-RU" sz="2000" dirty="0" err="1">
                <a:solidFill>
                  <a:srgbClr val="C00000"/>
                </a:solidFill>
              </a:rPr>
              <a:t>or</a:t>
            </a:r>
            <a:r>
              <a:rPr lang="ru-RU" sz="2000" dirty="0">
                <a:solidFill>
                  <a:srgbClr val="C00000"/>
                </a:solidFill>
              </a:rPr>
              <a:t> </a:t>
            </a:r>
            <a:r>
              <a:rPr lang="ru-RU" sz="2000" dirty="0" err="1">
                <a:solidFill>
                  <a:srgbClr val="C00000"/>
                </a:solidFill>
              </a:rPr>
              <a:t>data</a:t>
            </a:r>
            <a:r>
              <a:rPr lang="ru-RU" sz="2000" dirty="0">
                <a:solidFill>
                  <a:srgbClr val="C00000"/>
                </a:solidFill>
              </a:rPr>
              <a:t> </a:t>
            </a:r>
            <a:r>
              <a:rPr lang="ru-RU" sz="2000" dirty="0" err="1">
                <a:solidFill>
                  <a:srgbClr val="C00000"/>
                </a:solidFill>
              </a:rPr>
              <a:t>warehouse</a:t>
            </a:r>
            <a:r>
              <a:rPr lang="ru-RU" sz="2000" dirty="0">
                <a:solidFill>
                  <a:srgbClr val="C00000"/>
                </a:solidFill>
              </a:rPr>
              <a:t> </a:t>
            </a:r>
            <a:r>
              <a:rPr lang="ru-RU" sz="2000" dirty="0" err="1">
                <a:solidFill>
                  <a:srgbClr val="C00000"/>
                </a:solidFill>
              </a:rPr>
              <a:t>is</a:t>
            </a:r>
            <a:r>
              <a:rPr lang="ru-RU" sz="2000" dirty="0">
                <a:solidFill>
                  <a:srgbClr val="C00000"/>
                </a:solidFill>
              </a:rPr>
              <a:t> </a:t>
            </a:r>
            <a:r>
              <a:rPr lang="ru-RU" sz="2000" dirty="0" err="1">
                <a:solidFill>
                  <a:srgbClr val="C00000"/>
                </a:solidFill>
              </a:rPr>
              <a:t>required</a:t>
            </a:r>
            <a:r>
              <a:rPr lang="en-US" sz="2000" dirty="0">
                <a:solidFill>
                  <a:srgbClr val="C00000"/>
                </a:solidFill>
              </a:rPr>
              <a:t> in e-governance.</a:t>
            </a:r>
          </a:p>
          <a:p>
            <a:pPr algn="just">
              <a:buFont typeface="Wingdings" pitchFamily="2" charset="2"/>
              <a:buChar char="§"/>
            </a:pPr>
            <a:r>
              <a:rPr lang="ru-RU" sz="2000" dirty="0" err="1">
                <a:solidFill>
                  <a:srgbClr val="00B050"/>
                </a:solidFill>
              </a:rPr>
              <a:t>Data</a:t>
            </a:r>
            <a:r>
              <a:rPr lang="ru-RU" sz="2000" dirty="0">
                <a:solidFill>
                  <a:srgbClr val="00B050"/>
                </a:solidFill>
              </a:rPr>
              <a:t>  </a:t>
            </a:r>
            <a:r>
              <a:rPr lang="ru-RU" sz="2000" dirty="0" err="1">
                <a:solidFill>
                  <a:srgbClr val="00B050"/>
                </a:solidFill>
              </a:rPr>
              <a:t>quality</a:t>
            </a:r>
            <a:r>
              <a:rPr lang="ru-RU" sz="2000" dirty="0">
                <a:solidFill>
                  <a:srgbClr val="00B050"/>
                </a:solidFill>
              </a:rPr>
              <a:t>  </a:t>
            </a:r>
            <a:r>
              <a:rPr lang="ru-RU" sz="2000" dirty="0" err="1">
                <a:solidFill>
                  <a:srgbClr val="00B050"/>
                </a:solidFill>
              </a:rPr>
              <a:t>and</a:t>
            </a:r>
            <a:r>
              <a:rPr lang="ru-RU" sz="2000" dirty="0">
                <a:solidFill>
                  <a:srgbClr val="00B050"/>
                </a:solidFill>
              </a:rPr>
              <a:t>  </a:t>
            </a:r>
            <a:r>
              <a:rPr lang="ru-RU" sz="2000" dirty="0" err="1">
                <a:solidFill>
                  <a:srgbClr val="00B050"/>
                </a:solidFill>
              </a:rPr>
              <a:t>data</a:t>
            </a:r>
            <a:r>
              <a:rPr lang="ru-RU" sz="2000" dirty="0">
                <a:solidFill>
                  <a:srgbClr val="00B050"/>
                </a:solidFill>
              </a:rPr>
              <a:t>  </a:t>
            </a:r>
            <a:r>
              <a:rPr lang="ru-RU" sz="2000" dirty="0" err="1">
                <a:solidFill>
                  <a:srgbClr val="00B050"/>
                </a:solidFill>
              </a:rPr>
              <a:t>security</a:t>
            </a:r>
            <a:r>
              <a:rPr lang="ru-RU" sz="2000" dirty="0">
                <a:solidFill>
                  <a:srgbClr val="00B050"/>
                </a:solidFill>
              </a:rPr>
              <a:t>  </a:t>
            </a:r>
            <a:r>
              <a:rPr lang="ru-RU" sz="2000" dirty="0" err="1">
                <a:solidFill>
                  <a:srgbClr val="00B050"/>
                </a:solidFill>
              </a:rPr>
              <a:t>are</a:t>
            </a:r>
            <a:r>
              <a:rPr lang="ru-RU" sz="2000" dirty="0">
                <a:solidFill>
                  <a:srgbClr val="00B050"/>
                </a:solidFill>
              </a:rPr>
              <a:t>  </a:t>
            </a:r>
            <a:r>
              <a:rPr lang="ru-RU" sz="2000" dirty="0" err="1">
                <a:solidFill>
                  <a:srgbClr val="00B050"/>
                </a:solidFill>
              </a:rPr>
              <a:t>of</a:t>
            </a:r>
            <a:r>
              <a:rPr lang="ru-RU" sz="2000" dirty="0">
                <a:solidFill>
                  <a:srgbClr val="00B050"/>
                </a:solidFill>
              </a:rPr>
              <a:t>  </a:t>
            </a:r>
            <a:r>
              <a:rPr lang="ru-RU" sz="2000" dirty="0" err="1">
                <a:solidFill>
                  <a:srgbClr val="00B050"/>
                </a:solidFill>
              </a:rPr>
              <a:t>prime</a:t>
            </a:r>
            <a:r>
              <a:rPr lang="ru-RU" sz="2000" dirty="0">
                <a:solidFill>
                  <a:srgbClr val="00B050"/>
                </a:solidFill>
              </a:rPr>
              <a:t>  </a:t>
            </a:r>
            <a:r>
              <a:rPr lang="ru-RU" sz="2000" dirty="0" err="1">
                <a:solidFill>
                  <a:srgbClr val="00B050"/>
                </a:solidFill>
              </a:rPr>
              <a:t>concern</a:t>
            </a:r>
            <a:r>
              <a:rPr lang="en-US" sz="2000" dirty="0">
                <a:solidFill>
                  <a:srgbClr val="00B050"/>
                </a:solidFill>
              </a:rPr>
              <a:t> i.e. extremely important</a:t>
            </a:r>
            <a:r>
              <a:rPr lang="ru-RU" sz="2000" dirty="0">
                <a:solidFill>
                  <a:srgbClr val="00B050"/>
                </a:solidFill>
              </a:rPr>
              <a:t> </a:t>
            </a:r>
            <a:r>
              <a:rPr lang="ru-RU" sz="2000" dirty="0" err="1">
                <a:solidFill>
                  <a:srgbClr val="00B050"/>
                </a:solidFill>
              </a:rPr>
              <a:t>here</a:t>
            </a:r>
            <a:r>
              <a:rPr lang="ru-RU" sz="2000" dirty="0"/>
              <a:t>  </a:t>
            </a:r>
            <a:r>
              <a:rPr lang="ru-RU" sz="2000" dirty="0" err="1"/>
              <a:t>as</a:t>
            </a:r>
            <a:r>
              <a:rPr lang="ru-RU" sz="2000" dirty="0"/>
              <a:t> </a:t>
            </a:r>
            <a:r>
              <a:rPr lang="ru-RU" sz="2000" dirty="0" err="1"/>
              <a:t>most</a:t>
            </a:r>
            <a:r>
              <a:rPr lang="ru-RU" sz="2000" dirty="0"/>
              <a:t> </a:t>
            </a:r>
            <a:r>
              <a:rPr lang="ru-RU" sz="2000" dirty="0" err="1"/>
              <a:t>of</a:t>
            </a:r>
            <a:r>
              <a:rPr lang="ru-RU" sz="2000" dirty="0"/>
              <a:t> </a:t>
            </a:r>
            <a:r>
              <a:rPr lang="ru-RU" sz="2000" dirty="0" err="1"/>
              <a:t>the</a:t>
            </a:r>
            <a:r>
              <a:rPr lang="ru-RU" sz="2000" dirty="0"/>
              <a:t> </a:t>
            </a:r>
            <a:r>
              <a:rPr lang="ru-RU" sz="2000" dirty="0" err="1"/>
              <a:t>government</a:t>
            </a:r>
            <a:r>
              <a:rPr lang="en-US" sz="2000" dirty="0"/>
              <a:t> environments in developing countries,</a:t>
            </a:r>
            <a:r>
              <a:rPr lang="ru-RU" sz="2000" dirty="0"/>
              <a:t> </a:t>
            </a:r>
            <a:r>
              <a:rPr lang="ru-RU" sz="2000" dirty="0" err="1"/>
              <a:t>infrastructur</a:t>
            </a:r>
            <a:r>
              <a:rPr lang="en-US" sz="2000" dirty="0"/>
              <a:t>al arrangements</a:t>
            </a:r>
            <a:r>
              <a:rPr lang="ru-RU" sz="2000" dirty="0"/>
              <a:t> </a:t>
            </a:r>
            <a:r>
              <a:rPr lang="ru-RU" sz="2000" dirty="0" err="1"/>
              <a:t>are</a:t>
            </a:r>
            <a:r>
              <a:rPr lang="ru-RU" sz="2000" dirty="0"/>
              <a:t> </a:t>
            </a:r>
            <a:r>
              <a:rPr lang="ru-RU" sz="2000" dirty="0" err="1"/>
              <a:t>not</a:t>
            </a:r>
            <a:r>
              <a:rPr lang="ru-RU" sz="2000" dirty="0"/>
              <a:t> </a:t>
            </a:r>
            <a:r>
              <a:rPr lang="ru-RU" sz="2000" dirty="0" err="1"/>
              <a:t>up</a:t>
            </a:r>
            <a:r>
              <a:rPr lang="ru-RU" sz="2000" dirty="0"/>
              <a:t> </a:t>
            </a:r>
            <a:r>
              <a:rPr lang="ru-RU" sz="2000" dirty="0" err="1"/>
              <a:t>to</a:t>
            </a:r>
            <a:r>
              <a:rPr lang="ru-RU" sz="2000" dirty="0"/>
              <a:t> </a:t>
            </a:r>
            <a:r>
              <a:rPr lang="ru-RU" sz="2000" dirty="0" err="1"/>
              <a:t>the</a:t>
            </a:r>
            <a:r>
              <a:rPr lang="ru-RU" sz="2000" dirty="0"/>
              <a:t> </a:t>
            </a:r>
            <a:r>
              <a:rPr lang="ru-RU" sz="2000" dirty="0" err="1"/>
              <a:t>mark</a:t>
            </a:r>
            <a:r>
              <a:rPr lang="ru-RU" sz="2000" dirty="0"/>
              <a:t>. </a:t>
            </a:r>
            <a:endParaRPr lang="en-US" sz="2000" dirty="0"/>
          </a:p>
          <a:p>
            <a:pPr algn="just">
              <a:buFont typeface="Wingdings" pitchFamily="2" charset="2"/>
              <a:buChar char="§"/>
            </a:pPr>
            <a:r>
              <a:rPr lang="ru-RU" sz="2000" dirty="0" err="1"/>
              <a:t>The</a:t>
            </a:r>
            <a:r>
              <a:rPr lang="ru-RU" sz="2000" dirty="0"/>
              <a:t>  </a:t>
            </a:r>
            <a:r>
              <a:rPr lang="en-US" sz="2000" dirty="0"/>
              <a:t>fundamental</a:t>
            </a:r>
            <a:r>
              <a:rPr lang="ru-RU" sz="2000" dirty="0"/>
              <a:t>  </a:t>
            </a:r>
            <a:r>
              <a:rPr lang="ru-RU" sz="2000" dirty="0" err="1"/>
              <a:t>question</a:t>
            </a:r>
            <a:r>
              <a:rPr lang="ru-RU" sz="2000" dirty="0"/>
              <a:t>  </a:t>
            </a:r>
            <a:r>
              <a:rPr lang="ru-RU" sz="2000" dirty="0" err="1"/>
              <a:t>that</a:t>
            </a:r>
            <a:r>
              <a:rPr lang="ru-RU" sz="2000" dirty="0"/>
              <a:t>  </a:t>
            </a:r>
            <a:r>
              <a:rPr lang="ru-RU" sz="2000" dirty="0" err="1"/>
              <a:t>arises</a:t>
            </a:r>
            <a:r>
              <a:rPr lang="ru-RU" sz="2000" dirty="0"/>
              <a:t>  </a:t>
            </a:r>
            <a:r>
              <a:rPr lang="ru-RU" sz="2000" dirty="0" err="1"/>
              <a:t>here</a:t>
            </a:r>
            <a:r>
              <a:rPr lang="ru-RU" sz="2000" dirty="0"/>
              <a:t>  </a:t>
            </a:r>
            <a:r>
              <a:rPr lang="ru-RU" sz="2000" dirty="0" err="1"/>
              <a:t>is</a:t>
            </a:r>
            <a:r>
              <a:rPr lang="ru-RU" sz="2000" dirty="0"/>
              <a:t>  “ </a:t>
            </a:r>
            <a:r>
              <a:rPr lang="ru-RU" sz="2000" dirty="0" err="1">
                <a:solidFill>
                  <a:srgbClr val="C00000"/>
                </a:solidFill>
              </a:rPr>
              <a:t>Are</a:t>
            </a:r>
            <a:r>
              <a:rPr lang="ru-RU" sz="2000" dirty="0">
                <a:solidFill>
                  <a:srgbClr val="C00000"/>
                </a:solidFill>
              </a:rPr>
              <a:t>  </a:t>
            </a:r>
            <a:r>
              <a:rPr lang="ru-RU" sz="2000" dirty="0" err="1">
                <a:solidFill>
                  <a:srgbClr val="C00000"/>
                </a:solidFill>
              </a:rPr>
              <a:t>all</a:t>
            </a:r>
            <a:r>
              <a:rPr lang="ru-RU" sz="2000" dirty="0">
                <a:solidFill>
                  <a:srgbClr val="C00000"/>
                </a:solidFill>
              </a:rPr>
              <a:t>  </a:t>
            </a:r>
            <a:r>
              <a:rPr lang="ru-RU" sz="2000" dirty="0" err="1">
                <a:solidFill>
                  <a:srgbClr val="C00000"/>
                </a:solidFill>
              </a:rPr>
              <a:t>the</a:t>
            </a:r>
            <a:r>
              <a:rPr lang="ru-RU" sz="2000" dirty="0">
                <a:solidFill>
                  <a:srgbClr val="C00000"/>
                </a:solidFill>
              </a:rPr>
              <a:t>  </a:t>
            </a:r>
            <a:r>
              <a:rPr lang="ru-RU" sz="2000" dirty="0" err="1">
                <a:solidFill>
                  <a:srgbClr val="C00000"/>
                </a:solidFill>
              </a:rPr>
              <a:t>requisite</a:t>
            </a:r>
            <a:r>
              <a:rPr lang="ru-RU" sz="2000" dirty="0">
                <a:solidFill>
                  <a:srgbClr val="C00000"/>
                </a:solidFill>
              </a:rPr>
              <a:t> </a:t>
            </a:r>
            <a:r>
              <a:rPr lang="ru-RU" sz="2000" dirty="0" err="1">
                <a:solidFill>
                  <a:srgbClr val="C00000"/>
                </a:solidFill>
              </a:rPr>
              <a:t>management</a:t>
            </a:r>
            <a:r>
              <a:rPr lang="ru-RU" sz="2000" dirty="0">
                <a:solidFill>
                  <a:srgbClr val="C00000"/>
                </a:solidFill>
              </a:rPr>
              <a:t> </a:t>
            </a:r>
            <a:r>
              <a:rPr lang="ru-RU" sz="2000" dirty="0" err="1">
                <a:solidFill>
                  <a:srgbClr val="C00000"/>
                </a:solidFill>
              </a:rPr>
              <a:t>information</a:t>
            </a:r>
            <a:r>
              <a:rPr lang="ru-RU" sz="2000" dirty="0">
                <a:solidFill>
                  <a:srgbClr val="C00000"/>
                </a:solidFill>
              </a:rPr>
              <a:t> </a:t>
            </a:r>
            <a:r>
              <a:rPr lang="ru-RU" sz="2000" dirty="0" err="1">
                <a:solidFill>
                  <a:srgbClr val="C00000"/>
                </a:solidFill>
              </a:rPr>
              <a:t>systems</a:t>
            </a:r>
            <a:r>
              <a:rPr lang="ru-RU" sz="2000" dirty="0">
                <a:solidFill>
                  <a:srgbClr val="C00000"/>
                </a:solidFill>
              </a:rPr>
              <a:t>, </a:t>
            </a:r>
            <a:r>
              <a:rPr lang="ru-RU" sz="2000" dirty="0" err="1">
                <a:solidFill>
                  <a:srgbClr val="C00000"/>
                </a:solidFill>
              </a:rPr>
              <a:t>records</a:t>
            </a:r>
            <a:r>
              <a:rPr lang="ru-RU" sz="2000" dirty="0">
                <a:solidFill>
                  <a:srgbClr val="C00000"/>
                </a:solidFill>
              </a:rPr>
              <a:t>, </a:t>
            </a:r>
            <a:r>
              <a:rPr lang="ru-RU" sz="2000" dirty="0" err="1">
                <a:solidFill>
                  <a:srgbClr val="C00000"/>
                </a:solidFill>
              </a:rPr>
              <a:t>databases</a:t>
            </a:r>
            <a:r>
              <a:rPr lang="ru-RU" sz="2000" dirty="0">
                <a:solidFill>
                  <a:srgbClr val="C00000"/>
                </a:solidFill>
              </a:rPr>
              <a:t> </a:t>
            </a:r>
            <a:r>
              <a:rPr lang="ru-RU" sz="2000" dirty="0" err="1">
                <a:solidFill>
                  <a:srgbClr val="C00000"/>
                </a:solidFill>
              </a:rPr>
              <a:t>and</a:t>
            </a:r>
            <a:r>
              <a:rPr lang="ru-RU" sz="2000" dirty="0">
                <a:solidFill>
                  <a:srgbClr val="C00000"/>
                </a:solidFill>
              </a:rPr>
              <a:t> </a:t>
            </a:r>
            <a:r>
              <a:rPr lang="ru-RU" sz="2000" dirty="0" err="1">
                <a:solidFill>
                  <a:srgbClr val="C00000"/>
                </a:solidFill>
              </a:rPr>
              <a:t>work</a:t>
            </a:r>
            <a:r>
              <a:rPr lang="ru-RU" sz="2000" dirty="0">
                <a:solidFill>
                  <a:srgbClr val="C00000"/>
                </a:solidFill>
              </a:rPr>
              <a:t> </a:t>
            </a:r>
            <a:r>
              <a:rPr lang="ru-RU" sz="2000" dirty="0" err="1">
                <a:solidFill>
                  <a:srgbClr val="C00000"/>
                </a:solidFill>
              </a:rPr>
              <a:t>processes</a:t>
            </a:r>
            <a:r>
              <a:rPr lang="ru-RU" sz="2000" dirty="0">
                <a:solidFill>
                  <a:srgbClr val="C00000"/>
                </a:solidFill>
              </a:rPr>
              <a:t>  </a:t>
            </a:r>
            <a:r>
              <a:rPr lang="ru-RU" sz="2000" dirty="0" err="1">
                <a:solidFill>
                  <a:srgbClr val="C00000"/>
                </a:solidFill>
              </a:rPr>
              <a:t>in</a:t>
            </a:r>
            <a:r>
              <a:rPr lang="ru-RU" sz="2000" dirty="0">
                <a:solidFill>
                  <a:srgbClr val="C00000"/>
                </a:solidFill>
              </a:rPr>
              <a:t>  </a:t>
            </a:r>
            <a:r>
              <a:rPr lang="ru-RU" sz="2000" dirty="0" err="1">
                <a:solidFill>
                  <a:srgbClr val="C00000"/>
                </a:solidFill>
              </a:rPr>
              <a:t>proper</a:t>
            </a:r>
            <a:r>
              <a:rPr lang="ru-RU" sz="2000" dirty="0">
                <a:solidFill>
                  <a:srgbClr val="C00000"/>
                </a:solidFill>
              </a:rPr>
              <a:t>  </a:t>
            </a:r>
            <a:r>
              <a:rPr lang="ru-RU" sz="2000" dirty="0" err="1">
                <a:solidFill>
                  <a:srgbClr val="C00000"/>
                </a:solidFill>
              </a:rPr>
              <a:t>place</a:t>
            </a:r>
            <a:r>
              <a:rPr lang="ru-RU" sz="2000" dirty="0">
                <a:solidFill>
                  <a:srgbClr val="C00000"/>
                </a:solidFill>
              </a:rPr>
              <a:t>  </a:t>
            </a:r>
            <a:r>
              <a:rPr lang="ru-RU" sz="2000" dirty="0" err="1">
                <a:solidFill>
                  <a:srgbClr val="C00000"/>
                </a:solidFill>
              </a:rPr>
              <a:t>so</a:t>
            </a:r>
            <a:r>
              <a:rPr lang="ru-RU" sz="2000" dirty="0">
                <a:solidFill>
                  <a:srgbClr val="C00000"/>
                </a:solidFill>
              </a:rPr>
              <a:t>  </a:t>
            </a:r>
            <a:r>
              <a:rPr lang="ru-RU" sz="2000" dirty="0" err="1">
                <a:solidFill>
                  <a:srgbClr val="C00000"/>
                </a:solidFill>
              </a:rPr>
              <a:t>as</a:t>
            </a:r>
            <a:r>
              <a:rPr lang="ru-RU" sz="2000" dirty="0">
                <a:solidFill>
                  <a:srgbClr val="C00000"/>
                </a:solidFill>
              </a:rPr>
              <a:t>  </a:t>
            </a:r>
            <a:r>
              <a:rPr lang="ru-RU" sz="2000" dirty="0" err="1">
                <a:solidFill>
                  <a:srgbClr val="C00000"/>
                </a:solidFill>
              </a:rPr>
              <a:t>to</a:t>
            </a:r>
            <a:r>
              <a:rPr lang="ru-RU" sz="2000" dirty="0">
                <a:solidFill>
                  <a:srgbClr val="C00000"/>
                </a:solidFill>
              </a:rPr>
              <a:t>  </a:t>
            </a:r>
            <a:r>
              <a:rPr lang="ru-RU" sz="2000" dirty="0" err="1">
                <a:solidFill>
                  <a:srgbClr val="C00000"/>
                </a:solidFill>
              </a:rPr>
              <a:t>provide</a:t>
            </a:r>
            <a:r>
              <a:rPr lang="ru-RU" sz="2000" dirty="0">
                <a:solidFill>
                  <a:srgbClr val="C00000"/>
                </a:solidFill>
              </a:rPr>
              <a:t>  </a:t>
            </a:r>
            <a:r>
              <a:rPr lang="ru-RU" sz="2000" dirty="0" err="1">
                <a:solidFill>
                  <a:srgbClr val="C00000"/>
                </a:solidFill>
              </a:rPr>
              <a:t>the</a:t>
            </a:r>
            <a:r>
              <a:rPr lang="ru-RU" sz="2000" dirty="0">
                <a:solidFill>
                  <a:srgbClr val="C00000"/>
                </a:solidFill>
              </a:rPr>
              <a:t>  </a:t>
            </a:r>
            <a:r>
              <a:rPr lang="ru-RU" sz="2000" dirty="0" err="1">
                <a:solidFill>
                  <a:srgbClr val="C00000"/>
                </a:solidFill>
              </a:rPr>
              <a:t>quantity</a:t>
            </a:r>
            <a:r>
              <a:rPr lang="ru-RU" sz="2000" dirty="0">
                <a:solidFill>
                  <a:srgbClr val="C00000"/>
                </a:solidFill>
              </a:rPr>
              <a:t>  </a:t>
            </a:r>
            <a:r>
              <a:rPr lang="ru-RU" sz="2000" dirty="0" err="1">
                <a:solidFill>
                  <a:srgbClr val="C00000"/>
                </a:solidFill>
              </a:rPr>
              <a:t>and</a:t>
            </a:r>
            <a:r>
              <a:rPr lang="ru-RU" sz="2000" dirty="0">
                <a:solidFill>
                  <a:srgbClr val="C00000"/>
                </a:solidFill>
              </a:rPr>
              <a:t> </a:t>
            </a:r>
            <a:r>
              <a:rPr lang="en-US" sz="2000" dirty="0">
                <a:solidFill>
                  <a:srgbClr val="C00000"/>
                </a:solidFill>
              </a:rPr>
              <a:t> </a:t>
            </a:r>
            <a:r>
              <a:rPr lang="ru-RU" sz="2000" dirty="0" err="1">
                <a:solidFill>
                  <a:srgbClr val="C00000"/>
                </a:solidFill>
              </a:rPr>
              <a:t>quality</a:t>
            </a:r>
            <a:r>
              <a:rPr lang="ru-RU" sz="2000" dirty="0">
                <a:solidFill>
                  <a:srgbClr val="C00000"/>
                </a:solidFill>
              </a:rPr>
              <a:t> </a:t>
            </a:r>
            <a:r>
              <a:rPr lang="ru-RU" sz="2000" dirty="0" err="1">
                <a:solidFill>
                  <a:srgbClr val="C00000"/>
                </a:solidFill>
              </a:rPr>
              <a:t>of</a:t>
            </a:r>
            <a:r>
              <a:rPr lang="ru-RU" sz="2000" dirty="0">
                <a:solidFill>
                  <a:srgbClr val="C00000"/>
                </a:solidFill>
              </a:rPr>
              <a:t> </a:t>
            </a:r>
            <a:r>
              <a:rPr lang="ru-RU" sz="2000" dirty="0" err="1">
                <a:solidFill>
                  <a:srgbClr val="C00000"/>
                </a:solidFill>
              </a:rPr>
              <a:t>data</a:t>
            </a:r>
            <a:r>
              <a:rPr lang="ru-RU" sz="2000" dirty="0">
                <a:solidFill>
                  <a:srgbClr val="C00000"/>
                </a:solidFill>
              </a:rPr>
              <a:t> </a:t>
            </a:r>
            <a:r>
              <a:rPr lang="ru-RU" sz="2000" dirty="0" err="1">
                <a:solidFill>
                  <a:srgbClr val="C00000"/>
                </a:solidFill>
              </a:rPr>
              <a:t>to</a:t>
            </a:r>
            <a:r>
              <a:rPr lang="ru-RU" sz="2000" dirty="0">
                <a:solidFill>
                  <a:srgbClr val="C00000"/>
                </a:solidFill>
              </a:rPr>
              <a:t> </a:t>
            </a:r>
            <a:r>
              <a:rPr lang="ru-RU" sz="2000" dirty="0" err="1">
                <a:solidFill>
                  <a:srgbClr val="C00000"/>
                </a:solidFill>
              </a:rPr>
              <a:t>support</a:t>
            </a:r>
            <a:r>
              <a:rPr lang="ru-RU" sz="2000" dirty="0">
                <a:solidFill>
                  <a:srgbClr val="C00000"/>
                </a:solidFill>
              </a:rPr>
              <a:t> </a:t>
            </a:r>
            <a:r>
              <a:rPr lang="ru-RU" sz="2000" dirty="0" err="1">
                <a:solidFill>
                  <a:srgbClr val="C00000"/>
                </a:solidFill>
              </a:rPr>
              <a:t>the</a:t>
            </a:r>
            <a:r>
              <a:rPr lang="ru-RU" sz="2000" dirty="0">
                <a:solidFill>
                  <a:srgbClr val="C00000"/>
                </a:solidFill>
              </a:rPr>
              <a:t> </a:t>
            </a:r>
            <a:r>
              <a:rPr lang="ru-RU" sz="2000" dirty="0" err="1">
                <a:solidFill>
                  <a:srgbClr val="C00000"/>
                </a:solidFill>
              </a:rPr>
              <a:t>move</a:t>
            </a:r>
            <a:r>
              <a:rPr lang="ru-RU" sz="2000" dirty="0">
                <a:solidFill>
                  <a:srgbClr val="C00000"/>
                </a:solidFill>
              </a:rPr>
              <a:t> </a:t>
            </a:r>
            <a:r>
              <a:rPr lang="ru-RU" sz="2000" dirty="0" err="1">
                <a:solidFill>
                  <a:srgbClr val="C00000"/>
                </a:solidFill>
              </a:rPr>
              <a:t>to</a:t>
            </a:r>
            <a:r>
              <a:rPr lang="ru-RU" sz="2000" dirty="0">
                <a:solidFill>
                  <a:srgbClr val="C00000"/>
                </a:solidFill>
              </a:rPr>
              <a:t> e-</a:t>
            </a:r>
            <a:r>
              <a:rPr lang="ru-RU" sz="2000" dirty="0" err="1">
                <a:solidFill>
                  <a:srgbClr val="C00000"/>
                </a:solidFill>
              </a:rPr>
              <a:t>governance</a:t>
            </a:r>
            <a:r>
              <a:rPr lang="ru-RU" sz="2000" dirty="0">
                <a:solidFill>
                  <a:srgbClr val="C00000"/>
                </a:solidFill>
              </a:rPr>
              <a:t>?</a:t>
            </a:r>
            <a:r>
              <a:rPr lang="ru-RU" sz="2000" dirty="0"/>
              <a:t>”</a:t>
            </a:r>
            <a:endParaRPr lang="en-US" sz="2000" dirty="0"/>
          </a:p>
          <a:p>
            <a:pPr algn="just">
              <a:buFont typeface="Wingdings" pitchFamily="2" charset="2"/>
              <a:buChar char="§"/>
            </a:pPr>
            <a:r>
              <a:rPr lang="en-US" sz="2000" dirty="0"/>
              <a:t>If not, these have to be built up with great effort and patience. </a:t>
            </a:r>
          </a:p>
          <a:p>
            <a:pPr lvl="1" algn="just">
              <a:buFont typeface="Wingdings" panose="05000000000000000000" pitchFamily="2" charset="2"/>
              <a:buChar char="ü"/>
            </a:pPr>
            <a:r>
              <a:rPr lang="ru-RU" sz="2000" dirty="0" err="1"/>
              <a:t>This</a:t>
            </a:r>
            <a:r>
              <a:rPr lang="ru-RU" sz="2000" dirty="0"/>
              <a:t>  </a:t>
            </a:r>
            <a:r>
              <a:rPr lang="ru-RU" sz="2000" dirty="0" err="1"/>
              <a:t>is</a:t>
            </a:r>
            <a:r>
              <a:rPr lang="ru-RU" sz="2000" dirty="0"/>
              <a:t>  </a:t>
            </a:r>
            <a:r>
              <a:rPr lang="ru-RU" sz="2000" dirty="0" err="1"/>
              <a:t>the</a:t>
            </a:r>
            <a:r>
              <a:rPr lang="ru-RU" sz="2000" dirty="0"/>
              <a:t>  </a:t>
            </a:r>
            <a:r>
              <a:rPr lang="ru-RU" sz="2000" dirty="0" err="1"/>
              <a:t>core</a:t>
            </a:r>
            <a:r>
              <a:rPr lang="ru-RU" sz="2000" dirty="0"/>
              <a:t>  </a:t>
            </a:r>
            <a:r>
              <a:rPr lang="ru-RU" sz="2000" dirty="0" err="1"/>
              <a:t>computerization</a:t>
            </a:r>
            <a:r>
              <a:rPr lang="ru-RU" sz="2000" dirty="0"/>
              <a:t>  </a:t>
            </a:r>
            <a:r>
              <a:rPr lang="ru-RU" sz="2000" dirty="0" err="1"/>
              <a:t>activity</a:t>
            </a:r>
            <a:r>
              <a:rPr lang="ru-RU" sz="2000" dirty="0"/>
              <a:t>  </a:t>
            </a:r>
            <a:r>
              <a:rPr lang="ru-RU" sz="2000" dirty="0" err="1"/>
              <a:t>of</a:t>
            </a:r>
            <a:r>
              <a:rPr lang="ru-RU" sz="2000" dirty="0"/>
              <a:t>  </a:t>
            </a:r>
            <a:r>
              <a:rPr lang="ru-RU" sz="2000" dirty="0" err="1"/>
              <a:t>any</a:t>
            </a:r>
            <a:r>
              <a:rPr lang="ru-RU" sz="2000" dirty="0"/>
              <a:t>  </a:t>
            </a:r>
            <a:r>
              <a:rPr lang="ru-RU" sz="2000" dirty="0" err="1"/>
              <a:t>government</a:t>
            </a:r>
            <a:r>
              <a:rPr lang="ru-RU" sz="2000" dirty="0"/>
              <a:t> </a:t>
            </a:r>
            <a:r>
              <a:rPr lang="ru-RU" sz="2000" dirty="0" err="1"/>
              <a:t>process</a:t>
            </a:r>
            <a:r>
              <a:rPr lang="ru-RU" sz="2000" dirty="0"/>
              <a:t> </a:t>
            </a:r>
            <a:r>
              <a:rPr lang="ru-RU" sz="2000" dirty="0" err="1"/>
              <a:t>which</a:t>
            </a:r>
            <a:r>
              <a:rPr lang="ru-RU" sz="2000" dirty="0"/>
              <a:t> </a:t>
            </a:r>
            <a:r>
              <a:rPr lang="ru-RU" sz="2000" dirty="0" err="1"/>
              <a:t>may</a:t>
            </a:r>
            <a:r>
              <a:rPr lang="ru-RU" sz="2000" dirty="0"/>
              <a:t> </a:t>
            </a:r>
            <a:r>
              <a:rPr lang="ru-RU" sz="2000" dirty="0" err="1"/>
              <a:t>take</a:t>
            </a:r>
            <a:r>
              <a:rPr lang="ru-RU" sz="2000" dirty="0"/>
              <a:t> </a:t>
            </a:r>
            <a:r>
              <a:rPr lang="ru-RU" sz="2000" dirty="0" err="1"/>
              <a:t>several</a:t>
            </a:r>
            <a:r>
              <a:rPr lang="ru-RU" sz="2000" dirty="0"/>
              <a:t> </a:t>
            </a:r>
            <a:r>
              <a:rPr lang="ru-RU" sz="2000" dirty="0" err="1"/>
              <a:t>years</a:t>
            </a:r>
            <a:r>
              <a:rPr lang="ru-RU" sz="2000" dirty="0"/>
              <a:t> </a:t>
            </a:r>
            <a:r>
              <a:rPr lang="ru-RU" sz="2000" dirty="0" err="1"/>
              <a:t>to</a:t>
            </a:r>
            <a:r>
              <a:rPr lang="ru-RU" sz="2000" dirty="0"/>
              <a:t> </a:t>
            </a:r>
            <a:r>
              <a:rPr lang="ru-RU" sz="2000" dirty="0" err="1"/>
              <a:t>reach</a:t>
            </a:r>
            <a:r>
              <a:rPr lang="ru-RU" sz="2000" dirty="0"/>
              <a:t> </a:t>
            </a:r>
            <a:r>
              <a:rPr lang="ru-RU" sz="2000" dirty="0" err="1"/>
              <a:t>this</a:t>
            </a:r>
            <a:r>
              <a:rPr lang="ru-RU" sz="2000" dirty="0"/>
              <a:t> </a:t>
            </a:r>
            <a:r>
              <a:rPr lang="ru-RU" sz="2000" dirty="0" err="1"/>
              <a:t>stage</a:t>
            </a:r>
            <a:r>
              <a:rPr lang="ru-RU" sz="2000" dirty="0"/>
              <a:t>.</a:t>
            </a:r>
            <a:endParaRPr lang="en-US" sz="500" dirty="0"/>
          </a:p>
        </p:txBody>
      </p:sp>
    </p:spTree>
    <p:extLst>
      <p:ext uri="{BB962C8B-B14F-4D97-AF65-F5344CB8AC3E}">
        <p14:creationId xmlns:p14="http://schemas.microsoft.com/office/powerpoint/2010/main" val="27234205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3125"/>
          </a:xfrm>
        </p:spPr>
        <p:txBody>
          <a:bodyPr/>
          <a:lstStyle/>
          <a:p>
            <a:r>
              <a:rPr lang="en-US" b="1" dirty="0">
                <a:solidFill>
                  <a:srgbClr val="0070C0"/>
                </a:solidFill>
              </a:rPr>
              <a:t>Legal Infrastructural Preparedness</a:t>
            </a:r>
          </a:p>
        </p:txBody>
      </p:sp>
      <p:sp>
        <p:nvSpPr>
          <p:cNvPr id="3" name="Content Placeholder 2"/>
          <p:cNvSpPr>
            <a:spLocks noGrp="1"/>
          </p:cNvSpPr>
          <p:nvPr>
            <p:ph idx="1"/>
          </p:nvPr>
        </p:nvSpPr>
        <p:spPr>
          <a:xfrm>
            <a:off x="838200" y="1238250"/>
            <a:ext cx="10515600" cy="4938713"/>
          </a:xfrm>
        </p:spPr>
        <p:txBody>
          <a:bodyPr>
            <a:noAutofit/>
          </a:bodyPr>
          <a:lstStyle/>
          <a:p>
            <a:pPr algn="just">
              <a:buFont typeface="Wingdings" pitchFamily="2" charset="2"/>
              <a:buChar char="§"/>
            </a:pPr>
            <a:r>
              <a:rPr lang="en-US" sz="2000" dirty="0"/>
              <a:t>Legal Infrastructural preparedness refers to the readiness of legal systems, frameworks, and institutions to respond effectively to various challenges and situations, such as emergencies, crises, or changes in societal needs.</a:t>
            </a:r>
            <a:endParaRPr lang="en-US" sz="2000" dirty="0" smtClean="0"/>
          </a:p>
          <a:p>
            <a:pPr algn="just">
              <a:buFont typeface="Wingdings" pitchFamily="2" charset="2"/>
              <a:buChar char="§"/>
            </a:pPr>
            <a:r>
              <a:rPr lang="ru-RU" sz="2000" dirty="0" err="1" smtClean="0"/>
              <a:t>The</a:t>
            </a:r>
            <a:r>
              <a:rPr lang="ru-RU" sz="2000" dirty="0" smtClean="0"/>
              <a:t> </a:t>
            </a:r>
            <a:r>
              <a:rPr lang="ru-RU" sz="2000" dirty="0" err="1">
                <a:solidFill>
                  <a:srgbClr val="C00000"/>
                </a:solidFill>
              </a:rPr>
              <a:t>manual</a:t>
            </a:r>
            <a:r>
              <a:rPr lang="ru-RU" sz="2000" dirty="0">
                <a:solidFill>
                  <a:srgbClr val="C00000"/>
                </a:solidFill>
              </a:rPr>
              <a:t> </a:t>
            </a:r>
            <a:r>
              <a:rPr lang="ru-RU" sz="2000" dirty="0" err="1">
                <a:solidFill>
                  <a:srgbClr val="C00000"/>
                </a:solidFill>
              </a:rPr>
              <a:t>processes</a:t>
            </a:r>
            <a:r>
              <a:rPr lang="ru-RU" sz="2000" dirty="0">
                <a:solidFill>
                  <a:srgbClr val="C00000"/>
                </a:solidFill>
              </a:rPr>
              <a:t> </a:t>
            </a:r>
            <a:r>
              <a:rPr lang="en-US" sz="2000" dirty="0">
                <a:solidFill>
                  <a:srgbClr val="C00000"/>
                </a:solidFill>
              </a:rPr>
              <a:t>and procedures </a:t>
            </a:r>
            <a:r>
              <a:rPr lang="ru-RU" sz="2000" dirty="0" err="1">
                <a:solidFill>
                  <a:srgbClr val="C00000"/>
                </a:solidFill>
              </a:rPr>
              <a:t>in</a:t>
            </a:r>
            <a:r>
              <a:rPr lang="ru-RU" sz="2000" dirty="0">
                <a:solidFill>
                  <a:srgbClr val="C00000"/>
                </a:solidFill>
              </a:rPr>
              <a:t> </a:t>
            </a:r>
            <a:r>
              <a:rPr lang="ru-RU" sz="2000" dirty="0" err="1">
                <a:solidFill>
                  <a:srgbClr val="C00000"/>
                </a:solidFill>
              </a:rPr>
              <a:t>government</a:t>
            </a:r>
            <a:r>
              <a:rPr lang="ru-RU" sz="2000" dirty="0">
                <a:solidFill>
                  <a:srgbClr val="C00000"/>
                </a:solidFill>
              </a:rPr>
              <a:t> </a:t>
            </a:r>
            <a:r>
              <a:rPr lang="ru-RU" sz="2000" dirty="0" err="1">
                <a:solidFill>
                  <a:srgbClr val="C00000"/>
                </a:solidFill>
              </a:rPr>
              <a:t>are</a:t>
            </a:r>
            <a:r>
              <a:rPr lang="ru-RU" sz="2000" dirty="0">
                <a:solidFill>
                  <a:srgbClr val="C00000"/>
                </a:solidFill>
              </a:rPr>
              <a:t> </a:t>
            </a:r>
            <a:r>
              <a:rPr lang="ru-RU" sz="2000" dirty="0" err="1">
                <a:solidFill>
                  <a:srgbClr val="C00000"/>
                </a:solidFill>
              </a:rPr>
              <a:t>usually</a:t>
            </a:r>
            <a:r>
              <a:rPr lang="ru-RU" sz="2000" dirty="0">
                <a:solidFill>
                  <a:srgbClr val="C00000"/>
                </a:solidFill>
              </a:rPr>
              <a:t> </a:t>
            </a:r>
            <a:r>
              <a:rPr lang="ru-RU" sz="2000" dirty="0" err="1">
                <a:solidFill>
                  <a:srgbClr val="C00000"/>
                </a:solidFill>
              </a:rPr>
              <a:t>obsolete</a:t>
            </a:r>
            <a:r>
              <a:rPr lang="ru-RU" sz="2000" dirty="0">
                <a:solidFill>
                  <a:srgbClr val="C00000"/>
                </a:solidFill>
              </a:rPr>
              <a:t>, </a:t>
            </a:r>
            <a:r>
              <a:rPr lang="ru-RU" sz="2000" dirty="0" err="1">
                <a:solidFill>
                  <a:srgbClr val="C00000"/>
                </a:solidFill>
              </a:rPr>
              <a:t>inefficient</a:t>
            </a:r>
            <a:r>
              <a:rPr lang="en-US" sz="2000" dirty="0">
                <a:solidFill>
                  <a:srgbClr val="C00000"/>
                </a:solidFill>
              </a:rPr>
              <a:t>,</a:t>
            </a:r>
            <a:r>
              <a:rPr lang="ru-RU" sz="2000" dirty="0">
                <a:solidFill>
                  <a:srgbClr val="C00000"/>
                </a:solidFill>
              </a:rPr>
              <a:t> </a:t>
            </a:r>
            <a:r>
              <a:rPr lang="ru-RU" sz="2000" dirty="0" err="1">
                <a:solidFill>
                  <a:srgbClr val="C00000"/>
                </a:solidFill>
              </a:rPr>
              <a:t>bureaucratic</a:t>
            </a:r>
            <a:r>
              <a:rPr lang="en-US" sz="2000" dirty="0">
                <a:solidFill>
                  <a:srgbClr val="C00000"/>
                </a:solidFill>
              </a:rPr>
              <a:t> and red tape based.</a:t>
            </a:r>
          </a:p>
          <a:p>
            <a:pPr algn="just">
              <a:buFont typeface="Wingdings" pitchFamily="2" charset="2"/>
              <a:buChar char="§"/>
            </a:pPr>
            <a:r>
              <a:rPr lang="ru-RU" sz="2000" dirty="0" err="1"/>
              <a:t>Though</a:t>
            </a:r>
            <a:r>
              <a:rPr lang="ru-RU" sz="2000" dirty="0"/>
              <a:t>  </a:t>
            </a:r>
            <a:r>
              <a:rPr lang="ru-RU" sz="2000" dirty="0" err="1"/>
              <a:t>they</a:t>
            </a:r>
            <a:r>
              <a:rPr lang="ru-RU" sz="2000" dirty="0"/>
              <a:t>   </a:t>
            </a:r>
            <a:r>
              <a:rPr lang="ru-RU" sz="2000" dirty="0" err="1"/>
              <a:t>have</a:t>
            </a:r>
            <a:r>
              <a:rPr lang="ru-RU" sz="2000" dirty="0"/>
              <a:t>  </a:t>
            </a:r>
            <a:r>
              <a:rPr lang="ru-RU" sz="2000" dirty="0" err="1"/>
              <a:t>transformed</a:t>
            </a:r>
            <a:r>
              <a:rPr lang="ru-RU" sz="2000" dirty="0"/>
              <a:t>  </a:t>
            </a:r>
            <a:r>
              <a:rPr lang="ru-RU" sz="2000" dirty="0" err="1"/>
              <a:t>to</a:t>
            </a:r>
            <a:r>
              <a:rPr lang="ru-RU" sz="2000" dirty="0"/>
              <a:t>   </a:t>
            </a:r>
            <a:r>
              <a:rPr lang="ru-RU" sz="2000" dirty="0" err="1"/>
              <a:t>computerization</a:t>
            </a:r>
            <a:r>
              <a:rPr lang="ru-RU" sz="2000" dirty="0"/>
              <a:t>  </a:t>
            </a:r>
            <a:r>
              <a:rPr lang="ru-RU" sz="2000" dirty="0" err="1"/>
              <a:t>practices</a:t>
            </a:r>
            <a:r>
              <a:rPr lang="ru-RU" sz="2000" dirty="0"/>
              <a:t>,   </a:t>
            </a:r>
            <a:r>
              <a:rPr lang="ru-RU" sz="2000" dirty="0" err="1"/>
              <a:t>they</a:t>
            </a:r>
            <a:r>
              <a:rPr lang="ru-RU" sz="2000" dirty="0"/>
              <a:t> </a:t>
            </a:r>
            <a:r>
              <a:rPr lang="ru-RU" sz="2000" dirty="0" err="1"/>
              <a:t>continue</a:t>
            </a:r>
            <a:r>
              <a:rPr lang="ru-RU" sz="2000" dirty="0"/>
              <a:t> </a:t>
            </a:r>
            <a:r>
              <a:rPr lang="ru-RU" sz="2000" dirty="0" err="1"/>
              <a:t>to</a:t>
            </a:r>
            <a:r>
              <a:rPr lang="ru-RU" sz="2000" dirty="0"/>
              <a:t> </a:t>
            </a:r>
            <a:r>
              <a:rPr lang="ru-RU" sz="2000" dirty="0" err="1"/>
              <a:t>have</a:t>
            </a:r>
            <a:r>
              <a:rPr lang="ru-RU" sz="2000" dirty="0"/>
              <a:t> </a:t>
            </a:r>
            <a:r>
              <a:rPr lang="ru-RU" sz="2000" dirty="0" err="1"/>
              <a:t>poor</a:t>
            </a:r>
            <a:r>
              <a:rPr lang="ru-RU" sz="2000" dirty="0"/>
              <a:t> </a:t>
            </a:r>
            <a:r>
              <a:rPr lang="ru-RU" sz="2000" dirty="0" err="1"/>
              <a:t>and</a:t>
            </a:r>
            <a:r>
              <a:rPr lang="ru-RU" sz="2000" dirty="0"/>
              <a:t> </a:t>
            </a:r>
            <a:r>
              <a:rPr lang="ru-RU" sz="2000" dirty="0" err="1"/>
              <a:t>inefficient</a:t>
            </a:r>
            <a:r>
              <a:rPr lang="ru-RU" sz="2000" dirty="0"/>
              <a:t> </a:t>
            </a:r>
            <a:r>
              <a:rPr lang="ru-RU" sz="2000" dirty="0" err="1"/>
              <a:t>performance</a:t>
            </a:r>
            <a:r>
              <a:rPr lang="ru-RU" sz="2000" dirty="0"/>
              <a:t> </a:t>
            </a:r>
            <a:r>
              <a:rPr lang="ru-RU" sz="2000" dirty="0" err="1"/>
              <a:t>and</a:t>
            </a:r>
            <a:r>
              <a:rPr lang="ru-RU" sz="2000" dirty="0"/>
              <a:t> </a:t>
            </a:r>
            <a:r>
              <a:rPr lang="ru-RU" sz="2000" dirty="0" err="1"/>
              <a:t>this</a:t>
            </a:r>
            <a:r>
              <a:rPr lang="ru-RU" sz="2000" dirty="0"/>
              <a:t> </a:t>
            </a:r>
            <a:r>
              <a:rPr lang="ru-RU" sz="2000" dirty="0" err="1"/>
              <a:t>is</a:t>
            </a:r>
            <a:r>
              <a:rPr lang="ru-RU" sz="2000" dirty="0"/>
              <a:t> </a:t>
            </a:r>
            <a:r>
              <a:rPr lang="ru-RU" sz="2000" dirty="0" err="1">
                <a:solidFill>
                  <a:srgbClr val="00B050"/>
                </a:solidFill>
              </a:rPr>
              <a:t>due</a:t>
            </a:r>
            <a:r>
              <a:rPr lang="ru-RU" sz="2000" dirty="0">
                <a:solidFill>
                  <a:srgbClr val="00B050"/>
                </a:solidFill>
              </a:rPr>
              <a:t> </a:t>
            </a:r>
            <a:r>
              <a:rPr lang="ru-RU" sz="2000" dirty="0" err="1">
                <a:solidFill>
                  <a:srgbClr val="00B050"/>
                </a:solidFill>
              </a:rPr>
              <a:t>to</a:t>
            </a:r>
            <a:r>
              <a:rPr lang="ru-RU" sz="2000" dirty="0">
                <a:solidFill>
                  <a:srgbClr val="00B050"/>
                </a:solidFill>
              </a:rPr>
              <a:t> </a:t>
            </a:r>
            <a:r>
              <a:rPr lang="ru-RU" sz="2000" dirty="0" err="1">
                <a:solidFill>
                  <a:srgbClr val="00B050"/>
                </a:solidFill>
              </a:rPr>
              <a:t>lack</a:t>
            </a:r>
            <a:r>
              <a:rPr lang="ru-RU" sz="2000" dirty="0">
                <a:solidFill>
                  <a:srgbClr val="00B050"/>
                </a:solidFill>
              </a:rPr>
              <a:t>   </a:t>
            </a:r>
            <a:r>
              <a:rPr lang="ru-RU" sz="2000" dirty="0" err="1">
                <a:solidFill>
                  <a:srgbClr val="00B050"/>
                </a:solidFill>
              </a:rPr>
              <a:t>of</a:t>
            </a:r>
            <a:r>
              <a:rPr lang="ru-RU" sz="2000" dirty="0">
                <a:solidFill>
                  <a:srgbClr val="00B050"/>
                </a:solidFill>
              </a:rPr>
              <a:t>   </a:t>
            </a:r>
            <a:r>
              <a:rPr lang="ru-RU" sz="2000" dirty="0" err="1">
                <a:solidFill>
                  <a:srgbClr val="00B050"/>
                </a:solidFill>
              </a:rPr>
              <a:t>administrative</a:t>
            </a:r>
            <a:r>
              <a:rPr lang="ru-RU" sz="2000" dirty="0">
                <a:solidFill>
                  <a:srgbClr val="00B050"/>
                </a:solidFill>
              </a:rPr>
              <a:t> </a:t>
            </a:r>
            <a:r>
              <a:rPr lang="ru-RU" sz="2000" dirty="0" err="1">
                <a:solidFill>
                  <a:srgbClr val="00B050"/>
                </a:solidFill>
              </a:rPr>
              <a:t>reforms</a:t>
            </a:r>
            <a:r>
              <a:rPr lang="ru-RU" sz="2000" dirty="0">
                <a:solidFill>
                  <a:srgbClr val="00B050"/>
                </a:solidFill>
              </a:rPr>
              <a:t>   </a:t>
            </a:r>
            <a:r>
              <a:rPr lang="ru-RU" sz="2000" dirty="0" err="1">
                <a:solidFill>
                  <a:srgbClr val="00B050"/>
                </a:solidFill>
              </a:rPr>
              <a:t>and</a:t>
            </a:r>
            <a:r>
              <a:rPr lang="ru-RU" sz="2000" dirty="0">
                <a:solidFill>
                  <a:srgbClr val="00B050"/>
                </a:solidFill>
              </a:rPr>
              <a:t>   </a:t>
            </a:r>
            <a:r>
              <a:rPr lang="ru-RU" sz="2000" dirty="0" err="1">
                <a:solidFill>
                  <a:srgbClr val="00B050"/>
                </a:solidFill>
              </a:rPr>
              <a:t>lack</a:t>
            </a:r>
            <a:r>
              <a:rPr lang="ru-RU" sz="2000" dirty="0">
                <a:solidFill>
                  <a:srgbClr val="00B050"/>
                </a:solidFill>
              </a:rPr>
              <a:t>    </a:t>
            </a:r>
            <a:r>
              <a:rPr lang="ru-RU" sz="2000" dirty="0" err="1">
                <a:solidFill>
                  <a:srgbClr val="00B050"/>
                </a:solidFill>
              </a:rPr>
              <a:t>of</a:t>
            </a:r>
            <a:r>
              <a:rPr lang="ru-RU" sz="2000" dirty="0">
                <a:solidFill>
                  <a:srgbClr val="00B050"/>
                </a:solidFill>
              </a:rPr>
              <a:t>   </a:t>
            </a:r>
            <a:r>
              <a:rPr lang="ru-RU" sz="2000" dirty="0" err="1">
                <a:solidFill>
                  <a:srgbClr val="00B050"/>
                </a:solidFill>
              </a:rPr>
              <a:t>business</a:t>
            </a:r>
            <a:r>
              <a:rPr lang="ru-RU" sz="2000" dirty="0">
                <a:solidFill>
                  <a:srgbClr val="00B050"/>
                </a:solidFill>
              </a:rPr>
              <a:t>   </a:t>
            </a:r>
            <a:r>
              <a:rPr lang="ru-RU" sz="2000" dirty="0" err="1">
                <a:solidFill>
                  <a:srgbClr val="00B050"/>
                </a:solidFill>
              </a:rPr>
              <a:t>process</a:t>
            </a:r>
            <a:r>
              <a:rPr lang="en-US" sz="2000" dirty="0">
                <a:solidFill>
                  <a:srgbClr val="00B050"/>
                </a:solidFill>
              </a:rPr>
              <a:t> </a:t>
            </a:r>
            <a:r>
              <a:rPr lang="ru-RU" sz="2000" dirty="0" err="1">
                <a:solidFill>
                  <a:srgbClr val="00B050"/>
                </a:solidFill>
              </a:rPr>
              <a:t>reengineering</a:t>
            </a:r>
            <a:r>
              <a:rPr lang="ru-RU" sz="2000" dirty="0">
                <a:solidFill>
                  <a:srgbClr val="00B050"/>
                </a:solidFill>
              </a:rPr>
              <a:t>. </a:t>
            </a:r>
            <a:endParaRPr lang="en-US" sz="2000" dirty="0">
              <a:solidFill>
                <a:srgbClr val="00B050"/>
              </a:solidFill>
            </a:endParaRPr>
          </a:p>
          <a:p>
            <a:pPr algn="just">
              <a:buFont typeface="Wingdings" pitchFamily="2" charset="2"/>
              <a:buChar char="§"/>
            </a:pPr>
            <a:r>
              <a:rPr lang="en-US" sz="2000" dirty="0"/>
              <a:t>It is also due to lack of </a:t>
            </a:r>
            <a:r>
              <a:rPr lang="ru-RU" sz="2000" dirty="0"/>
              <a:t> </a:t>
            </a:r>
            <a:r>
              <a:rPr lang="ru-RU" sz="2000" dirty="0" err="1"/>
              <a:t>requisite</a:t>
            </a:r>
            <a:r>
              <a:rPr lang="ru-RU" sz="2000" dirty="0"/>
              <a:t> </a:t>
            </a:r>
            <a:r>
              <a:rPr lang="ru-RU" sz="2000" dirty="0" err="1"/>
              <a:t>legislation</a:t>
            </a:r>
            <a:r>
              <a:rPr lang="ru-RU" sz="2000" dirty="0"/>
              <a:t> </a:t>
            </a:r>
            <a:r>
              <a:rPr lang="ru-RU" sz="2000" dirty="0" err="1"/>
              <a:t>and</a:t>
            </a:r>
            <a:r>
              <a:rPr lang="ru-RU" sz="2000" dirty="0"/>
              <a:t> </a:t>
            </a:r>
            <a:r>
              <a:rPr lang="ru-RU" sz="2000" dirty="0" err="1"/>
              <a:t>legal</a:t>
            </a:r>
            <a:r>
              <a:rPr lang="ru-RU" sz="2000" dirty="0"/>
              <a:t> </a:t>
            </a:r>
            <a:r>
              <a:rPr lang="ru-RU" sz="2000" dirty="0" err="1"/>
              <a:t>infrastructure</a:t>
            </a:r>
            <a:r>
              <a:rPr lang="ru-RU" sz="2000" dirty="0"/>
              <a:t> </a:t>
            </a:r>
            <a:r>
              <a:rPr lang="ru-RU" sz="2000" dirty="0" err="1"/>
              <a:t>to</a:t>
            </a:r>
            <a:r>
              <a:rPr lang="ru-RU" sz="2000" dirty="0"/>
              <a:t> </a:t>
            </a:r>
            <a:r>
              <a:rPr lang="ru-RU" sz="2000" dirty="0" err="1"/>
              <a:t>enable</a:t>
            </a:r>
            <a:r>
              <a:rPr lang="ru-RU" sz="2000" dirty="0"/>
              <a:t> </a:t>
            </a:r>
            <a:r>
              <a:rPr lang="ru-RU" sz="2000" dirty="0" err="1"/>
              <a:t>such</a:t>
            </a:r>
            <a:r>
              <a:rPr lang="ru-RU" sz="2000" dirty="0"/>
              <a:t> </a:t>
            </a:r>
            <a:r>
              <a:rPr lang="ru-RU" sz="2000" dirty="0" err="1"/>
              <a:t>reforms</a:t>
            </a:r>
            <a:r>
              <a:rPr lang="ru-RU" sz="2000" dirty="0"/>
              <a:t>  </a:t>
            </a:r>
            <a:r>
              <a:rPr lang="ru-RU" sz="2000" dirty="0" err="1"/>
              <a:t>or</a:t>
            </a:r>
            <a:r>
              <a:rPr lang="ru-RU" sz="2000" dirty="0"/>
              <a:t> </a:t>
            </a:r>
            <a:r>
              <a:rPr lang="ru-RU" sz="2000" dirty="0" err="1"/>
              <a:t>reengineering</a:t>
            </a:r>
            <a:r>
              <a:rPr lang="ru-RU" sz="2000" dirty="0"/>
              <a:t> </a:t>
            </a:r>
            <a:r>
              <a:rPr lang="ru-RU" sz="2000" dirty="0" err="1"/>
              <a:t>of</a:t>
            </a:r>
            <a:r>
              <a:rPr lang="ru-RU" sz="2000" dirty="0"/>
              <a:t> </a:t>
            </a:r>
            <a:r>
              <a:rPr lang="ru-RU" sz="2000" dirty="0" err="1"/>
              <a:t>the</a:t>
            </a:r>
            <a:r>
              <a:rPr lang="ru-RU" sz="2000" dirty="0"/>
              <a:t> </a:t>
            </a:r>
            <a:r>
              <a:rPr lang="ru-RU" sz="2000" dirty="0" err="1"/>
              <a:t>existing</a:t>
            </a:r>
            <a:r>
              <a:rPr lang="ru-RU" sz="2000" dirty="0"/>
              <a:t> </a:t>
            </a:r>
            <a:r>
              <a:rPr lang="ru-RU" sz="2000" dirty="0" err="1"/>
              <a:t>business</a:t>
            </a:r>
            <a:r>
              <a:rPr lang="ru-RU" sz="2000" dirty="0"/>
              <a:t> </a:t>
            </a:r>
            <a:r>
              <a:rPr lang="ru-RU" sz="2000" dirty="0" err="1"/>
              <a:t>practices</a:t>
            </a:r>
            <a:r>
              <a:rPr lang="ru-RU" sz="2000" dirty="0"/>
              <a:t>, </a:t>
            </a:r>
            <a:r>
              <a:rPr lang="ru-RU" sz="2000" dirty="0" err="1"/>
              <a:t>rules</a:t>
            </a:r>
            <a:r>
              <a:rPr lang="ru-RU" sz="2000" dirty="0"/>
              <a:t> </a:t>
            </a:r>
            <a:r>
              <a:rPr lang="ru-RU" sz="2000" dirty="0" err="1"/>
              <a:t>and</a:t>
            </a:r>
            <a:r>
              <a:rPr lang="ru-RU" sz="2000" dirty="0"/>
              <a:t> </a:t>
            </a:r>
            <a:r>
              <a:rPr lang="ru-RU" sz="2000" dirty="0" err="1"/>
              <a:t>regulations</a:t>
            </a:r>
            <a:r>
              <a:rPr lang="ru-RU" sz="2000" dirty="0"/>
              <a:t> </a:t>
            </a:r>
            <a:r>
              <a:rPr lang="ru-RU" sz="2000" dirty="0" err="1"/>
              <a:t>within</a:t>
            </a:r>
            <a:r>
              <a:rPr lang="ru-RU" sz="2000" dirty="0"/>
              <a:t> </a:t>
            </a:r>
            <a:r>
              <a:rPr lang="ru-RU" sz="2000" dirty="0" err="1"/>
              <a:t>the</a:t>
            </a:r>
            <a:r>
              <a:rPr lang="ru-RU" sz="2000" dirty="0"/>
              <a:t> </a:t>
            </a:r>
            <a:r>
              <a:rPr lang="ru-RU" sz="2000" dirty="0" err="1"/>
              <a:t>government</a:t>
            </a:r>
            <a:r>
              <a:rPr lang="ru-RU" sz="2000" dirty="0"/>
              <a:t> </a:t>
            </a:r>
            <a:r>
              <a:rPr lang="ru-RU" sz="2000" dirty="0" err="1"/>
              <a:t>at</a:t>
            </a:r>
            <a:r>
              <a:rPr lang="ru-RU" sz="2000" dirty="0"/>
              <a:t> </a:t>
            </a:r>
            <a:r>
              <a:rPr lang="ru-RU" sz="2000" dirty="0" err="1"/>
              <a:t>various</a:t>
            </a:r>
            <a:r>
              <a:rPr lang="ru-RU" sz="2000" dirty="0"/>
              <a:t> </a:t>
            </a:r>
            <a:r>
              <a:rPr lang="ru-RU" sz="2000" dirty="0" err="1"/>
              <a:t>levels</a:t>
            </a:r>
            <a:r>
              <a:rPr lang="ru-RU" sz="2000" dirty="0"/>
              <a:t>.</a:t>
            </a:r>
            <a:endParaRPr lang="en-US" sz="2000" dirty="0"/>
          </a:p>
          <a:p>
            <a:pPr algn="just">
              <a:buFont typeface="Wingdings" pitchFamily="2" charset="2"/>
              <a:buChar char="§"/>
            </a:pPr>
            <a:r>
              <a:rPr lang="ru-RU" sz="2000" dirty="0" err="1"/>
              <a:t>This</a:t>
            </a:r>
            <a:r>
              <a:rPr lang="ru-RU" sz="2000" dirty="0"/>
              <a:t> </a:t>
            </a:r>
            <a:r>
              <a:rPr lang="en-US" sz="2000" dirty="0"/>
              <a:t>problem </a:t>
            </a:r>
            <a:r>
              <a:rPr lang="ru-RU" sz="2000" dirty="0" err="1"/>
              <a:t>seems</a:t>
            </a:r>
            <a:r>
              <a:rPr lang="ru-RU" sz="2000" dirty="0"/>
              <a:t> </a:t>
            </a:r>
            <a:r>
              <a:rPr lang="ru-RU" sz="2000" dirty="0" err="1"/>
              <a:t>to</a:t>
            </a:r>
            <a:r>
              <a:rPr lang="ru-RU" sz="2000" dirty="0"/>
              <a:t> </a:t>
            </a:r>
            <a:r>
              <a:rPr lang="ru-RU" sz="2000" dirty="0" err="1"/>
              <a:t>be</a:t>
            </a:r>
            <a:r>
              <a:rPr lang="ru-RU" sz="2000" dirty="0"/>
              <a:t> </a:t>
            </a:r>
            <a:r>
              <a:rPr lang="ru-RU" sz="2000" dirty="0" err="1"/>
              <a:t>accentuated</a:t>
            </a:r>
            <a:r>
              <a:rPr lang="ru-RU" sz="2000" dirty="0"/>
              <a:t> </a:t>
            </a:r>
            <a:r>
              <a:rPr lang="ru-RU" sz="2000" dirty="0" err="1"/>
              <a:t>in</a:t>
            </a:r>
            <a:r>
              <a:rPr lang="ru-RU" sz="2000" dirty="0"/>
              <a:t> </a:t>
            </a:r>
            <a:r>
              <a:rPr lang="ru-RU" sz="2000" dirty="0" err="1"/>
              <a:t>developing</a:t>
            </a:r>
            <a:r>
              <a:rPr lang="ru-RU" sz="2000" dirty="0"/>
              <a:t> </a:t>
            </a:r>
            <a:r>
              <a:rPr lang="ru-RU" sz="2000" dirty="0" err="1"/>
              <a:t>countries</a:t>
            </a:r>
            <a:r>
              <a:rPr lang="ru-RU" sz="2000" dirty="0"/>
              <a:t> </a:t>
            </a:r>
            <a:r>
              <a:rPr lang="ru-RU" sz="2000" dirty="0" err="1"/>
              <a:t>while</a:t>
            </a:r>
            <a:r>
              <a:rPr lang="ru-RU" sz="2000" dirty="0"/>
              <a:t> </a:t>
            </a:r>
            <a:r>
              <a:rPr lang="ru-RU" sz="2000" dirty="0" err="1"/>
              <a:t>developed</a:t>
            </a:r>
            <a:r>
              <a:rPr lang="ru-RU" sz="2000" dirty="0"/>
              <a:t> </a:t>
            </a:r>
            <a:r>
              <a:rPr lang="ru-RU" sz="2000" dirty="0" err="1"/>
              <a:t>countries</a:t>
            </a:r>
            <a:r>
              <a:rPr lang="ru-RU" sz="2000" dirty="0"/>
              <a:t>  </a:t>
            </a:r>
            <a:r>
              <a:rPr lang="ru-RU" sz="2000" dirty="0" err="1"/>
              <a:t>have</a:t>
            </a:r>
            <a:r>
              <a:rPr lang="ru-RU" sz="2000" dirty="0"/>
              <a:t> </a:t>
            </a:r>
            <a:r>
              <a:rPr lang="ru-RU" sz="2000" dirty="0" err="1"/>
              <a:t>been</a:t>
            </a:r>
            <a:r>
              <a:rPr lang="ru-RU" sz="2000" dirty="0"/>
              <a:t> </a:t>
            </a:r>
            <a:r>
              <a:rPr lang="ru-RU" sz="2000" dirty="0" err="1"/>
              <a:t>significantly</a:t>
            </a:r>
            <a:r>
              <a:rPr lang="ru-RU" sz="2000" dirty="0"/>
              <a:t>   </a:t>
            </a:r>
            <a:r>
              <a:rPr lang="ru-RU" sz="2000" dirty="0" err="1"/>
              <a:t>successful</a:t>
            </a:r>
            <a:r>
              <a:rPr lang="ru-RU" sz="2000" dirty="0"/>
              <a:t>  </a:t>
            </a:r>
            <a:r>
              <a:rPr lang="ru-RU" sz="2000" dirty="0" err="1"/>
              <a:t>in</a:t>
            </a:r>
            <a:r>
              <a:rPr lang="ru-RU" sz="2000" dirty="0"/>
              <a:t> </a:t>
            </a:r>
            <a:r>
              <a:rPr lang="ru-RU" sz="2000" dirty="0" err="1"/>
              <a:t>administrative</a:t>
            </a:r>
            <a:r>
              <a:rPr lang="ru-RU" sz="2000" dirty="0"/>
              <a:t>  </a:t>
            </a:r>
            <a:r>
              <a:rPr lang="ru-RU" sz="2000" dirty="0" err="1"/>
              <a:t>reforms</a:t>
            </a:r>
            <a:r>
              <a:rPr lang="ru-RU" sz="2000" dirty="0"/>
              <a:t> </a:t>
            </a:r>
            <a:r>
              <a:rPr lang="ru-RU" sz="2000" dirty="0" err="1"/>
              <a:t>and</a:t>
            </a:r>
            <a:r>
              <a:rPr lang="ru-RU" sz="2000" dirty="0"/>
              <a:t> </a:t>
            </a:r>
            <a:r>
              <a:rPr lang="ru-RU" sz="2000" dirty="0" err="1"/>
              <a:t>business</a:t>
            </a:r>
            <a:r>
              <a:rPr lang="ru-RU" sz="2000" dirty="0"/>
              <a:t> </a:t>
            </a:r>
            <a:r>
              <a:rPr lang="ru-RU" sz="2000" dirty="0" err="1"/>
              <a:t>reengineering</a:t>
            </a:r>
            <a:r>
              <a:rPr lang="ru-RU" sz="2000" dirty="0"/>
              <a:t>.</a:t>
            </a:r>
            <a:endParaRPr lang="en-US" sz="2000" dirty="0"/>
          </a:p>
          <a:p>
            <a:pPr marL="0" indent="0" algn="just">
              <a:buNone/>
            </a:pPr>
            <a:endParaRPr lang="en-US" sz="2000" dirty="0"/>
          </a:p>
        </p:txBody>
      </p:sp>
    </p:spTree>
    <p:extLst>
      <p:ext uri="{BB962C8B-B14F-4D97-AF65-F5344CB8AC3E}">
        <p14:creationId xmlns:p14="http://schemas.microsoft.com/office/powerpoint/2010/main" val="362148231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Legal Infrastructural </a:t>
            </a:r>
            <a:r>
              <a:rPr lang="en-US" b="1" dirty="0" smtClean="0">
                <a:solidFill>
                  <a:srgbClr val="0070C0"/>
                </a:solidFill>
              </a:rPr>
              <a:t>Preparedness…</a:t>
            </a:r>
            <a:endParaRPr lang="en-US" dirty="0">
              <a:solidFill>
                <a:srgbClr val="0070C0"/>
              </a:solidFill>
            </a:endParaRPr>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
            </a:pPr>
            <a:r>
              <a:rPr lang="ru-RU" dirty="0" err="1"/>
              <a:t>he</a:t>
            </a:r>
            <a:r>
              <a:rPr lang="ru-RU" dirty="0"/>
              <a:t>  </a:t>
            </a:r>
            <a:r>
              <a:rPr lang="ru-RU" dirty="0" err="1"/>
              <a:t>fundamental</a:t>
            </a:r>
            <a:r>
              <a:rPr lang="ru-RU" dirty="0"/>
              <a:t>    </a:t>
            </a:r>
            <a:r>
              <a:rPr lang="ru-RU" dirty="0" err="1"/>
              <a:t>question</a:t>
            </a:r>
            <a:r>
              <a:rPr lang="ru-RU" dirty="0"/>
              <a:t>  </a:t>
            </a:r>
            <a:r>
              <a:rPr lang="ru-RU" dirty="0" err="1"/>
              <a:t>that</a:t>
            </a:r>
            <a:r>
              <a:rPr lang="ru-RU" dirty="0"/>
              <a:t>  </a:t>
            </a:r>
            <a:r>
              <a:rPr lang="ru-RU" dirty="0" err="1"/>
              <a:t>arises</a:t>
            </a:r>
            <a:r>
              <a:rPr lang="ru-RU" dirty="0"/>
              <a:t>  </a:t>
            </a:r>
            <a:r>
              <a:rPr lang="ru-RU" dirty="0" err="1"/>
              <a:t>here</a:t>
            </a:r>
            <a:r>
              <a:rPr lang="ru-RU" dirty="0"/>
              <a:t>  </a:t>
            </a:r>
            <a:r>
              <a:rPr lang="ru-RU" dirty="0" err="1"/>
              <a:t>is</a:t>
            </a:r>
            <a:r>
              <a:rPr lang="ru-RU" dirty="0"/>
              <a:t>  “ </a:t>
            </a:r>
            <a:r>
              <a:rPr lang="ru-RU" dirty="0" err="1">
                <a:solidFill>
                  <a:srgbClr val="C00000"/>
                </a:solidFill>
              </a:rPr>
              <a:t>Are</a:t>
            </a:r>
            <a:r>
              <a:rPr lang="ru-RU" dirty="0">
                <a:solidFill>
                  <a:srgbClr val="C00000"/>
                </a:solidFill>
              </a:rPr>
              <a:t>  </a:t>
            </a:r>
            <a:r>
              <a:rPr lang="ru-RU" dirty="0" err="1">
                <a:solidFill>
                  <a:srgbClr val="C00000"/>
                </a:solidFill>
              </a:rPr>
              <a:t>the</a:t>
            </a:r>
            <a:r>
              <a:rPr lang="ru-RU" dirty="0">
                <a:solidFill>
                  <a:srgbClr val="C00000"/>
                </a:solidFill>
              </a:rPr>
              <a:t>  </a:t>
            </a:r>
            <a:r>
              <a:rPr lang="ru-RU" dirty="0" err="1">
                <a:solidFill>
                  <a:srgbClr val="C00000"/>
                </a:solidFill>
              </a:rPr>
              <a:t>laws</a:t>
            </a:r>
            <a:r>
              <a:rPr lang="ru-RU" dirty="0">
                <a:solidFill>
                  <a:srgbClr val="C00000"/>
                </a:solidFill>
              </a:rPr>
              <a:t>  </a:t>
            </a:r>
            <a:r>
              <a:rPr lang="ru-RU" dirty="0" err="1">
                <a:solidFill>
                  <a:srgbClr val="C00000"/>
                </a:solidFill>
              </a:rPr>
              <a:t>and</a:t>
            </a:r>
            <a:r>
              <a:rPr lang="ru-RU" dirty="0">
                <a:solidFill>
                  <a:srgbClr val="C00000"/>
                </a:solidFill>
              </a:rPr>
              <a:t> </a:t>
            </a:r>
            <a:r>
              <a:rPr lang="ru-RU" dirty="0" err="1">
                <a:solidFill>
                  <a:srgbClr val="C00000"/>
                </a:solidFill>
              </a:rPr>
              <a:t>regulations</a:t>
            </a:r>
            <a:r>
              <a:rPr lang="ru-RU" dirty="0">
                <a:solidFill>
                  <a:srgbClr val="C00000"/>
                </a:solidFill>
              </a:rPr>
              <a:t>  </a:t>
            </a:r>
            <a:r>
              <a:rPr lang="ru-RU" dirty="0" err="1">
                <a:solidFill>
                  <a:srgbClr val="C00000"/>
                </a:solidFill>
              </a:rPr>
              <a:t>required</a:t>
            </a:r>
            <a:r>
              <a:rPr lang="ru-RU" dirty="0">
                <a:solidFill>
                  <a:srgbClr val="C00000"/>
                </a:solidFill>
              </a:rPr>
              <a:t>   </a:t>
            </a:r>
            <a:r>
              <a:rPr lang="ru-RU" dirty="0" err="1">
                <a:solidFill>
                  <a:srgbClr val="C00000"/>
                </a:solidFill>
              </a:rPr>
              <a:t>to</a:t>
            </a:r>
            <a:r>
              <a:rPr lang="ru-RU" dirty="0">
                <a:solidFill>
                  <a:srgbClr val="C00000"/>
                </a:solidFill>
              </a:rPr>
              <a:t>  </a:t>
            </a:r>
            <a:r>
              <a:rPr lang="ru-RU" dirty="0" err="1">
                <a:solidFill>
                  <a:srgbClr val="C00000"/>
                </a:solidFill>
              </a:rPr>
              <a:t>permit</a:t>
            </a:r>
            <a:r>
              <a:rPr lang="ru-RU" dirty="0">
                <a:solidFill>
                  <a:srgbClr val="C00000"/>
                </a:solidFill>
              </a:rPr>
              <a:t>  </a:t>
            </a:r>
            <a:r>
              <a:rPr lang="ru-RU" dirty="0" err="1">
                <a:solidFill>
                  <a:srgbClr val="C00000"/>
                </a:solidFill>
              </a:rPr>
              <a:t>and</a:t>
            </a:r>
            <a:r>
              <a:rPr lang="ru-RU" dirty="0">
                <a:solidFill>
                  <a:srgbClr val="C00000"/>
                </a:solidFill>
              </a:rPr>
              <a:t>  </a:t>
            </a:r>
            <a:r>
              <a:rPr lang="ru-RU" dirty="0" err="1">
                <a:solidFill>
                  <a:srgbClr val="C00000"/>
                </a:solidFill>
              </a:rPr>
              <a:t>support</a:t>
            </a:r>
            <a:r>
              <a:rPr lang="ru-RU" dirty="0">
                <a:solidFill>
                  <a:srgbClr val="C00000"/>
                </a:solidFill>
              </a:rPr>
              <a:t>   </a:t>
            </a:r>
            <a:r>
              <a:rPr lang="ru-RU" dirty="0" err="1">
                <a:solidFill>
                  <a:srgbClr val="C00000"/>
                </a:solidFill>
              </a:rPr>
              <a:t>the</a:t>
            </a:r>
            <a:r>
              <a:rPr lang="ru-RU" dirty="0">
                <a:solidFill>
                  <a:srgbClr val="C00000"/>
                </a:solidFill>
              </a:rPr>
              <a:t>  </a:t>
            </a:r>
            <a:r>
              <a:rPr lang="ru-RU" dirty="0" err="1">
                <a:solidFill>
                  <a:srgbClr val="C00000"/>
                </a:solidFill>
              </a:rPr>
              <a:t>move</a:t>
            </a:r>
            <a:r>
              <a:rPr lang="ru-RU" dirty="0">
                <a:solidFill>
                  <a:srgbClr val="C00000"/>
                </a:solidFill>
              </a:rPr>
              <a:t>  </a:t>
            </a:r>
            <a:r>
              <a:rPr lang="ru-RU" dirty="0" err="1">
                <a:solidFill>
                  <a:srgbClr val="C00000"/>
                </a:solidFill>
              </a:rPr>
              <a:t>towards</a:t>
            </a:r>
            <a:r>
              <a:rPr lang="ru-RU" dirty="0">
                <a:solidFill>
                  <a:srgbClr val="C00000"/>
                </a:solidFill>
              </a:rPr>
              <a:t>  e-</a:t>
            </a:r>
            <a:r>
              <a:rPr lang="ru-RU" dirty="0" err="1">
                <a:solidFill>
                  <a:srgbClr val="C00000"/>
                </a:solidFill>
              </a:rPr>
              <a:t>governance</a:t>
            </a:r>
            <a:r>
              <a:rPr lang="ru-RU" dirty="0">
                <a:solidFill>
                  <a:srgbClr val="C00000"/>
                </a:solidFill>
              </a:rPr>
              <a:t> </a:t>
            </a:r>
            <a:r>
              <a:rPr lang="ru-RU" dirty="0" err="1">
                <a:solidFill>
                  <a:srgbClr val="C00000"/>
                </a:solidFill>
              </a:rPr>
              <a:t>initiatives</a:t>
            </a:r>
            <a:r>
              <a:rPr lang="ru-RU" dirty="0">
                <a:solidFill>
                  <a:srgbClr val="C00000"/>
                </a:solidFill>
              </a:rPr>
              <a:t> </a:t>
            </a:r>
            <a:r>
              <a:rPr lang="ru-RU" dirty="0" err="1">
                <a:solidFill>
                  <a:srgbClr val="C00000"/>
                </a:solidFill>
              </a:rPr>
              <a:t>in</a:t>
            </a:r>
            <a:r>
              <a:rPr lang="ru-RU" dirty="0">
                <a:solidFill>
                  <a:srgbClr val="C00000"/>
                </a:solidFill>
              </a:rPr>
              <a:t> </a:t>
            </a:r>
            <a:r>
              <a:rPr lang="ru-RU" dirty="0" err="1">
                <a:solidFill>
                  <a:srgbClr val="C00000"/>
                </a:solidFill>
              </a:rPr>
              <a:t>place</a:t>
            </a:r>
            <a:r>
              <a:rPr lang="ru-RU" dirty="0">
                <a:solidFill>
                  <a:srgbClr val="C00000"/>
                </a:solidFill>
              </a:rPr>
              <a:t>?</a:t>
            </a:r>
            <a:r>
              <a:rPr lang="en-US" dirty="0">
                <a:solidFill>
                  <a:srgbClr val="C00000"/>
                </a:solidFill>
              </a:rPr>
              <a:t> </a:t>
            </a:r>
            <a:r>
              <a:rPr lang="en-US" dirty="0"/>
              <a:t>“</a:t>
            </a:r>
          </a:p>
          <a:p>
            <a:pPr lvl="1" algn="just">
              <a:buFont typeface="Wingdings" pitchFamily="2" charset="2"/>
              <a:buChar char="§"/>
            </a:pPr>
            <a:r>
              <a:rPr lang="ru-RU" dirty="0" err="1"/>
              <a:t>E.g</a:t>
            </a:r>
            <a:r>
              <a:rPr lang="ru-RU" dirty="0"/>
              <a:t> </a:t>
            </a:r>
            <a:r>
              <a:rPr lang="ru-RU" dirty="0" err="1"/>
              <a:t>Digital</a:t>
            </a:r>
            <a:r>
              <a:rPr lang="ru-RU" dirty="0"/>
              <a:t> </a:t>
            </a:r>
            <a:r>
              <a:rPr lang="ru-RU" dirty="0" err="1"/>
              <a:t>Signature</a:t>
            </a:r>
            <a:r>
              <a:rPr lang="ru-RU" dirty="0"/>
              <a:t> </a:t>
            </a:r>
            <a:r>
              <a:rPr lang="ru-RU" dirty="0" err="1"/>
              <a:t>Act</a:t>
            </a:r>
            <a:r>
              <a:rPr lang="en-US" dirty="0"/>
              <a:t> are not yet accepted in many countries which lack the appropriate law for this.</a:t>
            </a:r>
          </a:p>
          <a:p>
            <a:pPr algn="just"/>
            <a:r>
              <a:rPr lang="en-US" dirty="0" smtClean="0"/>
              <a:t>The </a:t>
            </a:r>
            <a:r>
              <a:rPr lang="en-US" dirty="0"/>
              <a:t>Information technology Act (IT Act) essentially provides an appropriate legal infrastructure for the use of digital signature.</a:t>
            </a:r>
          </a:p>
          <a:p>
            <a:pPr algn="just"/>
            <a:r>
              <a:rPr lang="en-US" dirty="0"/>
              <a:t>The public key infrastructure is being given the legal sanction and support before it can be implemented.</a:t>
            </a:r>
          </a:p>
          <a:p>
            <a:pPr algn="just"/>
            <a:r>
              <a:rPr lang="en-US" dirty="0"/>
              <a:t>Apart from these statutory laws pertaining to IT, individual legal acts and legislation may be required for enabling smooth and successful implementation of specific e-governance(e.g. legal acceptance of a computer printed document) </a:t>
            </a:r>
          </a:p>
        </p:txBody>
      </p:sp>
    </p:spTree>
    <p:extLst>
      <p:ext uri="{BB962C8B-B14F-4D97-AF65-F5344CB8AC3E}">
        <p14:creationId xmlns:p14="http://schemas.microsoft.com/office/powerpoint/2010/main" val="180888199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solidFill>
                  <a:srgbClr val="0070C0"/>
                </a:solidFill>
              </a:rPr>
              <a:t>E-</a:t>
            </a:r>
            <a:r>
              <a:rPr lang="ru-RU" dirty="0" err="1">
                <a:solidFill>
                  <a:srgbClr val="0070C0"/>
                </a:solidFill>
              </a:rPr>
              <a:t>Readiness</a:t>
            </a:r>
            <a:r>
              <a:rPr lang="ru-RU" dirty="0">
                <a:solidFill>
                  <a:srgbClr val="0070C0"/>
                </a:solidFill>
              </a:rPr>
              <a:t>: </a:t>
            </a:r>
            <a:r>
              <a:rPr lang="ru-RU" dirty="0" err="1">
                <a:solidFill>
                  <a:srgbClr val="0070C0"/>
                </a:solidFill>
              </a:rPr>
              <a:t>Institutional</a:t>
            </a:r>
            <a:r>
              <a:rPr lang="ru-RU" dirty="0">
                <a:solidFill>
                  <a:srgbClr val="0070C0"/>
                </a:solidFill>
              </a:rPr>
              <a:t> </a:t>
            </a:r>
            <a:r>
              <a:rPr lang="ru-RU" dirty="0" err="1">
                <a:solidFill>
                  <a:srgbClr val="0070C0"/>
                </a:solidFill>
              </a:rPr>
              <a:t>Infrastructur</a:t>
            </a:r>
            <a:r>
              <a:rPr lang="en-US" dirty="0">
                <a:solidFill>
                  <a:srgbClr val="0070C0"/>
                </a:solidFill>
              </a:rPr>
              <a:t>al Preparedness</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
            </a:pPr>
            <a:r>
              <a:rPr lang="ru-RU" dirty="0" err="1"/>
              <a:t>For</a:t>
            </a:r>
            <a:r>
              <a:rPr lang="ru-RU" dirty="0"/>
              <a:t> </a:t>
            </a:r>
            <a:r>
              <a:rPr lang="ru-RU" dirty="0" err="1"/>
              <a:t>any</a:t>
            </a:r>
            <a:r>
              <a:rPr lang="ru-RU" dirty="0"/>
              <a:t> </a:t>
            </a:r>
            <a:r>
              <a:rPr lang="ru-RU" dirty="0" err="1"/>
              <a:t>government</a:t>
            </a:r>
            <a:r>
              <a:rPr lang="ru-RU" dirty="0"/>
              <a:t>  </a:t>
            </a:r>
            <a:r>
              <a:rPr lang="ru-RU" dirty="0" err="1">
                <a:solidFill>
                  <a:srgbClr val="00B050"/>
                </a:solidFill>
              </a:rPr>
              <a:t>to</a:t>
            </a:r>
            <a:r>
              <a:rPr lang="ru-RU" dirty="0">
                <a:solidFill>
                  <a:srgbClr val="00B050"/>
                </a:solidFill>
              </a:rPr>
              <a:t> </a:t>
            </a:r>
            <a:r>
              <a:rPr lang="ru-RU" dirty="0" err="1">
                <a:solidFill>
                  <a:srgbClr val="00B050"/>
                </a:solidFill>
              </a:rPr>
              <a:t>implement</a:t>
            </a:r>
            <a:r>
              <a:rPr lang="ru-RU" dirty="0">
                <a:solidFill>
                  <a:srgbClr val="00B050"/>
                </a:solidFill>
              </a:rPr>
              <a:t> a </a:t>
            </a:r>
            <a:r>
              <a:rPr lang="ru-RU" dirty="0" err="1">
                <a:solidFill>
                  <a:srgbClr val="00B050"/>
                </a:solidFill>
              </a:rPr>
              <a:t>successful</a:t>
            </a:r>
            <a:r>
              <a:rPr lang="ru-RU" dirty="0">
                <a:solidFill>
                  <a:srgbClr val="00B050"/>
                </a:solidFill>
              </a:rPr>
              <a:t>  e-</a:t>
            </a:r>
            <a:r>
              <a:rPr lang="ru-RU" dirty="0" err="1">
                <a:solidFill>
                  <a:srgbClr val="00B050"/>
                </a:solidFill>
              </a:rPr>
              <a:t>governance</a:t>
            </a:r>
            <a:r>
              <a:rPr lang="ru-RU" dirty="0">
                <a:solidFill>
                  <a:srgbClr val="00B050"/>
                </a:solidFill>
              </a:rPr>
              <a:t> </a:t>
            </a:r>
            <a:r>
              <a:rPr lang="ru-RU" dirty="0" err="1">
                <a:solidFill>
                  <a:srgbClr val="00B050"/>
                </a:solidFill>
              </a:rPr>
              <a:t>project</a:t>
            </a:r>
            <a:r>
              <a:rPr lang="ru-RU" dirty="0"/>
              <a:t>, </a:t>
            </a:r>
            <a:r>
              <a:rPr lang="ru-RU" dirty="0" err="1"/>
              <a:t>the</a:t>
            </a:r>
            <a:r>
              <a:rPr lang="ru-RU" dirty="0"/>
              <a:t> </a:t>
            </a:r>
            <a:r>
              <a:rPr lang="ru-RU" dirty="0" err="1"/>
              <a:t>required</a:t>
            </a:r>
            <a:r>
              <a:rPr lang="ru-RU" dirty="0"/>
              <a:t> </a:t>
            </a:r>
            <a:r>
              <a:rPr lang="ru-RU" dirty="0" err="1">
                <a:solidFill>
                  <a:srgbClr val="FF0000"/>
                </a:solidFill>
              </a:rPr>
              <a:t>institutional</a:t>
            </a:r>
            <a:r>
              <a:rPr lang="ru-RU" dirty="0">
                <a:solidFill>
                  <a:srgbClr val="FF0000"/>
                </a:solidFill>
              </a:rPr>
              <a:t> </a:t>
            </a:r>
            <a:r>
              <a:rPr lang="ru-RU" dirty="0" err="1">
                <a:solidFill>
                  <a:srgbClr val="FF0000"/>
                </a:solidFill>
              </a:rPr>
              <a:t>infrastructure</a:t>
            </a:r>
            <a:r>
              <a:rPr lang="ru-RU" dirty="0">
                <a:solidFill>
                  <a:srgbClr val="FF0000"/>
                </a:solidFill>
              </a:rPr>
              <a:t> </a:t>
            </a:r>
            <a:r>
              <a:rPr lang="ru-RU" dirty="0" err="1"/>
              <a:t>must</a:t>
            </a:r>
            <a:r>
              <a:rPr lang="ru-RU" dirty="0"/>
              <a:t> </a:t>
            </a:r>
            <a:r>
              <a:rPr lang="ru-RU" dirty="0" err="1"/>
              <a:t>be</a:t>
            </a:r>
            <a:r>
              <a:rPr lang="ru-RU" dirty="0"/>
              <a:t> </a:t>
            </a:r>
            <a:r>
              <a:rPr lang="ru-RU" dirty="0" err="1"/>
              <a:t>in</a:t>
            </a:r>
            <a:r>
              <a:rPr lang="ru-RU" dirty="0"/>
              <a:t> </a:t>
            </a:r>
            <a:r>
              <a:rPr lang="ru-RU" dirty="0" err="1"/>
              <a:t>place</a:t>
            </a:r>
            <a:r>
              <a:rPr lang="ru-RU" dirty="0"/>
              <a:t> </a:t>
            </a:r>
            <a:r>
              <a:rPr lang="ru-RU" dirty="0" err="1"/>
              <a:t>which</a:t>
            </a:r>
            <a:r>
              <a:rPr lang="ru-RU" dirty="0"/>
              <a:t>   </a:t>
            </a:r>
            <a:r>
              <a:rPr lang="ru-RU" dirty="0" err="1"/>
              <a:t>most</a:t>
            </a:r>
            <a:r>
              <a:rPr lang="ru-RU" dirty="0"/>
              <a:t> </a:t>
            </a:r>
            <a:r>
              <a:rPr lang="ru-RU" dirty="0" err="1"/>
              <a:t>of</a:t>
            </a:r>
            <a:r>
              <a:rPr lang="ru-RU" dirty="0"/>
              <a:t> </a:t>
            </a:r>
            <a:r>
              <a:rPr lang="ru-RU" dirty="0" err="1"/>
              <a:t>the</a:t>
            </a:r>
            <a:r>
              <a:rPr lang="ru-RU" dirty="0"/>
              <a:t> </a:t>
            </a:r>
            <a:r>
              <a:rPr lang="ru-RU" dirty="0" err="1"/>
              <a:t>government</a:t>
            </a:r>
            <a:r>
              <a:rPr lang="ru-RU" dirty="0"/>
              <a:t> </a:t>
            </a:r>
            <a:r>
              <a:rPr lang="ru-RU" dirty="0" err="1"/>
              <a:t>lack</a:t>
            </a:r>
            <a:r>
              <a:rPr lang="ru-RU" dirty="0"/>
              <a:t>.</a:t>
            </a:r>
            <a:endParaRPr lang="en-US" dirty="0"/>
          </a:p>
          <a:p>
            <a:pPr algn="just">
              <a:buFont typeface="Wingdings" pitchFamily="2" charset="2"/>
              <a:buChar char="§"/>
            </a:pPr>
            <a:r>
              <a:rPr lang="ru-RU" dirty="0" err="1"/>
              <a:t>The</a:t>
            </a:r>
            <a:r>
              <a:rPr lang="ru-RU" dirty="0"/>
              <a:t> </a:t>
            </a:r>
            <a:r>
              <a:rPr lang="ru-RU" dirty="0" err="1"/>
              <a:t>government</a:t>
            </a:r>
            <a:r>
              <a:rPr lang="ru-RU" dirty="0"/>
              <a:t> </a:t>
            </a:r>
            <a:r>
              <a:rPr lang="ru-RU" dirty="0" err="1"/>
              <a:t>body</a:t>
            </a:r>
            <a:r>
              <a:rPr lang="ru-RU" dirty="0"/>
              <a:t> </a:t>
            </a:r>
            <a:r>
              <a:rPr lang="ru-RU" dirty="0" err="1"/>
              <a:t>has</a:t>
            </a:r>
            <a:r>
              <a:rPr lang="ru-RU" dirty="0"/>
              <a:t> </a:t>
            </a:r>
            <a:r>
              <a:rPr lang="ru-RU" dirty="0" err="1"/>
              <a:t>to</a:t>
            </a:r>
            <a:r>
              <a:rPr lang="ru-RU" dirty="0"/>
              <a:t> </a:t>
            </a:r>
            <a:r>
              <a:rPr lang="ru-RU" dirty="0" err="1">
                <a:solidFill>
                  <a:srgbClr val="C00000"/>
                </a:solidFill>
              </a:rPr>
              <a:t>establish</a:t>
            </a:r>
            <a:r>
              <a:rPr lang="ru-RU" dirty="0">
                <a:solidFill>
                  <a:srgbClr val="C00000"/>
                </a:solidFill>
              </a:rPr>
              <a:t> a </a:t>
            </a:r>
            <a:r>
              <a:rPr lang="ru-RU" dirty="0" err="1">
                <a:solidFill>
                  <a:srgbClr val="C00000"/>
                </a:solidFill>
              </a:rPr>
              <a:t>separate</a:t>
            </a:r>
            <a:r>
              <a:rPr lang="ru-RU" dirty="0">
                <a:solidFill>
                  <a:srgbClr val="C00000"/>
                </a:solidFill>
              </a:rPr>
              <a:t> IT </a:t>
            </a:r>
            <a:r>
              <a:rPr lang="ru-RU" dirty="0" err="1">
                <a:solidFill>
                  <a:srgbClr val="C00000"/>
                </a:solidFill>
              </a:rPr>
              <a:t>department</a:t>
            </a:r>
            <a:r>
              <a:rPr lang="ru-RU" dirty="0"/>
              <a:t> </a:t>
            </a:r>
            <a:r>
              <a:rPr lang="ru-RU" dirty="0" err="1"/>
              <a:t>which</a:t>
            </a:r>
            <a:r>
              <a:rPr lang="ru-RU" dirty="0"/>
              <a:t> </a:t>
            </a:r>
            <a:r>
              <a:rPr lang="ru-RU" dirty="0" err="1"/>
              <a:t>basically</a:t>
            </a:r>
            <a:r>
              <a:rPr lang="ru-RU" dirty="0"/>
              <a:t> </a:t>
            </a:r>
            <a:r>
              <a:rPr lang="ru-RU" dirty="0" err="1"/>
              <a:t>coordinates</a:t>
            </a:r>
            <a:r>
              <a:rPr lang="ru-RU" dirty="0"/>
              <a:t> </a:t>
            </a:r>
            <a:r>
              <a:rPr lang="ru-RU" dirty="0" err="1"/>
              <a:t>with</a:t>
            </a:r>
            <a:r>
              <a:rPr lang="ru-RU" dirty="0"/>
              <a:t> </a:t>
            </a:r>
            <a:r>
              <a:rPr lang="ru-RU" dirty="0" err="1"/>
              <a:t>facilitators</a:t>
            </a:r>
            <a:r>
              <a:rPr lang="ru-RU" dirty="0"/>
              <a:t> </a:t>
            </a:r>
            <a:r>
              <a:rPr lang="ru-RU" dirty="0" err="1"/>
              <a:t>for</a:t>
            </a:r>
            <a:r>
              <a:rPr lang="ru-RU" dirty="0"/>
              <a:t> e-</a:t>
            </a:r>
            <a:r>
              <a:rPr lang="ru-RU" dirty="0" err="1"/>
              <a:t>government</a:t>
            </a:r>
            <a:r>
              <a:rPr lang="ru-RU" dirty="0"/>
              <a:t> </a:t>
            </a:r>
            <a:r>
              <a:rPr lang="ru-RU" dirty="0" err="1"/>
              <a:t>projects</a:t>
            </a:r>
            <a:r>
              <a:rPr lang="ru-RU" dirty="0"/>
              <a:t> </a:t>
            </a:r>
            <a:r>
              <a:rPr lang="ru-RU" dirty="0" err="1"/>
              <a:t>within</a:t>
            </a:r>
            <a:r>
              <a:rPr lang="ru-RU" dirty="0"/>
              <a:t> </a:t>
            </a:r>
            <a:r>
              <a:rPr lang="en-US" dirty="0"/>
              <a:t> </a:t>
            </a:r>
            <a:r>
              <a:rPr lang="ru-RU" dirty="0" err="1"/>
              <a:t>the</a:t>
            </a:r>
            <a:r>
              <a:rPr lang="ru-RU" dirty="0"/>
              <a:t> </a:t>
            </a:r>
            <a:r>
              <a:rPr lang="ru-RU" dirty="0" err="1"/>
              <a:t>nation</a:t>
            </a:r>
            <a:r>
              <a:rPr lang="ru-RU" dirty="0"/>
              <a:t>. </a:t>
            </a:r>
            <a:endParaRPr lang="en-US" dirty="0"/>
          </a:p>
          <a:p>
            <a:pPr algn="just">
              <a:buFont typeface="Wingdings" pitchFamily="2" charset="2"/>
              <a:buChar char="§"/>
            </a:pPr>
            <a:r>
              <a:rPr lang="ru-RU" dirty="0" err="1"/>
              <a:t>The</a:t>
            </a:r>
            <a:r>
              <a:rPr lang="ru-RU" dirty="0"/>
              <a:t>   </a:t>
            </a:r>
            <a:r>
              <a:rPr lang="en-US" dirty="0"/>
              <a:t>activities of such institutes are varied from</a:t>
            </a:r>
            <a:r>
              <a:rPr lang="ru-RU" dirty="0"/>
              <a:t> </a:t>
            </a:r>
            <a:r>
              <a:rPr lang="ru-RU" dirty="0" err="1">
                <a:solidFill>
                  <a:srgbClr val="C00000"/>
                </a:solidFill>
              </a:rPr>
              <a:t>hardware</a:t>
            </a:r>
            <a:r>
              <a:rPr lang="ru-RU" dirty="0">
                <a:solidFill>
                  <a:srgbClr val="C00000"/>
                </a:solidFill>
              </a:rPr>
              <a:t>   </a:t>
            </a:r>
            <a:r>
              <a:rPr lang="ru-RU" dirty="0" err="1">
                <a:solidFill>
                  <a:srgbClr val="C00000"/>
                </a:solidFill>
              </a:rPr>
              <a:t>selection</a:t>
            </a:r>
            <a:r>
              <a:rPr lang="ru-RU" dirty="0">
                <a:solidFill>
                  <a:srgbClr val="C00000"/>
                </a:solidFill>
              </a:rPr>
              <a:t>   </a:t>
            </a:r>
            <a:r>
              <a:rPr lang="ru-RU" dirty="0" err="1">
                <a:solidFill>
                  <a:srgbClr val="C00000"/>
                </a:solidFill>
              </a:rPr>
              <a:t>and</a:t>
            </a:r>
            <a:r>
              <a:rPr lang="ru-RU" dirty="0">
                <a:solidFill>
                  <a:srgbClr val="C00000"/>
                </a:solidFill>
              </a:rPr>
              <a:t> </a:t>
            </a:r>
            <a:r>
              <a:rPr lang="ru-RU" dirty="0" err="1">
                <a:solidFill>
                  <a:srgbClr val="C00000"/>
                </a:solidFill>
              </a:rPr>
              <a:t>procurement</a:t>
            </a:r>
            <a:r>
              <a:rPr lang="en-US" dirty="0">
                <a:solidFill>
                  <a:srgbClr val="C00000"/>
                </a:solidFill>
              </a:rPr>
              <a:t> to </a:t>
            </a:r>
            <a:r>
              <a:rPr lang="ru-RU" dirty="0" err="1">
                <a:solidFill>
                  <a:srgbClr val="C00000"/>
                </a:solidFill>
              </a:rPr>
              <a:t>network</a:t>
            </a:r>
            <a:r>
              <a:rPr lang="en-US" dirty="0" err="1">
                <a:solidFill>
                  <a:srgbClr val="C00000"/>
                </a:solidFill>
              </a:rPr>
              <a:t>ing</a:t>
            </a:r>
            <a:r>
              <a:rPr lang="ru-RU" dirty="0">
                <a:solidFill>
                  <a:srgbClr val="C00000"/>
                </a:solidFill>
              </a:rPr>
              <a:t>  </a:t>
            </a:r>
            <a:r>
              <a:rPr lang="ru-RU" dirty="0" err="1">
                <a:solidFill>
                  <a:srgbClr val="C00000"/>
                </a:solidFill>
              </a:rPr>
              <a:t>or</a:t>
            </a:r>
            <a:r>
              <a:rPr lang="ru-RU" dirty="0">
                <a:solidFill>
                  <a:srgbClr val="C00000"/>
                </a:solidFill>
              </a:rPr>
              <a:t>  </a:t>
            </a:r>
            <a:r>
              <a:rPr lang="ru-RU" dirty="0" err="1">
                <a:solidFill>
                  <a:srgbClr val="C00000"/>
                </a:solidFill>
              </a:rPr>
              <a:t>software</a:t>
            </a:r>
            <a:r>
              <a:rPr lang="ru-RU" dirty="0">
                <a:solidFill>
                  <a:srgbClr val="C00000"/>
                </a:solidFill>
              </a:rPr>
              <a:t>  </a:t>
            </a:r>
            <a:r>
              <a:rPr lang="ru-RU" dirty="0" err="1">
                <a:solidFill>
                  <a:srgbClr val="C00000"/>
                </a:solidFill>
              </a:rPr>
              <a:t>development</a:t>
            </a:r>
            <a:r>
              <a:rPr lang="ru-RU" dirty="0">
                <a:solidFill>
                  <a:srgbClr val="C00000"/>
                </a:solidFill>
              </a:rPr>
              <a:t>  </a:t>
            </a:r>
            <a:r>
              <a:rPr lang="ru-RU" dirty="0" err="1">
                <a:solidFill>
                  <a:srgbClr val="C00000"/>
                </a:solidFill>
              </a:rPr>
              <a:t>and</a:t>
            </a:r>
            <a:r>
              <a:rPr lang="ru-RU" dirty="0">
                <a:solidFill>
                  <a:srgbClr val="C00000"/>
                </a:solidFill>
              </a:rPr>
              <a:t>  </a:t>
            </a:r>
            <a:r>
              <a:rPr lang="ru-RU" dirty="0" err="1">
                <a:solidFill>
                  <a:srgbClr val="C00000"/>
                </a:solidFill>
              </a:rPr>
              <a:t>implementation</a:t>
            </a:r>
            <a:r>
              <a:rPr lang="ru-RU" dirty="0">
                <a:solidFill>
                  <a:srgbClr val="C00000"/>
                </a:solidFill>
              </a:rPr>
              <a:t> </a:t>
            </a:r>
            <a:r>
              <a:rPr lang="en-US" dirty="0">
                <a:solidFill>
                  <a:srgbClr val="C00000"/>
                </a:solidFill>
              </a:rPr>
              <a:t> </a:t>
            </a:r>
            <a:r>
              <a:rPr lang="ru-RU" dirty="0" err="1">
                <a:solidFill>
                  <a:srgbClr val="C00000"/>
                </a:solidFill>
              </a:rPr>
              <a:t>and</a:t>
            </a:r>
            <a:r>
              <a:rPr lang="ru-RU" dirty="0">
                <a:solidFill>
                  <a:srgbClr val="C00000"/>
                </a:solidFill>
              </a:rPr>
              <a:t> </a:t>
            </a:r>
            <a:r>
              <a:rPr lang="ru-RU" dirty="0" err="1">
                <a:solidFill>
                  <a:srgbClr val="C00000"/>
                </a:solidFill>
              </a:rPr>
              <a:t>also</a:t>
            </a:r>
            <a:r>
              <a:rPr lang="ru-RU" dirty="0">
                <a:solidFill>
                  <a:srgbClr val="C00000"/>
                </a:solidFill>
              </a:rPr>
              <a:t> </a:t>
            </a:r>
            <a:r>
              <a:rPr lang="ru-RU" dirty="0" err="1">
                <a:solidFill>
                  <a:srgbClr val="C00000"/>
                </a:solidFill>
              </a:rPr>
              <a:t>the</a:t>
            </a:r>
            <a:r>
              <a:rPr lang="ru-RU" dirty="0">
                <a:solidFill>
                  <a:srgbClr val="C00000"/>
                </a:solidFill>
              </a:rPr>
              <a:t> </a:t>
            </a:r>
            <a:r>
              <a:rPr lang="ru-RU" dirty="0" err="1">
                <a:solidFill>
                  <a:srgbClr val="C00000"/>
                </a:solidFill>
              </a:rPr>
              <a:t>training</a:t>
            </a:r>
            <a:r>
              <a:rPr lang="ru-RU" dirty="0">
                <a:solidFill>
                  <a:srgbClr val="C00000"/>
                </a:solidFill>
              </a:rPr>
              <a:t> </a:t>
            </a:r>
            <a:r>
              <a:rPr lang="ru-RU" dirty="0" err="1">
                <a:solidFill>
                  <a:srgbClr val="C00000"/>
                </a:solidFill>
              </a:rPr>
              <a:t>of</a:t>
            </a:r>
            <a:r>
              <a:rPr lang="ru-RU" dirty="0">
                <a:solidFill>
                  <a:srgbClr val="C00000"/>
                </a:solidFill>
              </a:rPr>
              <a:t> </a:t>
            </a:r>
            <a:r>
              <a:rPr lang="ru-RU" dirty="0" err="1">
                <a:solidFill>
                  <a:srgbClr val="C00000"/>
                </a:solidFill>
              </a:rPr>
              <a:t>staff</a:t>
            </a:r>
            <a:r>
              <a:rPr lang="ru-RU" dirty="0">
                <a:solidFill>
                  <a:srgbClr val="C00000"/>
                </a:solidFill>
              </a:rPr>
              <a:t> </a:t>
            </a:r>
            <a:r>
              <a:rPr lang="ru-RU" dirty="0" err="1">
                <a:solidFill>
                  <a:srgbClr val="C00000"/>
                </a:solidFill>
              </a:rPr>
              <a:t>at</a:t>
            </a:r>
            <a:r>
              <a:rPr lang="ru-RU" dirty="0">
                <a:solidFill>
                  <a:srgbClr val="C00000"/>
                </a:solidFill>
              </a:rPr>
              <a:t> </a:t>
            </a:r>
            <a:r>
              <a:rPr lang="ru-RU" dirty="0" err="1">
                <a:solidFill>
                  <a:srgbClr val="C00000"/>
                </a:solidFill>
              </a:rPr>
              <a:t>various</a:t>
            </a:r>
            <a:r>
              <a:rPr lang="ru-RU" dirty="0">
                <a:solidFill>
                  <a:srgbClr val="C00000"/>
                </a:solidFill>
              </a:rPr>
              <a:t> </a:t>
            </a:r>
            <a:r>
              <a:rPr lang="ru-RU" dirty="0" err="1">
                <a:solidFill>
                  <a:srgbClr val="C00000"/>
                </a:solidFill>
              </a:rPr>
              <a:t>levels</a:t>
            </a:r>
            <a:r>
              <a:rPr lang="ru-RU" dirty="0">
                <a:solidFill>
                  <a:srgbClr val="C00000"/>
                </a:solidFill>
              </a:rPr>
              <a:t> </a:t>
            </a:r>
            <a:r>
              <a:rPr lang="ru-RU" dirty="0" err="1">
                <a:solidFill>
                  <a:srgbClr val="C00000"/>
                </a:solidFill>
              </a:rPr>
              <a:t>of</a:t>
            </a:r>
            <a:r>
              <a:rPr lang="ru-RU" dirty="0">
                <a:solidFill>
                  <a:srgbClr val="C00000"/>
                </a:solidFill>
              </a:rPr>
              <a:t> </a:t>
            </a:r>
            <a:r>
              <a:rPr lang="ru-RU" dirty="0" err="1">
                <a:solidFill>
                  <a:srgbClr val="C00000"/>
                </a:solidFill>
              </a:rPr>
              <a:t>the</a:t>
            </a:r>
            <a:r>
              <a:rPr lang="ru-RU" dirty="0">
                <a:solidFill>
                  <a:srgbClr val="C00000"/>
                </a:solidFill>
              </a:rPr>
              <a:t> </a:t>
            </a:r>
            <a:r>
              <a:rPr lang="ru-RU" dirty="0" err="1">
                <a:solidFill>
                  <a:srgbClr val="C00000"/>
                </a:solidFill>
              </a:rPr>
              <a:t>government</a:t>
            </a:r>
            <a:r>
              <a:rPr lang="ru-RU" dirty="0">
                <a:solidFill>
                  <a:srgbClr val="C00000"/>
                </a:solidFill>
              </a:rPr>
              <a:t>.</a:t>
            </a:r>
            <a:endParaRPr lang="en-US" dirty="0">
              <a:solidFill>
                <a:srgbClr val="C00000"/>
              </a:solidFill>
            </a:endParaRPr>
          </a:p>
          <a:p>
            <a:pPr algn="just">
              <a:buFont typeface="Wingdings" pitchFamily="2" charset="2"/>
              <a:buChar char="§"/>
            </a:pPr>
            <a:r>
              <a:rPr lang="ru-RU" dirty="0" err="1"/>
              <a:t>Many</a:t>
            </a:r>
            <a:r>
              <a:rPr lang="ru-RU" dirty="0"/>
              <a:t> </a:t>
            </a:r>
            <a:r>
              <a:rPr lang="ru-RU" dirty="0" err="1"/>
              <a:t>countries</a:t>
            </a:r>
            <a:r>
              <a:rPr lang="ru-RU" dirty="0"/>
              <a:t> </a:t>
            </a:r>
            <a:r>
              <a:rPr lang="ru-RU" dirty="0" err="1"/>
              <a:t>still</a:t>
            </a:r>
            <a:r>
              <a:rPr lang="ru-RU" dirty="0"/>
              <a:t> </a:t>
            </a:r>
            <a:r>
              <a:rPr lang="ru-RU" dirty="0" err="1"/>
              <a:t>lack</a:t>
            </a:r>
            <a:r>
              <a:rPr lang="ru-RU" dirty="0"/>
              <a:t> </a:t>
            </a:r>
            <a:r>
              <a:rPr lang="ru-RU" dirty="0" err="1"/>
              <a:t>the</a:t>
            </a:r>
            <a:r>
              <a:rPr lang="ru-RU" dirty="0"/>
              <a:t> </a:t>
            </a:r>
            <a:r>
              <a:rPr lang="ru-RU" dirty="0" err="1"/>
              <a:t>institutional</a:t>
            </a:r>
            <a:r>
              <a:rPr lang="ru-RU" dirty="0"/>
              <a:t> </a:t>
            </a:r>
            <a:r>
              <a:rPr lang="ru-RU" dirty="0" err="1"/>
              <a:t>infrastructure</a:t>
            </a:r>
            <a:r>
              <a:rPr lang="ru-RU" dirty="0"/>
              <a:t>.</a:t>
            </a:r>
            <a:endParaRPr lang="en-US" dirty="0"/>
          </a:p>
          <a:p>
            <a:pPr>
              <a:buNone/>
            </a:pPr>
            <a:endParaRPr lang="en-US" dirty="0"/>
          </a:p>
        </p:txBody>
      </p:sp>
    </p:spTree>
    <p:extLst>
      <p:ext uri="{BB962C8B-B14F-4D97-AF65-F5344CB8AC3E}">
        <p14:creationId xmlns:p14="http://schemas.microsoft.com/office/powerpoint/2010/main" val="22435771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825"/>
          </a:xfrm>
        </p:spPr>
        <p:txBody>
          <a:bodyPr>
            <a:normAutofit fontScale="90000"/>
          </a:bodyPr>
          <a:lstStyle/>
          <a:p>
            <a:r>
              <a:rPr lang="ru-RU" dirty="0">
                <a:solidFill>
                  <a:srgbClr val="0070C0"/>
                </a:solidFill>
              </a:rPr>
              <a:t>E-</a:t>
            </a:r>
            <a:r>
              <a:rPr lang="ru-RU" dirty="0" err="1">
                <a:solidFill>
                  <a:srgbClr val="0070C0"/>
                </a:solidFill>
              </a:rPr>
              <a:t>Readiness</a:t>
            </a:r>
            <a:r>
              <a:rPr lang="ru-RU" dirty="0">
                <a:solidFill>
                  <a:srgbClr val="0070C0"/>
                </a:solidFill>
              </a:rPr>
              <a:t>: </a:t>
            </a:r>
            <a:r>
              <a:rPr lang="ru-RU" dirty="0" err="1">
                <a:solidFill>
                  <a:srgbClr val="0070C0"/>
                </a:solidFill>
              </a:rPr>
              <a:t>Human</a:t>
            </a:r>
            <a:r>
              <a:rPr lang="ru-RU" dirty="0">
                <a:solidFill>
                  <a:srgbClr val="0070C0"/>
                </a:solidFill>
              </a:rPr>
              <a:t> </a:t>
            </a:r>
            <a:r>
              <a:rPr lang="ru-RU" dirty="0" err="1">
                <a:solidFill>
                  <a:srgbClr val="0070C0"/>
                </a:solidFill>
              </a:rPr>
              <a:t>Infrastructur</a:t>
            </a:r>
            <a:r>
              <a:rPr lang="en-US" dirty="0">
                <a:solidFill>
                  <a:srgbClr val="0070C0"/>
                </a:solidFill>
              </a:rPr>
              <a:t>al Preparedness</a:t>
            </a:r>
            <a:endParaRPr lang="en-US" dirty="0"/>
          </a:p>
        </p:txBody>
      </p:sp>
      <p:sp>
        <p:nvSpPr>
          <p:cNvPr id="3" name="Content Placeholder 2"/>
          <p:cNvSpPr>
            <a:spLocks noGrp="1"/>
          </p:cNvSpPr>
          <p:nvPr>
            <p:ph idx="1"/>
          </p:nvPr>
        </p:nvSpPr>
        <p:spPr>
          <a:xfrm>
            <a:off x="838200" y="1339850"/>
            <a:ext cx="10515600" cy="4837113"/>
          </a:xfrm>
        </p:spPr>
        <p:txBody>
          <a:bodyPr>
            <a:normAutofit fontScale="77500" lnSpcReduction="20000"/>
          </a:bodyPr>
          <a:lstStyle/>
          <a:p>
            <a:pPr algn="just">
              <a:buFont typeface="Wingdings" pitchFamily="2" charset="2"/>
              <a:buChar char="§"/>
            </a:pPr>
            <a:r>
              <a:rPr lang="ru-RU" dirty="0" err="1">
                <a:solidFill>
                  <a:srgbClr val="C00000"/>
                </a:solidFill>
              </a:rPr>
              <a:t>Human</a:t>
            </a:r>
            <a:r>
              <a:rPr lang="ru-RU" dirty="0">
                <a:solidFill>
                  <a:srgbClr val="C00000"/>
                </a:solidFill>
              </a:rPr>
              <a:t>  </a:t>
            </a:r>
            <a:r>
              <a:rPr lang="ru-RU" dirty="0" err="1">
                <a:solidFill>
                  <a:srgbClr val="C00000"/>
                </a:solidFill>
              </a:rPr>
              <a:t>resource</a:t>
            </a:r>
            <a:r>
              <a:rPr lang="ru-RU" dirty="0">
                <a:solidFill>
                  <a:srgbClr val="C00000"/>
                </a:solidFill>
              </a:rPr>
              <a:t>  </a:t>
            </a:r>
            <a:r>
              <a:rPr lang="ru-RU" dirty="0" err="1">
                <a:solidFill>
                  <a:srgbClr val="C00000"/>
                </a:solidFill>
              </a:rPr>
              <a:t>development</a:t>
            </a:r>
            <a:r>
              <a:rPr lang="ru-RU" dirty="0">
                <a:solidFill>
                  <a:srgbClr val="C00000"/>
                </a:solidFill>
              </a:rPr>
              <a:t>  </a:t>
            </a:r>
            <a:r>
              <a:rPr lang="ru-RU" dirty="0" err="1">
                <a:solidFill>
                  <a:srgbClr val="C00000"/>
                </a:solidFill>
              </a:rPr>
              <a:t>by</a:t>
            </a:r>
            <a:r>
              <a:rPr lang="ru-RU" dirty="0">
                <a:solidFill>
                  <a:srgbClr val="C00000"/>
                </a:solidFill>
              </a:rPr>
              <a:t> </a:t>
            </a:r>
            <a:r>
              <a:rPr lang="ru-RU" dirty="0" err="1">
                <a:solidFill>
                  <a:srgbClr val="C00000"/>
                </a:solidFill>
              </a:rPr>
              <a:t>training</a:t>
            </a:r>
            <a:r>
              <a:rPr lang="ru-RU" dirty="0">
                <a:solidFill>
                  <a:srgbClr val="C00000"/>
                </a:solidFill>
              </a:rPr>
              <a:t> </a:t>
            </a:r>
            <a:r>
              <a:rPr lang="ru-RU" dirty="0" err="1"/>
              <a:t>is</a:t>
            </a:r>
            <a:r>
              <a:rPr lang="ru-RU" dirty="0"/>
              <a:t> </a:t>
            </a:r>
            <a:r>
              <a:rPr lang="ru-RU" dirty="0" err="1"/>
              <a:t>an</a:t>
            </a:r>
            <a:r>
              <a:rPr lang="ru-RU" dirty="0"/>
              <a:t> </a:t>
            </a:r>
            <a:r>
              <a:rPr lang="ru-RU" dirty="0" err="1"/>
              <a:t>essential</a:t>
            </a:r>
            <a:r>
              <a:rPr lang="ru-RU" dirty="0"/>
              <a:t>   </a:t>
            </a:r>
            <a:r>
              <a:rPr lang="ru-RU" dirty="0" err="1"/>
              <a:t>requirement</a:t>
            </a:r>
            <a:r>
              <a:rPr lang="ru-RU" dirty="0"/>
              <a:t>  </a:t>
            </a:r>
            <a:r>
              <a:rPr lang="ru-RU" dirty="0" err="1"/>
              <a:t>which</a:t>
            </a:r>
            <a:r>
              <a:rPr lang="ru-RU" dirty="0"/>
              <a:t> </a:t>
            </a:r>
            <a:r>
              <a:rPr lang="ru-RU" dirty="0" err="1"/>
              <a:t>comes</a:t>
            </a:r>
            <a:r>
              <a:rPr lang="ru-RU" dirty="0"/>
              <a:t> </a:t>
            </a:r>
            <a:r>
              <a:rPr lang="ru-RU" dirty="0" err="1"/>
              <a:t>from</a:t>
            </a:r>
            <a:r>
              <a:rPr lang="ru-RU" dirty="0"/>
              <a:t>  </a:t>
            </a:r>
            <a:r>
              <a:rPr lang="ru-RU" dirty="0" err="1">
                <a:solidFill>
                  <a:srgbClr val="00B050"/>
                </a:solidFill>
              </a:rPr>
              <a:t>well</a:t>
            </a:r>
            <a:r>
              <a:rPr lang="ru-RU" dirty="0">
                <a:solidFill>
                  <a:srgbClr val="00B050"/>
                </a:solidFill>
              </a:rPr>
              <a:t> </a:t>
            </a:r>
            <a:r>
              <a:rPr lang="ru-RU" dirty="0" err="1">
                <a:solidFill>
                  <a:srgbClr val="00B050"/>
                </a:solidFill>
              </a:rPr>
              <a:t>trained</a:t>
            </a:r>
            <a:r>
              <a:rPr lang="ru-RU" dirty="0">
                <a:solidFill>
                  <a:srgbClr val="00B050"/>
                </a:solidFill>
              </a:rPr>
              <a:t> </a:t>
            </a:r>
            <a:r>
              <a:rPr lang="ru-RU" dirty="0" err="1">
                <a:solidFill>
                  <a:srgbClr val="00B050"/>
                </a:solidFill>
              </a:rPr>
              <a:t>manpower</a:t>
            </a:r>
            <a:r>
              <a:rPr lang="ru-RU" dirty="0">
                <a:solidFill>
                  <a:srgbClr val="00B050"/>
                </a:solidFill>
              </a:rPr>
              <a:t> </a:t>
            </a:r>
            <a:r>
              <a:rPr lang="ru-RU" dirty="0" err="1">
                <a:solidFill>
                  <a:srgbClr val="00B050"/>
                </a:solidFill>
              </a:rPr>
              <a:t>both</a:t>
            </a:r>
            <a:r>
              <a:rPr lang="ru-RU" dirty="0">
                <a:solidFill>
                  <a:srgbClr val="00B050"/>
                </a:solidFill>
              </a:rPr>
              <a:t> </a:t>
            </a:r>
            <a:r>
              <a:rPr lang="ru-RU" dirty="0" err="1">
                <a:solidFill>
                  <a:srgbClr val="00B050"/>
                </a:solidFill>
              </a:rPr>
              <a:t>technical</a:t>
            </a:r>
            <a:r>
              <a:rPr lang="ru-RU" dirty="0">
                <a:solidFill>
                  <a:srgbClr val="00B050"/>
                </a:solidFill>
              </a:rPr>
              <a:t> </a:t>
            </a:r>
            <a:r>
              <a:rPr lang="ru-RU" dirty="0" err="1">
                <a:solidFill>
                  <a:srgbClr val="00B050"/>
                </a:solidFill>
              </a:rPr>
              <a:t>and</a:t>
            </a:r>
            <a:r>
              <a:rPr lang="ru-RU" dirty="0">
                <a:solidFill>
                  <a:srgbClr val="00B050"/>
                </a:solidFill>
              </a:rPr>
              <a:t> </a:t>
            </a:r>
            <a:r>
              <a:rPr lang="ru-RU" dirty="0" err="1">
                <a:solidFill>
                  <a:srgbClr val="00B050"/>
                </a:solidFill>
              </a:rPr>
              <a:t>non-technical</a:t>
            </a:r>
            <a:r>
              <a:rPr lang="ru-RU" dirty="0">
                <a:solidFill>
                  <a:srgbClr val="00B050"/>
                </a:solidFill>
              </a:rPr>
              <a:t>. </a:t>
            </a:r>
            <a:endParaRPr lang="en-US" dirty="0">
              <a:solidFill>
                <a:srgbClr val="00B050"/>
              </a:solidFill>
            </a:endParaRPr>
          </a:p>
          <a:p>
            <a:pPr algn="just">
              <a:buFont typeface="Wingdings" pitchFamily="2" charset="2"/>
              <a:buChar char="§"/>
            </a:pPr>
            <a:r>
              <a:rPr lang="ru-RU" dirty="0" err="1"/>
              <a:t>The</a:t>
            </a:r>
            <a:r>
              <a:rPr lang="ru-RU" dirty="0"/>
              <a:t>  </a:t>
            </a:r>
            <a:r>
              <a:rPr lang="ru-RU" dirty="0" err="1"/>
              <a:t>technical</a:t>
            </a:r>
            <a:r>
              <a:rPr lang="ru-RU" dirty="0"/>
              <a:t>  </a:t>
            </a:r>
            <a:r>
              <a:rPr lang="ru-RU" dirty="0" err="1"/>
              <a:t>manpower</a:t>
            </a:r>
            <a:r>
              <a:rPr lang="ru-RU" dirty="0"/>
              <a:t>  </a:t>
            </a:r>
            <a:r>
              <a:rPr lang="ru-RU" dirty="0" err="1"/>
              <a:t>resources</a:t>
            </a:r>
            <a:r>
              <a:rPr lang="ru-RU" dirty="0"/>
              <a:t>  </a:t>
            </a:r>
            <a:r>
              <a:rPr lang="ru-RU" dirty="0" err="1"/>
              <a:t>are</a:t>
            </a:r>
            <a:r>
              <a:rPr lang="ru-RU" dirty="0"/>
              <a:t>  </a:t>
            </a:r>
            <a:r>
              <a:rPr lang="ru-RU" dirty="0" err="1">
                <a:solidFill>
                  <a:srgbClr val="00B050"/>
                </a:solidFill>
              </a:rPr>
              <a:t>essential</a:t>
            </a:r>
            <a:r>
              <a:rPr lang="ru-RU" dirty="0">
                <a:solidFill>
                  <a:srgbClr val="00B050"/>
                </a:solidFill>
              </a:rPr>
              <a:t>  </a:t>
            </a:r>
            <a:r>
              <a:rPr lang="ru-RU" dirty="0" err="1">
                <a:solidFill>
                  <a:srgbClr val="00B050"/>
                </a:solidFill>
              </a:rPr>
              <a:t>for</a:t>
            </a:r>
            <a:r>
              <a:rPr lang="ru-RU" dirty="0">
                <a:solidFill>
                  <a:srgbClr val="00B050"/>
                </a:solidFill>
              </a:rPr>
              <a:t>  </a:t>
            </a:r>
            <a:r>
              <a:rPr lang="ru-RU" dirty="0" err="1">
                <a:solidFill>
                  <a:srgbClr val="00B050"/>
                </a:solidFill>
              </a:rPr>
              <a:t>all</a:t>
            </a:r>
            <a:r>
              <a:rPr lang="ru-RU" dirty="0">
                <a:solidFill>
                  <a:srgbClr val="00B050"/>
                </a:solidFill>
              </a:rPr>
              <a:t>  </a:t>
            </a:r>
            <a:r>
              <a:rPr lang="ru-RU" dirty="0" err="1">
                <a:solidFill>
                  <a:srgbClr val="00B050"/>
                </a:solidFill>
              </a:rPr>
              <a:t>the</a:t>
            </a:r>
            <a:r>
              <a:rPr lang="ru-RU" dirty="0">
                <a:solidFill>
                  <a:srgbClr val="00B050"/>
                </a:solidFill>
              </a:rPr>
              <a:t>  </a:t>
            </a:r>
            <a:r>
              <a:rPr lang="ru-RU" dirty="0" err="1">
                <a:solidFill>
                  <a:srgbClr val="00B050"/>
                </a:solidFill>
              </a:rPr>
              <a:t>phases</a:t>
            </a:r>
            <a:r>
              <a:rPr lang="ru-RU" dirty="0">
                <a:solidFill>
                  <a:srgbClr val="00B050"/>
                </a:solidFill>
              </a:rPr>
              <a:t>  </a:t>
            </a:r>
            <a:r>
              <a:rPr lang="ru-RU" dirty="0" err="1">
                <a:solidFill>
                  <a:srgbClr val="00B050"/>
                </a:solidFill>
              </a:rPr>
              <a:t>of</a:t>
            </a:r>
            <a:r>
              <a:rPr lang="ru-RU" dirty="0">
                <a:solidFill>
                  <a:srgbClr val="00B050"/>
                </a:solidFill>
              </a:rPr>
              <a:t>  e-</a:t>
            </a:r>
            <a:r>
              <a:rPr lang="ru-RU" dirty="0" err="1">
                <a:solidFill>
                  <a:srgbClr val="00B050"/>
                </a:solidFill>
              </a:rPr>
              <a:t>governance</a:t>
            </a:r>
            <a:r>
              <a:rPr lang="ru-RU" dirty="0">
                <a:solidFill>
                  <a:srgbClr val="00B050"/>
                </a:solidFill>
              </a:rPr>
              <a:t>  </a:t>
            </a:r>
            <a:r>
              <a:rPr lang="ru-RU" dirty="0" err="1"/>
              <a:t>and</a:t>
            </a:r>
            <a:r>
              <a:rPr lang="ru-RU" dirty="0"/>
              <a:t>  </a:t>
            </a:r>
            <a:r>
              <a:rPr lang="ru-RU" dirty="0" err="1">
                <a:solidFill>
                  <a:srgbClr val="C00000"/>
                </a:solidFill>
              </a:rPr>
              <a:t>related</a:t>
            </a:r>
            <a:r>
              <a:rPr lang="ru-RU" dirty="0">
                <a:solidFill>
                  <a:srgbClr val="C00000"/>
                </a:solidFill>
              </a:rPr>
              <a:t>   </a:t>
            </a:r>
            <a:r>
              <a:rPr lang="ru-RU" dirty="0" err="1">
                <a:solidFill>
                  <a:srgbClr val="C00000"/>
                </a:solidFill>
              </a:rPr>
              <a:t>information</a:t>
            </a:r>
            <a:r>
              <a:rPr lang="ru-RU" dirty="0">
                <a:solidFill>
                  <a:srgbClr val="C00000"/>
                </a:solidFill>
              </a:rPr>
              <a:t>  </a:t>
            </a:r>
            <a:r>
              <a:rPr lang="ru-RU" dirty="0" err="1">
                <a:solidFill>
                  <a:srgbClr val="C00000"/>
                </a:solidFill>
              </a:rPr>
              <a:t>system</a:t>
            </a:r>
            <a:r>
              <a:rPr lang="ru-RU" dirty="0">
                <a:solidFill>
                  <a:srgbClr val="C00000"/>
                </a:solidFill>
              </a:rPr>
              <a:t>  </a:t>
            </a:r>
            <a:r>
              <a:rPr lang="ru-RU" dirty="0" err="1">
                <a:solidFill>
                  <a:srgbClr val="C00000"/>
                </a:solidFill>
              </a:rPr>
              <a:t>life</a:t>
            </a:r>
            <a:r>
              <a:rPr lang="ru-RU" dirty="0">
                <a:solidFill>
                  <a:srgbClr val="C00000"/>
                </a:solidFill>
              </a:rPr>
              <a:t>  </a:t>
            </a:r>
            <a:r>
              <a:rPr lang="ru-RU" dirty="0" err="1">
                <a:solidFill>
                  <a:srgbClr val="C00000"/>
                </a:solidFill>
              </a:rPr>
              <a:t>cycle</a:t>
            </a:r>
            <a:r>
              <a:rPr lang="ru-RU" dirty="0">
                <a:solidFill>
                  <a:srgbClr val="C00000"/>
                </a:solidFill>
              </a:rPr>
              <a:t>  </a:t>
            </a:r>
            <a:r>
              <a:rPr lang="ru-RU" dirty="0" err="1">
                <a:solidFill>
                  <a:srgbClr val="C00000"/>
                </a:solidFill>
              </a:rPr>
              <a:t>comprising</a:t>
            </a:r>
            <a:r>
              <a:rPr lang="ru-RU" dirty="0">
                <a:solidFill>
                  <a:srgbClr val="C00000"/>
                </a:solidFill>
              </a:rPr>
              <a:t>   </a:t>
            </a:r>
            <a:r>
              <a:rPr lang="ru-RU" dirty="0" err="1">
                <a:solidFill>
                  <a:srgbClr val="C00000"/>
                </a:solidFill>
              </a:rPr>
              <a:t>systems</a:t>
            </a:r>
            <a:r>
              <a:rPr lang="ru-RU" dirty="0">
                <a:solidFill>
                  <a:srgbClr val="C00000"/>
                </a:solidFill>
              </a:rPr>
              <a:t> </a:t>
            </a:r>
            <a:r>
              <a:rPr lang="ru-RU" dirty="0" err="1">
                <a:solidFill>
                  <a:srgbClr val="C00000"/>
                </a:solidFill>
              </a:rPr>
              <a:t>analysis</a:t>
            </a:r>
            <a:r>
              <a:rPr lang="ru-RU" dirty="0"/>
              <a:t>, </a:t>
            </a:r>
            <a:r>
              <a:rPr lang="en-US" dirty="0"/>
              <a:t>system </a:t>
            </a:r>
            <a:r>
              <a:rPr lang="ru-RU" dirty="0" err="1"/>
              <a:t>design</a:t>
            </a:r>
            <a:r>
              <a:rPr lang="ru-RU" dirty="0"/>
              <a:t>, </a:t>
            </a:r>
            <a:r>
              <a:rPr lang="ru-RU" dirty="0" err="1"/>
              <a:t>programming</a:t>
            </a:r>
            <a:r>
              <a:rPr lang="ru-RU" dirty="0"/>
              <a:t>, </a:t>
            </a:r>
            <a:r>
              <a:rPr lang="ru-RU" dirty="0" err="1"/>
              <a:t>implementation</a:t>
            </a:r>
            <a:r>
              <a:rPr lang="ru-RU" dirty="0"/>
              <a:t>, </a:t>
            </a:r>
            <a:r>
              <a:rPr lang="ru-RU" dirty="0" err="1"/>
              <a:t>operation</a:t>
            </a:r>
            <a:r>
              <a:rPr lang="ru-RU" dirty="0"/>
              <a:t> </a:t>
            </a:r>
            <a:r>
              <a:rPr lang="ru-RU" dirty="0" err="1"/>
              <a:t>and</a:t>
            </a:r>
            <a:r>
              <a:rPr lang="ru-RU" dirty="0"/>
              <a:t> </a:t>
            </a:r>
            <a:r>
              <a:rPr lang="en-US" dirty="0"/>
              <a:t> </a:t>
            </a:r>
            <a:r>
              <a:rPr lang="ru-RU" dirty="0" err="1"/>
              <a:t>documentation</a:t>
            </a:r>
            <a:r>
              <a:rPr lang="ru-RU" dirty="0"/>
              <a:t>. </a:t>
            </a:r>
            <a:endParaRPr lang="en-US" dirty="0"/>
          </a:p>
          <a:p>
            <a:pPr algn="just">
              <a:buFont typeface="Wingdings" pitchFamily="2" charset="2"/>
              <a:buChar char="§"/>
            </a:pPr>
            <a:r>
              <a:rPr lang="ru-RU" dirty="0" err="1">
                <a:solidFill>
                  <a:srgbClr val="7030A0"/>
                </a:solidFill>
              </a:rPr>
              <a:t>Both</a:t>
            </a:r>
            <a:r>
              <a:rPr lang="ru-RU" dirty="0">
                <a:solidFill>
                  <a:srgbClr val="7030A0"/>
                </a:solidFill>
              </a:rPr>
              <a:t>  </a:t>
            </a:r>
            <a:r>
              <a:rPr lang="ru-RU" dirty="0" err="1">
                <a:solidFill>
                  <a:srgbClr val="7030A0"/>
                </a:solidFill>
              </a:rPr>
              <a:t>private</a:t>
            </a:r>
            <a:r>
              <a:rPr lang="ru-RU" dirty="0">
                <a:solidFill>
                  <a:srgbClr val="7030A0"/>
                </a:solidFill>
              </a:rPr>
              <a:t>  </a:t>
            </a:r>
            <a:r>
              <a:rPr lang="ru-RU" dirty="0" err="1">
                <a:solidFill>
                  <a:srgbClr val="7030A0"/>
                </a:solidFill>
              </a:rPr>
              <a:t>and</a:t>
            </a:r>
            <a:r>
              <a:rPr lang="ru-RU" dirty="0">
                <a:solidFill>
                  <a:srgbClr val="7030A0"/>
                </a:solidFill>
              </a:rPr>
              <a:t>  </a:t>
            </a:r>
            <a:r>
              <a:rPr lang="ru-RU" dirty="0" err="1">
                <a:solidFill>
                  <a:srgbClr val="7030A0"/>
                </a:solidFill>
              </a:rPr>
              <a:t>government</a:t>
            </a:r>
            <a:r>
              <a:rPr lang="ru-RU" dirty="0">
                <a:solidFill>
                  <a:srgbClr val="7030A0"/>
                </a:solidFill>
              </a:rPr>
              <a:t>  </a:t>
            </a:r>
            <a:r>
              <a:rPr lang="ru-RU" dirty="0" err="1">
                <a:solidFill>
                  <a:srgbClr val="7030A0"/>
                </a:solidFill>
              </a:rPr>
              <a:t>institutions</a:t>
            </a:r>
            <a:r>
              <a:rPr lang="ru-RU" dirty="0">
                <a:solidFill>
                  <a:srgbClr val="7030A0"/>
                </a:solidFill>
              </a:rPr>
              <a:t>  </a:t>
            </a:r>
            <a:r>
              <a:rPr lang="ru-RU" dirty="0" err="1">
                <a:solidFill>
                  <a:srgbClr val="7030A0"/>
                </a:solidFill>
              </a:rPr>
              <a:t>should</a:t>
            </a:r>
            <a:r>
              <a:rPr lang="ru-RU" dirty="0">
                <a:solidFill>
                  <a:srgbClr val="7030A0"/>
                </a:solidFill>
              </a:rPr>
              <a:t>  </a:t>
            </a:r>
            <a:r>
              <a:rPr lang="ru-RU" dirty="0" err="1">
                <a:solidFill>
                  <a:srgbClr val="7030A0"/>
                </a:solidFill>
              </a:rPr>
              <a:t>play</a:t>
            </a:r>
            <a:r>
              <a:rPr lang="ru-RU" dirty="0">
                <a:solidFill>
                  <a:srgbClr val="7030A0"/>
                </a:solidFill>
              </a:rPr>
              <a:t>  a  </a:t>
            </a:r>
            <a:r>
              <a:rPr lang="ru-RU" dirty="0" err="1">
                <a:solidFill>
                  <a:srgbClr val="7030A0"/>
                </a:solidFill>
              </a:rPr>
              <a:t>major</a:t>
            </a:r>
            <a:r>
              <a:rPr lang="ru-RU" dirty="0">
                <a:solidFill>
                  <a:srgbClr val="7030A0"/>
                </a:solidFill>
              </a:rPr>
              <a:t>  </a:t>
            </a:r>
            <a:r>
              <a:rPr lang="ru-RU" dirty="0" err="1">
                <a:solidFill>
                  <a:srgbClr val="7030A0"/>
                </a:solidFill>
              </a:rPr>
              <a:t>role</a:t>
            </a:r>
            <a:r>
              <a:rPr lang="ru-RU" dirty="0">
                <a:solidFill>
                  <a:srgbClr val="7030A0"/>
                </a:solidFill>
              </a:rPr>
              <a:t>  </a:t>
            </a:r>
            <a:r>
              <a:rPr lang="ru-RU" dirty="0" err="1">
                <a:solidFill>
                  <a:srgbClr val="7030A0"/>
                </a:solidFill>
              </a:rPr>
              <a:t>in</a:t>
            </a:r>
            <a:r>
              <a:rPr lang="ru-RU" dirty="0">
                <a:solidFill>
                  <a:srgbClr val="7030A0"/>
                </a:solidFill>
              </a:rPr>
              <a:t>  </a:t>
            </a:r>
            <a:r>
              <a:rPr lang="ru-RU" dirty="0" err="1">
                <a:solidFill>
                  <a:srgbClr val="7030A0"/>
                </a:solidFill>
              </a:rPr>
              <a:t>this</a:t>
            </a:r>
            <a:r>
              <a:rPr lang="ru-RU" dirty="0">
                <a:solidFill>
                  <a:srgbClr val="7030A0"/>
                </a:solidFill>
              </a:rPr>
              <a:t> </a:t>
            </a:r>
            <a:r>
              <a:rPr lang="ru-RU" dirty="0" err="1">
                <a:solidFill>
                  <a:srgbClr val="7030A0"/>
                </a:solidFill>
              </a:rPr>
              <a:t>regard</a:t>
            </a:r>
            <a:r>
              <a:rPr lang="ru-RU" dirty="0"/>
              <a:t>.</a:t>
            </a:r>
            <a:endParaRPr lang="en-US" dirty="0"/>
          </a:p>
          <a:p>
            <a:pPr algn="just">
              <a:buFont typeface="Wingdings" pitchFamily="2" charset="2"/>
              <a:buChar char="§"/>
            </a:pPr>
            <a:r>
              <a:rPr lang="ru-RU" dirty="0" err="1"/>
              <a:t>Apart</a:t>
            </a:r>
            <a:r>
              <a:rPr lang="ru-RU" dirty="0"/>
              <a:t>  </a:t>
            </a:r>
            <a:r>
              <a:rPr lang="ru-RU" dirty="0" err="1"/>
              <a:t>from</a:t>
            </a:r>
            <a:r>
              <a:rPr lang="ru-RU" dirty="0"/>
              <a:t>  </a:t>
            </a:r>
            <a:r>
              <a:rPr lang="ru-RU" dirty="0" err="1"/>
              <a:t>technical</a:t>
            </a:r>
            <a:r>
              <a:rPr lang="ru-RU" dirty="0"/>
              <a:t>  </a:t>
            </a:r>
            <a:r>
              <a:rPr lang="ru-RU" dirty="0" err="1"/>
              <a:t>human</a:t>
            </a:r>
            <a:r>
              <a:rPr lang="ru-RU" dirty="0"/>
              <a:t>  </a:t>
            </a:r>
            <a:r>
              <a:rPr lang="ru-RU" dirty="0" err="1"/>
              <a:t>infrastructure</a:t>
            </a:r>
            <a:r>
              <a:rPr lang="ru-RU" dirty="0"/>
              <a:t>,</a:t>
            </a:r>
            <a:r>
              <a:rPr lang="en-US" dirty="0"/>
              <a:t> for software development and implementation of e-government projects,</a:t>
            </a:r>
            <a:r>
              <a:rPr lang="ru-RU" dirty="0"/>
              <a:t>  </a:t>
            </a:r>
            <a:r>
              <a:rPr lang="ru-RU" dirty="0" err="1"/>
              <a:t>there</a:t>
            </a:r>
            <a:r>
              <a:rPr lang="ru-RU" dirty="0"/>
              <a:t>  </a:t>
            </a:r>
            <a:r>
              <a:rPr lang="ru-RU" dirty="0" err="1"/>
              <a:t>is</a:t>
            </a:r>
            <a:r>
              <a:rPr lang="ru-RU" dirty="0"/>
              <a:t>  a  </a:t>
            </a:r>
            <a:r>
              <a:rPr lang="ru-RU" dirty="0" err="1"/>
              <a:t>need</a:t>
            </a:r>
            <a:r>
              <a:rPr lang="ru-RU" dirty="0"/>
              <a:t>  </a:t>
            </a:r>
            <a:r>
              <a:rPr lang="ru-RU" dirty="0" err="1"/>
              <a:t>for</a:t>
            </a:r>
            <a:r>
              <a:rPr lang="ru-RU" dirty="0"/>
              <a:t>  </a:t>
            </a:r>
            <a:r>
              <a:rPr lang="ru-RU" dirty="0" err="1"/>
              <a:t>the</a:t>
            </a:r>
            <a:r>
              <a:rPr lang="ru-RU" dirty="0"/>
              <a:t>  </a:t>
            </a:r>
            <a:r>
              <a:rPr lang="ru-RU" dirty="0" err="1"/>
              <a:t>crucial</a:t>
            </a:r>
            <a:r>
              <a:rPr lang="ru-RU" dirty="0"/>
              <a:t> </a:t>
            </a:r>
            <a:r>
              <a:rPr lang="ru-RU" dirty="0" err="1"/>
              <a:t>training</a:t>
            </a:r>
            <a:r>
              <a:rPr lang="ru-RU" dirty="0"/>
              <a:t>   </a:t>
            </a:r>
            <a:r>
              <a:rPr lang="ru-RU" dirty="0" err="1"/>
              <a:t>and</a:t>
            </a:r>
            <a:r>
              <a:rPr lang="ru-RU" dirty="0"/>
              <a:t>  </a:t>
            </a:r>
            <a:r>
              <a:rPr lang="ru-RU" dirty="0" err="1"/>
              <a:t>orientation</a:t>
            </a:r>
            <a:r>
              <a:rPr lang="ru-RU" dirty="0"/>
              <a:t>   </a:t>
            </a:r>
            <a:r>
              <a:rPr lang="ru-RU" dirty="0" err="1"/>
              <a:t>of</a:t>
            </a:r>
            <a:r>
              <a:rPr lang="ru-RU" dirty="0"/>
              <a:t>  </a:t>
            </a:r>
            <a:r>
              <a:rPr lang="ru-RU" dirty="0" err="1"/>
              <a:t>user</a:t>
            </a:r>
            <a:r>
              <a:rPr lang="ru-RU" dirty="0"/>
              <a:t>   </a:t>
            </a:r>
            <a:r>
              <a:rPr lang="ru-RU" dirty="0" err="1"/>
              <a:t>personnel</a:t>
            </a:r>
            <a:r>
              <a:rPr lang="ru-RU" dirty="0"/>
              <a:t>   </a:t>
            </a:r>
            <a:r>
              <a:rPr lang="ru-RU" dirty="0" err="1"/>
              <a:t>i.e</a:t>
            </a:r>
            <a:r>
              <a:rPr lang="ru-RU" dirty="0"/>
              <a:t>.  </a:t>
            </a:r>
            <a:r>
              <a:rPr lang="ru-RU" dirty="0" err="1">
                <a:solidFill>
                  <a:srgbClr val="C00000"/>
                </a:solidFill>
              </a:rPr>
              <a:t>government</a:t>
            </a:r>
            <a:r>
              <a:rPr lang="ru-RU" dirty="0">
                <a:solidFill>
                  <a:srgbClr val="C00000"/>
                </a:solidFill>
              </a:rPr>
              <a:t>   </a:t>
            </a:r>
            <a:r>
              <a:rPr lang="ru-RU" dirty="0" err="1">
                <a:solidFill>
                  <a:srgbClr val="C00000"/>
                </a:solidFill>
              </a:rPr>
              <a:t>staff</a:t>
            </a:r>
            <a:r>
              <a:rPr lang="ru-RU" dirty="0">
                <a:solidFill>
                  <a:srgbClr val="C00000"/>
                </a:solidFill>
              </a:rPr>
              <a:t>  </a:t>
            </a:r>
            <a:r>
              <a:rPr lang="ru-RU" dirty="0" err="1">
                <a:solidFill>
                  <a:srgbClr val="C00000"/>
                </a:solidFill>
              </a:rPr>
              <a:t>in</a:t>
            </a:r>
            <a:r>
              <a:rPr lang="ru-RU" dirty="0">
                <a:solidFill>
                  <a:srgbClr val="C00000"/>
                </a:solidFill>
              </a:rPr>
              <a:t>   e-</a:t>
            </a:r>
            <a:r>
              <a:rPr lang="ru-RU" dirty="0" err="1">
                <a:solidFill>
                  <a:srgbClr val="C00000"/>
                </a:solidFill>
              </a:rPr>
              <a:t>governance</a:t>
            </a:r>
            <a:r>
              <a:rPr lang="ru-RU" dirty="0">
                <a:solidFill>
                  <a:srgbClr val="C00000"/>
                </a:solidFill>
              </a:rPr>
              <a:t> </a:t>
            </a:r>
            <a:r>
              <a:rPr lang="ru-RU" dirty="0" err="1">
                <a:solidFill>
                  <a:srgbClr val="C00000"/>
                </a:solidFill>
              </a:rPr>
              <a:t>project</a:t>
            </a:r>
            <a:r>
              <a:rPr lang="ru-RU" dirty="0">
                <a:solidFill>
                  <a:srgbClr val="C00000"/>
                </a:solidFill>
              </a:rPr>
              <a:t>.</a:t>
            </a:r>
            <a:endParaRPr lang="en-US" dirty="0">
              <a:solidFill>
                <a:srgbClr val="C00000"/>
              </a:solidFill>
            </a:endParaRPr>
          </a:p>
          <a:p>
            <a:pPr algn="just">
              <a:buFont typeface="Wingdings" pitchFamily="2" charset="2"/>
              <a:buChar char="§"/>
            </a:pPr>
            <a:r>
              <a:rPr lang="ru-RU" dirty="0" err="1"/>
              <a:t>The</a:t>
            </a:r>
            <a:r>
              <a:rPr lang="ru-RU" dirty="0"/>
              <a:t>  </a:t>
            </a:r>
            <a:r>
              <a:rPr lang="ru-RU" dirty="0" err="1">
                <a:solidFill>
                  <a:srgbClr val="C00000"/>
                </a:solidFill>
              </a:rPr>
              <a:t>government</a:t>
            </a:r>
            <a:r>
              <a:rPr lang="ru-RU" dirty="0">
                <a:solidFill>
                  <a:srgbClr val="C00000"/>
                </a:solidFill>
              </a:rPr>
              <a:t>  </a:t>
            </a:r>
            <a:r>
              <a:rPr lang="ru-RU" dirty="0" err="1">
                <a:solidFill>
                  <a:srgbClr val="C00000"/>
                </a:solidFill>
              </a:rPr>
              <a:t>employees</a:t>
            </a:r>
            <a:r>
              <a:rPr lang="ru-RU" dirty="0">
                <a:solidFill>
                  <a:srgbClr val="C00000"/>
                </a:solidFill>
              </a:rPr>
              <a:t>  </a:t>
            </a:r>
            <a:r>
              <a:rPr lang="ru-RU" dirty="0" err="1">
                <a:solidFill>
                  <a:srgbClr val="C00000"/>
                </a:solidFill>
              </a:rPr>
              <a:t>and</a:t>
            </a:r>
            <a:r>
              <a:rPr lang="ru-RU" dirty="0">
                <a:solidFill>
                  <a:srgbClr val="C00000"/>
                </a:solidFill>
              </a:rPr>
              <a:t>  </a:t>
            </a:r>
            <a:r>
              <a:rPr lang="ru-RU" dirty="0" err="1">
                <a:solidFill>
                  <a:srgbClr val="C00000"/>
                </a:solidFill>
              </a:rPr>
              <a:t>staff</a:t>
            </a:r>
            <a:r>
              <a:rPr lang="ru-RU" dirty="0"/>
              <a:t>   </a:t>
            </a:r>
            <a:r>
              <a:rPr lang="ru-RU" dirty="0" err="1"/>
              <a:t>who</a:t>
            </a:r>
            <a:r>
              <a:rPr lang="ru-RU" dirty="0"/>
              <a:t>  </a:t>
            </a:r>
            <a:r>
              <a:rPr lang="ru-RU" dirty="0" err="1"/>
              <a:t>are</a:t>
            </a:r>
            <a:r>
              <a:rPr lang="ru-RU" dirty="0"/>
              <a:t>  </a:t>
            </a:r>
            <a:r>
              <a:rPr lang="ru-RU" dirty="0" err="1"/>
              <a:t>the</a:t>
            </a:r>
            <a:r>
              <a:rPr lang="ru-RU" dirty="0"/>
              <a:t>  </a:t>
            </a:r>
            <a:r>
              <a:rPr lang="ru-RU" dirty="0" err="1">
                <a:solidFill>
                  <a:srgbClr val="00B050"/>
                </a:solidFill>
              </a:rPr>
              <a:t>stake-holders</a:t>
            </a:r>
            <a:r>
              <a:rPr lang="ru-RU" dirty="0">
                <a:solidFill>
                  <a:srgbClr val="00B050"/>
                </a:solidFill>
              </a:rPr>
              <a:t>  </a:t>
            </a:r>
            <a:r>
              <a:rPr lang="ru-RU" dirty="0" err="1">
                <a:solidFill>
                  <a:srgbClr val="00B050"/>
                </a:solidFill>
              </a:rPr>
              <a:t>in</a:t>
            </a:r>
            <a:r>
              <a:rPr lang="ru-RU" dirty="0">
                <a:solidFill>
                  <a:srgbClr val="00B050"/>
                </a:solidFill>
              </a:rPr>
              <a:t>  </a:t>
            </a:r>
            <a:r>
              <a:rPr lang="ru-RU" dirty="0" err="1">
                <a:solidFill>
                  <a:srgbClr val="00B050"/>
                </a:solidFill>
              </a:rPr>
              <a:t>all</a:t>
            </a:r>
            <a:r>
              <a:rPr lang="ru-RU" dirty="0">
                <a:solidFill>
                  <a:srgbClr val="00B050"/>
                </a:solidFill>
              </a:rPr>
              <a:t>  e-</a:t>
            </a:r>
            <a:r>
              <a:rPr lang="ru-RU" dirty="0" err="1">
                <a:solidFill>
                  <a:srgbClr val="00B050"/>
                </a:solidFill>
              </a:rPr>
              <a:t>government</a:t>
            </a:r>
            <a:r>
              <a:rPr lang="ru-RU" dirty="0">
                <a:solidFill>
                  <a:srgbClr val="00B050"/>
                </a:solidFill>
              </a:rPr>
              <a:t>  </a:t>
            </a:r>
            <a:r>
              <a:rPr lang="ru-RU" dirty="0" err="1">
                <a:solidFill>
                  <a:srgbClr val="00B050"/>
                </a:solidFill>
              </a:rPr>
              <a:t>projects</a:t>
            </a:r>
            <a:r>
              <a:rPr lang="ru-RU" dirty="0">
                <a:solidFill>
                  <a:srgbClr val="00B050"/>
                </a:solidFill>
              </a:rPr>
              <a:t>  </a:t>
            </a:r>
            <a:r>
              <a:rPr lang="ru-RU" dirty="0" err="1">
                <a:solidFill>
                  <a:srgbClr val="00B050"/>
                </a:solidFill>
              </a:rPr>
              <a:t>as</a:t>
            </a:r>
            <a:r>
              <a:rPr lang="ru-RU" dirty="0">
                <a:solidFill>
                  <a:srgbClr val="00B050"/>
                </a:solidFill>
              </a:rPr>
              <a:t>  </a:t>
            </a:r>
            <a:r>
              <a:rPr lang="ru-RU" dirty="0" err="1">
                <a:solidFill>
                  <a:srgbClr val="00B050"/>
                </a:solidFill>
              </a:rPr>
              <a:t>the</a:t>
            </a:r>
            <a:r>
              <a:rPr lang="ru-RU" dirty="0">
                <a:solidFill>
                  <a:srgbClr val="00B050"/>
                </a:solidFill>
              </a:rPr>
              <a:t>  </a:t>
            </a:r>
            <a:r>
              <a:rPr lang="ru-RU" dirty="0" err="1">
                <a:solidFill>
                  <a:srgbClr val="00B050"/>
                </a:solidFill>
              </a:rPr>
              <a:t>end</a:t>
            </a:r>
            <a:r>
              <a:rPr lang="ru-RU" dirty="0">
                <a:solidFill>
                  <a:srgbClr val="00B050"/>
                </a:solidFill>
              </a:rPr>
              <a:t>  </a:t>
            </a:r>
            <a:r>
              <a:rPr lang="ru-RU" dirty="0" err="1">
                <a:solidFill>
                  <a:srgbClr val="00B050"/>
                </a:solidFill>
              </a:rPr>
              <a:t>users</a:t>
            </a:r>
            <a:r>
              <a:rPr lang="ru-RU" dirty="0">
                <a:solidFill>
                  <a:srgbClr val="00B050"/>
                </a:solidFill>
              </a:rPr>
              <a:t>  </a:t>
            </a:r>
            <a:r>
              <a:rPr lang="ru-RU" dirty="0" err="1"/>
              <a:t>are</a:t>
            </a:r>
            <a:r>
              <a:rPr lang="ru-RU" dirty="0"/>
              <a:t>  </a:t>
            </a:r>
            <a:r>
              <a:rPr lang="ru-RU" dirty="0" err="1"/>
              <a:t>to</a:t>
            </a:r>
            <a:r>
              <a:rPr lang="ru-RU" dirty="0"/>
              <a:t>  </a:t>
            </a:r>
            <a:r>
              <a:rPr lang="ru-RU" dirty="0" err="1"/>
              <a:t>be</a:t>
            </a:r>
            <a:r>
              <a:rPr lang="ru-RU" dirty="0"/>
              <a:t>  </a:t>
            </a:r>
            <a:r>
              <a:rPr lang="ru-RU" dirty="0" err="1">
                <a:solidFill>
                  <a:srgbClr val="7030A0"/>
                </a:solidFill>
              </a:rPr>
              <a:t>appropriately</a:t>
            </a:r>
            <a:r>
              <a:rPr lang="ru-RU" dirty="0">
                <a:solidFill>
                  <a:srgbClr val="7030A0"/>
                </a:solidFill>
              </a:rPr>
              <a:t>  </a:t>
            </a:r>
            <a:r>
              <a:rPr lang="ru-RU" dirty="0" err="1">
                <a:solidFill>
                  <a:srgbClr val="7030A0"/>
                </a:solidFill>
              </a:rPr>
              <a:t>trained</a:t>
            </a:r>
            <a:r>
              <a:rPr lang="ru-RU" dirty="0">
                <a:solidFill>
                  <a:srgbClr val="7030A0"/>
                </a:solidFill>
              </a:rPr>
              <a:t>  </a:t>
            </a:r>
            <a:r>
              <a:rPr lang="ru-RU" dirty="0" err="1">
                <a:solidFill>
                  <a:srgbClr val="7030A0"/>
                </a:solidFill>
              </a:rPr>
              <a:t>and</a:t>
            </a:r>
            <a:r>
              <a:rPr lang="ru-RU" dirty="0">
                <a:solidFill>
                  <a:srgbClr val="7030A0"/>
                </a:solidFill>
              </a:rPr>
              <a:t> </a:t>
            </a:r>
            <a:r>
              <a:rPr lang="ru-RU" dirty="0" err="1">
                <a:solidFill>
                  <a:srgbClr val="7030A0"/>
                </a:solidFill>
              </a:rPr>
              <a:t>oriented</a:t>
            </a:r>
            <a:r>
              <a:rPr lang="ru-RU" dirty="0">
                <a:solidFill>
                  <a:srgbClr val="7030A0"/>
                </a:solidFill>
              </a:rPr>
              <a:t> </a:t>
            </a:r>
            <a:r>
              <a:rPr lang="ru-RU" dirty="0" err="1">
                <a:solidFill>
                  <a:srgbClr val="7030A0"/>
                </a:solidFill>
              </a:rPr>
              <a:t>for</a:t>
            </a:r>
            <a:r>
              <a:rPr lang="ru-RU" dirty="0">
                <a:solidFill>
                  <a:srgbClr val="7030A0"/>
                </a:solidFill>
              </a:rPr>
              <a:t> </a:t>
            </a:r>
            <a:r>
              <a:rPr lang="ru-RU" dirty="0" err="1">
                <a:solidFill>
                  <a:srgbClr val="7030A0"/>
                </a:solidFill>
              </a:rPr>
              <a:t>change</a:t>
            </a:r>
            <a:r>
              <a:rPr lang="ru-RU" dirty="0">
                <a:solidFill>
                  <a:srgbClr val="7030A0"/>
                </a:solidFill>
              </a:rPr>
              <a:t> </a:t>
            </a:r>
            <a:r>
              <a:rPr lang="ru-RU" dirty="0" err="1">
                <a:solidFill>
                  <a:srgbClr val="7030A0"/>
                </a:solidFill>
              </a:rPr>
              <a:t>management</a:t>
            </a:r>
            <a:r>
              <a:rPr lang="ru-RU" dirty="0">
                <a:solidFill>
                  <a:srgbClr val="7030A0"/>
                </a:solidFill>
              </a:rPr>
              <a:t> </a:t>
            </a:r>
            <a:r>
              <a:rPr lang="ru-RU" dirty="0" err="1">
                <a:solidFill>
                  <a:srgbClr val="7030A0"/>
                </a:solidFill>
              </a:rPr>
              <a:t>from</a:t>
            </a:r>
            <a:r>
              <a:rPr lang="ru-RU" dirty="0">
                <a:solidFill>
                  <a:srgbClr val="7030A0"/>
                </a:solidFill>
              </a:rPr>
              <a:t> a </a:t>
            </a:r>
            <a:r>
              <a:rPr lang="ru-RU" dirty="0" err="1">
                <a:solidFill>
                  <a:srgbClr val="7030A0"/>
                </a:solidFill>
              </a:rPr>
              <a:t>manual</a:t>
            </a:r>
            <a:r>
              <a:rPr lang="ru-RU" dirty="0">
                <a:solidFill>
                  <a:srgbClr val="7030A0"/>
                </a:solidFill>
              </a:rPr>
              <a:t> </a:t>
            </a:r>
            <a:r>
              <a:rPr lang="ru-RU" dirty="0" err="1">
                <a:solidFill>
                  <a:srgbClr val="7030A0"/>
                </a:solidFill>
              </a:rPr>
              <a:t>government</a:t>
            </a:r>
            <a:r>
              <a:rPr lang="ru-RU" dirty="0">
                <a:solidFill>
                  <a:srgbClr val="7030A0"/>
                </a:solidFill>
              </a:rPr>
              <a:t> </a:t>
            </a:r>
            <a:r>
              <a:rPr lang="ru-RU" dirty="0" err="1">
                <a:solidFill>
                  <a:srgbClr val="7030A0"/>
                </a:solidFill>
              </a:rPr>
              <a:t>environment</a:t>
            </a:r>
            <a:r>
              <a:rPr lang="ru-RU" dirty="0">
                <a:solidFill>
                  <a:srgbClr val="7030A0"/>
                </a:solidFill>
              </a:rPr>
              <a:t> </a:t>
            </a:r>
            <a:r>
              <a:rPr lang="ru-RU" dirty="0" err="1">
                <a:solidFill>
                  <a:srgbClr val="7030A0"/>
                </a:solidFill>
              </a:rPr>
              <a:t>to</a:t>
            </a:r>
            <a:r>
              <a:rPr lang="ru-RU" dirty="0">
                <a:solidFill>
                  <a:srgbClr val="7030A0"/>
                </a:solidFill>
              </a:rPr>
              <a:t> e-</a:t>
            </a:r>
            <a:r>
              <a:rPr lang="ru-RU" dirty="0" err="1">
                <a:solidFill>
                  <a:srgbClr val="7030A0"/>
                </a:solidFill>
              </a:rPr>
              <a:t>governance</a:t>
            </a:r>
            <a:r>
              <a:rPr lang="ru-RU" dirty="0">
                <a:solidFill>
                  <a:srgbClr val="7030A0"/>
                </a:solidFill>
              </a:rPr>
              <a:t> </a:t>
            </a:r>
            <a:r>
              <a:rPr lang="ru-RU" dirty="0" err="1">
                <a:solidFill>
                  <a:srgbClr val="7030A0"/>
                </a:solidFill>
              </a:rPr>
              <a:t>environment</a:t>
            </a:r>
            <a:r>
              <a:rPr lang="ru-RU" dirty="0">
                <a:solidFill>
                  <a:srgbClr val="7030A0"/>
                </a:solidFill>
              </a:rPr>
              <a:t>. </a:t>
            </a:r>
            <a:endParaRPr lang="en-US" dirty="0">
              <a:solidFill>
                <a:srgbClr val="7030A0"/>
              </a:solidFill>
            </a:endParaRPr>
          </a:p>
          <a:p>
            <a:pPr algn="just">
              <a:buFont typeface="Wingdings" pitchFamily="2" charset="2"/>
              <a:buChar char="§"/>
            </a:pPr>
            <a:r>
              <a:rPr lang="ru-RU" dirty="0" err="1"/>
              <a:t>Such</a:t>
            </a:r>
            <a:r>
              <a:rPr lang="ru-RU" dirty="0"/>
              <a:t>  </a:t>
            </a:r>
            <a:r>
              <a:rPr lang="ru-RU" dirty="0" err="1"/>
              <a:t>training</a:t>
            </a:r>
            <a:r>
              <a:rPr lang="ru-RU" dirty="0"/>
              <a:t>   </a:t>
            </a:r>
            <a:r>
              <a:rPr lang="ru-RU" dirty="0" err="1"/>
              <a:t>will</a:t>
            </a:r>
            <a:r>
              <a:rPr lang="ru-RU" dirty="0"/>
              <a:t>   </a:t>
            </a:r>
            <a:r>
              <a:rPr lang="ru-RU" dirty="0" err="1"/>
              <a:t>make</a:t>
            </a:r>
            <a:r>
              <a:rPr lang="ru-RU" dirty="0"/>
              <a:t>  </a:t>
            </a:r>
            <a:r>
              <a:rPr lang="ru-RU" dirty="0" err="1"/>
              <a:t>them</a:t>
            </a:r>
            <a:r>
              <a:rPr lang="ru-RU" dirty="0"/>
              <a:t>   </a:t>
            </a:r>
            <a:r>
              <a:rPr lang="ru-RU" dirty="0" err="1"/>
              <a:t>competent</a:t>
            </a:r>
            <a:r>
              <a:rPr lang="ru-RU" dirty="0"/>
              <a:t>  </a:t>
            </a:r>
            <a:r>
              <a:rPr lang="ru-RU" dirty="0" err="1"/>
              <a:t>and</a:t>
            </a:r>
            <a:r>
              <a:rPr lang="ru-RU" dirty="0"/>
              <a:t>   </a:t>
            </a:r>
            <a:r>
              <a:rPr lang="ru-RU" dirty="0" err="1"/>
              <a:t>capable</a:t>
            </a:r>
            <a:r>
              <a:rPr lang="ru-RU" dirty="0"/>
              <a:t>   </a:t>
            </a:r>
            <a:r>
              <a:rPr lang="ru-RU" dirty="0" err="1"/>
              <a:t>of</a:t>
            </a:r>
            <a:r>
              <a:rPr lang="ru-RU" dirty="0"/>
              <a:t>  </a:t>
            </a:r>
            <a:r>
              <a:rPr lang="ru-RU" dirty="0" err="1"/>
              <a:t>handling</a:t>
            </a:r>
            <a:r>
              <a:rPr lang="ru-RU" dirty="0"/>
              <a:t>   e-</a:t>
            </a:r>
            <a:r>
              <a:rPr lang="ru-RU" dirty="0" err="1"/>
              <a:t>governance</a:t>
            </a:r>
            <a:r>
              <a:rPr lang="ru-RU" dirty="0"/>
              <a:t> </a:t>
            </a:r>
            <a:r>
              <a:rPr lang="ru-RU" dirty="0" err="1"/>
              <a:t>projects</a:t>
            </a:r>
            <a:r>
              <a:rPr lang="ru-RU" dirty="0"/>
              <a:t> </a:t>
            </a:r>
            <a:r>
              <a:rPr lang="ru-RU" dirty="0" err="1"/>
              <a:t>at</a:t>
            </a:r>
            <a:r>
              <a:rPr lang="ru-RU" dirty="0"/>
              <a:t> </a:t>
            </a:r>
            <a:r>
              <a:rPr lang="ru-RU" dirty="0" err="1"/>
              <a:t>operational</a:t>
            </a:r>
            <a:r>
              <a:rPr lang="ru-RU" dirty="0"/>
              <a:t> </a:t>
            </a:r>
            <a:r>
              <a:rPr lang="ru-RU" dirty="0" err="1"/>
              <a:t>level</a:t>
            </a:r>
            <a:r>
              <a:rPr lang="en-US" dirty="0"/>
              <a:t>.</a:t>
            </a:r>
          </a:p>
          <a:p>
            <a:pPr>
              <a:buNone/>
            </a:pPr>
            <a:endParaRPr lang="en-US" dirty="0"/>
          </a:p>
        </p:txBody>
      </p:sp>
    </p:spTree>
    <p:extLst>
      <p:ext uri="{BB962C8B-B14F-4D97-AF65-F5344CB8AC3E}">
        <p14:creationId xmlns:p14="http://schemas.microsoft.com/office/powerpoint/2010/main" val="94162371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825"/>
          </a:xfrm>
        </p:spPr>
        <p:txBody>
          <a:bodyPr>
            <a:normAutofit fontScale="90000"/>
          </a:bodyPr>
          <a:lstStyle/>
          <a:p>
            <a:pPr algn="ctr"/>
            <a:r>
              <a:rPr lang="en-US" dirty="0">
                <a:solidFill>
                  <a:srgbClr val="0070C0"/>
                </a:solidFill>
              </a:rPr>
              <a:t/>
            </a:r>
            <a:br>
              <a:rPr lang="en-US" dirty="0">
                <a:solidFill>
                  <a:srgbClr val="0070C0"/>
                </a:solidFill>
              </a:rPr>
            </a:br>
            <a:r>
              <a:rPr lang="ru-RU" sz="4000" dirty="0">
                <a:solidFill>
                  <a:srgbClr val="0070C0"/>
                </a:solidFill>
              </a:rPr>
              <a:t> </a:t>
            </a:r>
            <a:r>
              <a:rPr lang="ru-RU" dirty="0">
                <a:solidFill>
                  <a:srgbClr val="0070C0"/>
                </a:solidFill>
              </a:rPr>
              <a:t>E-</a:t>
            </a:r>
            <a:r>
              <a:rPr lang="ru-RU" dirty="0" err="1">
                <a:solidFill>
                  <a:srgbClr val="0070C0"/>
                </a:solidFill>
              </a:rPr>
              <a:t>Readiness</a:t>
            </a:r>
            <a:r>
              <a:rPr lang="ru-RU" dirty="0">
                <a:solidFill>
                  <a:srgbClr val="0070C0"/>
                </a:solidFill>
              </a:rPr>
              <a:t>: </a:t>
            </a:r>
            <a:r>
              <a:rPr lang="ru-RU" dirty="0" err="1">
                <a:solidFill>
                  <a:srgbClr val="0070C0"/>
                </a:solidFill>
              </a:rPr>
              <a:t>Technological</a:t>
            </a:r>
            <a:r>
              <a:rPr lang="ru-RU" dirty="0">
                <a:solidFill>
                  <a:srgbClr val="0070C0"/>
                </a:solidFill>
              </a:rPr>
              <a:t> </a:t>
            </a:r>
            <a:r>
              <a:rPr lang="ru-RU" dirty="0" err="1">
                <a:solidFill>
                  <a:srgbClr val="0070C0"/>
                </a:solidFill>
              </a:rPr>
              <a:t>Infrastructure</a:t>
            </a:r>
            <a:r>
              <a:rPr lang="en-US" dirty="0">
                <a:solidFill>
                  <a:srgbClr val="0070C0"/>
                </a:solidFill>
              </a:rPr>
              <a:t> Preparedness</a:t>
            </a:r>
            <a:r>
              <a:rPr lang="ru-RU" dirty="0">
                <a:solidFill>
                  <a:srgbClr val="0070C0"/>
                </a:solidFill>
              </a:rPr>
              <a:t> </a:t>
            </a:r>
            <a:r>
              <a:rPr lang="en-US" dirty="0"/>
              <a:t/>
            </a:r>
            <a:br>
              <a:rPr lang="en-US" dirty="0"/>
            </a:br>
            <a:endParaRPr lang="en-US" dirty="0"/>
          </a:p>
        </p:txBody>
      </p:sp>
      <p:sp>
        <p:nvSpPr>
          <p:cNvPr id="3" name="Content Placeholder 2"/>
          <p:cNvSpPr>
            <a:spLocks noGrp="1"/>
          </p:cNvSpPr>
          <p:nvPr>
            <p:ph idx="1"/>
          </p:nvPr>
        </p:nvSpPr>
        <p:spPr>
          <a:xfrm>
            <a:off x="311150" y="1250950"/>
            <a:ext cx="11042650" cy="5099050"/>
          </a:xfrm>
        </p:spPr>
        <p:txBody>
          <a:bodyPr>
            <a:normAutofit fontScale="92500" lnSpcReduction="20000"/>
          </a:bodyPr>
          <a:lstStyle/>
          <a:p>
            <a:pPr algn="just">
              <a:buFont typeface="Wingdings" pitchFamily="2" charset="2"/>
              <a:buChar char="§"/>
            </a:pPr>
            <a:r>
              <a:rPr lang="ru-RU" sz="2400" dirty="0" err="1">
                <a:solidFill>
                  <a:srgbClr val="C00000"/>
                </a:solidFill>
              </a:rPr>
              <a:t>Technology</a:t>
            </a:r>
            <a:r>
              <a:rPr lang="ru-RU" sz="2400" dirty="0">
                <a:solidFill>
                  <a:srgbClr val="C00000"/>
                </a:solidFill>
              </a:rPr>
              <a:t>  </a:t>
            </a:r>
            <a:r>
              <a:rPr lang="ru-RU" sz="2400" dirty="0" err="1">
                <a:solidFill>
                  <a:srgbClr val="C00000"/>
                </a:solidFill>
              </a:rPr>
              <a:t>is</a:t>
            </a:r>
            <a:r>
              <a:rPr lang="ru-RU" sz="2400" dirty="0">
                <a:solidFill>
                  <a:srgbClr val="C00000"/>
                </a:solidFill>
              </a:rPr>
              <a:t>  </a:t>
            </a:r>
            <a:r>
              <a:rPr lang="ru-RU" sz="2400" dirty="0" err="1">
                <a:solidFill>
                  <a:srgbClr val="C00000"/>
                </a:solidFill>
              </a:rPr>
              <a:t>fast</a:t>
            </a:r>
            <a:r>
              <a:rPr lang="ru-RU" sz="2400" dirty="0">
                <a:solidFill>
                  <a:srgbClr val="C00000"/>
                </a:solidFill>
              </a:rPr>
              <a:t>  </a:t>
            </a:r>
            <a:r>
              <a:rPr lang="ru-RU" sz="2400" dirty="0" err="1">
                <a:solidFill>
                  <a:srgbClr val="C00000"/>
                </a:solidFill>
              </a:rPr>
              <a:t>changing</a:t>
            </a:r>
            <a:r>
              <a:rPr lang="ru-RU" sz="2400" dirty="0">
                <a:solidFill>
                  <a:srgbClr val="C00000"/>
                </a:solidFill>
              </a:rPr>
              <a:t>  </a:t>
            </a:r>
            <a:r>
              <a:rPr lang="ru-RU" sz="2400" dirty="0" err="1">
                <a:solidFill>
                  <a:srgbClr val="C00000"/>
                </a:solidFill>
              </a:rPr>
              <a:t>in</a:t>
            </a:r>
            <a:r>
              <a:rPr lang="ru-RU" sz="2400" dirty="0">
                <a:solidFill>
                  <a:srgbClr val="C00000"/>
                </a:solidFill>
              </a:rPr>
              <a:t>  ICT  </a:t>
            </a:r>
            <a:r>
              <a:rPr lang="ru-RU" sz="2400" dirty="0" err="1">
                <a:solidFill>
                  <a:srgbClr val="C00000"/>
                </a:solidFill>
              </a:rPr>
              <a:t>domain</a:t>
            </a:r>
            <a:r>
              <a:rPr lang="ru-RU" sz="2400" dirty="0"/>
              <a:t>   </a:t>
            </a:r>
            <a:r>
              <a:rPr lang="ru-RU" sz="2400" dirty="0" err="1"/>
              <a:t>and</a:t>
            </a:r>
            <a:r>
              <a:rPr lang="ru-RU" sz="2400" dirty="0"/>
              <a:t>  </a:t>
            </a:r>
            <a:r>
              <a:rPr lang="ru-RU" sz="2400" dirty="0" err="1"/>
              <a:t>there</a:t>
            </a:r>
            <a:r>
              <a:rPr lang="ru-RU" sz="2400" dirty="0"/>
              <a:t>  </a:t>
            </a:r>
            <a:r>
              <a:rPr lang="ru-RU" sz="2400" dirty="0" err="1"/>
              <a:t>is</a:t>
            </a:r>
            <a:r>
              <a:rPr lang="ru-RU" sz="2400" dirty="0"/>
              <a:t>  a  </a:t>
            </a:r>
            <a:r>
              <a:rPr lang="ru-RU" sz="2400" dirty="0" err="1">
                <a:solidFill>
                  <a:srgbClr val="00B050"/>
                </a:solidFill>
              </a:rPr>
              <a:t>rapid</a:t>
            </a:r>
            <a:r>
              <a:rPr lang="ru-RU" sz="2400" dirty="0">
                <a:solidFill>
                  <a:srgbClr val="00B050"/>
                </a:solidFill>
              </a:rPr>
              <a:t> </a:t>
            </a:r>
            <a:r>
              <a:rPr lang="ru-RU" sz="2400" dirty="0" err="1">
                <a:solidFill>
                  <a:srgbClr val="00B050"/>
                </a:solidFill>
              </a:rPr>
              <a:t>obsolescence</a:t>
            </a:r>
            <a:r>
              <a:rPr lang="ru-RU" sz="2400" dirty="0">
                <a:solidFill>
                  <a:srgbClr val="00B050"/>
                </a:solidFill>
              </a:rPr>
              <a:t>  </a:t>
            </a:r>
            <a:r>
              <a:rPr lang="ru-RU" sz="2400" dirty="0" err="1">
                <a:solidFill>
                  <a:srgbClr val="00B050"/>
                </a:solidFill>
              </a:rPr>
              <a:t>of</a:t>
            </a:r>
            <a:r>
              <a:rPr lang="ru-RU" sz="2400" dirty="0">
                <a:solidFill>
                  <a:srgbClr val="00B050"/>
                </a:solidFill>
              </a:rPr>
              <a:t>  </a:t>
            </a:r>
            <a:r>
              <a:rPr lang="ru-RU" sz="2400" dirty="0" err="1">
                <a:solidFill>
                  <a:srgbClr val="00B050"/>
                </a:solidFill>
              </a:rPr>
              <a:t>software</a:t>
            </a:r>
            <a:r>
              <a:rPr lang="ru-RU" sz="2400" dirty="0">
                <a:solidFill>
                  <a:srgbClr val="00B050"/>
                </a:solidFill>
              </a:rPr>
              <a:t>  </a:t>
            </a:r>
            <a:r>
              <a:rPr lang="ru-RU" sz="2400" dirty="0" err="1">
                <a:solidFill>
                  <a:srgbClr val="00B050"/>
                </a:solidFill>
              </a:rPr>
              <a:t>as</a:t>
            </a:r>
            <a:r>
              <a:rPr lang="ru-RU" sz="2400" dirty="0">
                <a:solidFill>
                  <a:srgbClr val="00B050"/>
                </a:solidFill>
              </a:rPr>
              <a:t>  </a:t>
            </a:r>
            <a:r>
              <a:rPr lang="ru-RU" sz="2400" dirty="0" err="1">
                <a:solidFill>
                  <a:srgbClr val="00B050"/>
                </a:solidFill>
              </a:rPr>
              <a:t>well</a:t>
            </a:r>
            <a:r>
              <a:rPr lang="ru-RU" sz="2400" dirty="0">
                <a:solidFill>
                  <a:srgbClr val="00B050"/>
                </a:solidFill>
              </a:rPr>
              <a:t>  </a:t>
            </a:r>
            <a:r>
              <a:rPr lang="ru-RU" sz="2400" dirty="0" err="1">
                <a:solidFill>
                  <a:srgbClr val="00B050"/>
                </a:solidFill>
              </a:rPr>
              <a:t>as</a:t>
            </a:r>
            <a:r>
              <a:rPr lang="ru-RU" sz="2400" dirty="0">
                <a:solidFill>
                  <a:srgbClr val="00B050"/>
                </a:solidFill>
              </a:rPr>
              <a:t>  </a:t>
            </a:r>
            <a:r>
              <a:rPr lang="ru-RU" sz="2400" dirty="0" err="1">
                <a:solidFill>
                  <a:srgbClr val="00B050"/>
                </a:solidFill>
              </a:rPr>
              <a:t>hardware</a:t>
            </a:r>
            <a:r>
              <a:rPr lang="ru-RU" sz="2400" dirty="0">
                <a:solidFill>
                  <a:srgbClr val="00B050"/>
                </a:solidFill>
              </a:rPr>
              <a:t> </a:t>
            </a:r>
            <a:r>
              <a:rPr lang="en-US" sz="2400" dirty="0">
                <a:solidFill>
                  <a:srgbClr val="00B050"/>
                </a:solidFill>
              </a:rPr>
              <a:t>and the maintenance and support they</a:t>
            </a:r>
            <a:r>
              <a:rPr lang="ru-RU" sz="2400" dirty="0"/>
              <a:t>  </a:t>
            </a:r>
            <a:r>
              <a:rPr lang="ru-RU" sz="2400" dirty="0" err="1"/>
              <a:t>require</a:t>
            </a:r>
            <a:r>
              <a:rPr lang="ru-RU" sz="2400" dirty="0"/>
              <a:t> </a:t>
            </a:r>
            <a:r>
              <a:rPr lang="en-US" sz="2400" dirty="0"/>
              <a:t>results in </a:t>
            </a:r>
            <a:r>
              <a:rPr lang="ru-RU" sz="2400" dirty="0"/>
              <a:t> </a:t>
            </a:r>
            <a:r>
              <a:rPr lang="ru-RU" sz="2400" dirty="0" err="1"/>
              <a:t>great</a:t>
            </a:r>
            <a:r>
              <a:rPr lang="en-US" sz="2400" dirty="0"/>
              <a:t> </a:t>
            </a:r>
            <a:r>
              <a:rPr lang="ru-RU" sz="2400" dirty="0" err="1"/>
              <a:t>financial</a:t>
            </a:r>
            <a:r>
              <a:rPr lang="ru-RU" sz="2400" dirty="0"/>
              <a:t> </a:t>
            </a:r>
            <a:r>
              <a:rPr lang="en-US" sz="2400" dirty="0"/>
              <a:t>demands from </a:t>
            </a:r>
            <a:r>
              <a:rPr lang="ru-RU" sz="2400" dirty="0"/>
              <a:t> </a:t>
            </a:r>
            <a:r>
              <a:rPr lang="ru-RU" sz="2400" dirty="0" err="1"/>
              <a:t>time</a:t>
            </a:r>
            <a:r>
              <a:rPr lang="ru-RU" sz="2400" dirty="0"/>
              <a:t> </a:t>
            </a:r>
            <a:r>
              <a:rPr lang="en-US" sz="2400" dirty="0"/>
              <a:t>to time</a:t>
            </a:r>
            <a:r>
              <a:rPr lang="ru-RU" sz="2400" dirty="0"/>
              <a:t>.</a:t>
            </a:r>
            <a:endParaRPr lang="en-US" sz="2400" dirty="0"/>
          </a:p>
          <a:p>
            <a:pPr algn="just">
              <a:buFont typeface="Wingdings" pitchFamily="2" charset="2"/>
              <a:buChar char="§"/>
            </a:pPr>
            <a:r>
              <a:rPr lang="ru-RU" sz="2400" dirty="0" err="1"/>
              <a:t>Government</a:t>
            </a:r>
            <a:r>
              <a:rPr lang="ru-RU" sz="2400" dirty="0"/>
              <a:t>  </a:t>
            </a:r>
            <a:r>
              <a:rPr lang="ru-RU" sz="2400" dirty="0" err="1"/>
              <a:t>organizations</a:t>
            </a:r>
            <a:r>
              <a:rPr lang="ru-RU" sz="2400" dirty="0"/>
              <a:t>  </a:t>
            </a:r>
            <a:r>
              <a:rPr lang="ru-RU" sz="2400" dirty="0" err="1"/>
              <a:t>encounter</a:t>
            </a:r>
            <a:r>
              <a:rPr lang="ru-RU" sz="2400" dirty="0"/>
              <a:t> </a:t>
            </a:r>
            <a:r>
              <a:rPr lang="ru-RU" sz="2400" dirty="0" err="1"/>
              <a:t>this</a:t>
            </a:r>
            <a:r>
              <a:rPr lang="ru-RU" sz="2400" dirty="0"/>
              <a:t> </a:t>
            </a:r>
            <a:r>
              <a:rPr lang="ru-RU" sz="2400" dirty="0" err="1"/>
              <a:t>situation</a:t>
            </a:r>
            <a:r>
              <a:rPr lang="ru-RU" sz="2400" dirty="0"/>
              <a:t> </a:t>
            </a:r>
            <a:r>
              <a:rPr lang="ru-RU" sz="2400" dirty="0" err="1"/>
              <a:t>especially</a:t>
            </a:r>
            <a:r>
              <a:rPr lang="ru-RU" sz="2400" dirty="0"/>
              <a:t> </a:t>
            </a:r>
            <a:r>
              <a:rPr lang="ru-RU" sz="2400" dirty="0" err="1"/>
              <a:t>as</a:t>
            </a:r>
            <a:r>
              <a:rPr lang="ru-RU" sz="2400" dirty="0"/>
              <a:t> </a:t>
            </a:r>
            <a:r>
              <a:rPr lang="ru-RU" sz="2400" dirty="0" err="1">
                <a:solidFill>
                  <a:srgbClr val="00B050"/>
                </a:solidFill>
              </a:rPr>
              <a:t>their</a:t>
            </a:r>
            <a:r>
              <a:rPr lang="ru-RU" sz="2400" dirty="0">
                <a:solidFill>
                  <a:srgbClr val="00B050"/>
                </a:solidFill>
              </a:rPr>
              <a:t> </a:t>
            </a:r>
            <a:r>
              <a:rPr lang="ru-RU" sz="2400" dirty="0" err="1">
                <a:solidFill>
                  <a:srgbClr val="00B050"/>
                </a:solidFill>
              </a:rPr>
              <a:t>procedures</a:t>
            </a:r>
            <a:r>
              <a:rPr lang="ru-RU" sz="2400" dirty="0">
                <a:solidFill>
                  <a:srgbClr val="00B050"/>
                </a:solidFill>
              </a:rPr>
              <a:t>  </a:t>
            </a:r>
            <a:r>
              <a:rPr lang="ru-RU" sz="2400" dirty="0" err="1">
                <a:solidFill>
                  <a:srgbClr val="00B050"/>
                </a:solidFill>
              </a:rPr>
              <a:t>to</a:t>
            </a:r>
            <a:r>
              <a:rPr lang="ru-RU" sz="2400" dirty="0">
                <a:solidFill>
                  <a:srgbClr val="00B050"/>
                </a:solidFill>
              </a:rPr>
              <a:t> </a:t>
            </a:r>
            <a:r>
              <a:rPr lang="ru-RU" sz="2400" dirty="0" err="1">
                <a:solidFill>
                  <a:srgbClr val="00B050"/>
                </a:solidFill>
              </a:rPr>
              <a:t>procure</a:t>
            </a:r>
            <a:r>
              <a:rPr lang="ru-RU" sz="2400" dirty="0">
                <a:solidFill>
                  <a:srgbClr val="00B050"/>
                </a:solidFill>
              </a:rPr>
              <a:t>  </a:t>
            </a:r>
            <a:r>
              <a:rPr lang="ru-RU" sz="2400" dirty="0" err="1">
                <a:solidFill>
                  <a:srgbClr val="00B050"/>
                </a:solidFill>
              </a:rPr>
              <a:t>hardware</a:t>
            </a:r>
            <a:r>
              <a:rPr lang="ru-RU" sz="2400" dirty="0">
                <a:solidFill>
                  <a:srgbClr val="00B050"/>
                </a:solidFill>
              </a:rPr>
              <a:t>  </a:t>
            </a:r>
            <a:r>
              <a:rPr lang="ru-RU" sz="2400" dirty="0" err="1">
                <a:solidFill>
                  <a:srgbClr val="00B050"/>
                </a:solidFill>
              </a:rPr>
              <a:t>or</a:t>
            </a:r>
            <a:r>
              <a:rPr lang="ru-RU" sz="2400" dirty="0">
                <a:solidFill>
                  <a:srgbClr val="00B050"/>
                </a:solidFill>
              </a:rPr>
              <a:t> </a:t>
            </a:r>
            <a:r>
              <a:rPr lang="ru-RU" sz="2400" dirty="0" err="1">
                <a:solidFill>
                  <a:srgbClr val="00B050"/>
                </a:solidFill>
              </a:rPr>
              <a:t>software</a:t>
            </a:r>
            <a:r>
              <a:rPr lang="en-US" sz="2400" dirty="0">
                <a:solidFill>
                  <a:srgbClr val="00B050"/>
                </a:solidFill>
              </a:rPr>
              <a:t> </a:t>
            </a:r>
            <a:r>
              <a:rPr lang="en-US" sz="2400" dirty="0" err="1">
                <a:solidFill>
                  <a:srgbClr val="00B050"/>
                </a:solidFill>
              </a:rPr>
              <a:t>etc</a:t>
            </a:r>
            <a:r>
              <a:rPr lang="ru-RU" sz="2400" dirty="0">
                <a:solidFill>
                  <a:srgbClr val="00B050"/>
                </a:solidFill>
              </a:rPr>
              <a:t>  </a:t>
            </a:r>
            <a:r>
              <a:rPr lang="ru-RU" sz="2400" dirty="0" err="1">
                <a:solidFill>
                  <a:srgbClr val="00B050"/>
                </a:solidFill>
              </a:rPr>
              <a:t>are</a:t>
            </a:r>
            <a:r>
              <a:rPr lang="ru-RU" sz="2400" dirty="0">
                <a:solidFill>
                  <a:srgbClr val="00B050"/>
                </a:solidFill>
              </a:rPr>
              <a:t> </a:t>
            </a:r>
            <a:r>
              <a:rPr lang="ru-RU" sz="2400" dirty="0" err="1">
                <a:solidFill>
                  <a:srgbClr val="00B050"/>
                </a:solidFill>
              </a:rPr>
              <a:t>very</a:t>
            </a:r>
            <a:r>
              <a:rPr lang="ru-RU" sz="2400" dirty="0">
                <a:solidFill>
                  <a:srgbClr val="00B050"/>
                </a:solidFill>
              </a:rPr>
              <a:t> </a:t>
            </a:r>
            <a:r>
              <a:rPr lang="ru-RU" sz="2400" dirty="0" err="1">
                <a:solidFill>
                  <a:srgbClr val="00B050"/>
                </a:solidFill>
              </a:rPr>
              <a:t>inefficient</a:t>
            </a:r>
            <a:r>
              <a:rPr lang="ru-RU" sz="2400" dirty="0">
                <a:solidFill>
                  <a:srgbClr val="00B050"/>
                </a:solidFill>
              </a:rPr>
              <a:t>   </a:t>
            </a:r>
            <a:r>
              <a:rPr lang="ru-RU" sz="2400" dirty="0" err="1">
                <a:solidFill>
                  <a:srgbClr val="00B050"/>
                </a:solidFill>
              </a:rPr>
              <a:t>and</a:t>
            </a:r>
            <a:r>
              <a:rPr lang="ru-RU" sz="2400" dirty="0">
                <a:solidFill>
                  <a:srgbClr val="00B050"/>
                </a:solidFill>
              </a:rPr>
              <a:t> </a:t>
            </a:r>
            <a:r>
              <a:rPr lang="ru-RU" sz="2400" dirty="0" err="1">
                <a:solidFill>
                  <a:srgbClr val="00B050"/>
                </a:solidFill>
              </a:rPr>
              <a:t>slow</a:t>
            </a:r>
            <a:r>
              <a:rPr lang="ru-RU" sz="2400" dirty="0">
                <a:solidFill>
                  <a:srgbClr val="00B050"/>
                </a:solidFill>
              </a:rPr>
              <a:t>.</a:t>
            </a:r>
            <a:endParaRPr lang="en-US" sz="2400" dirty="0">
              <a:solidFill>
                <a:srgbClr val="00B050"/>
              </a:solidFill>
            </a:endParaRPr>
          </a:p>
          <a:p>
            <a:pPr algn="just">
              <a:buFont typeface="Wingdings" pitchFamily="2" charset="2"/>
              <a:buChar char="§"/>
            </a:pPr>
            <a:r>
              <a:rPr lang="ru-RU" sz="2400" dirty="0" err="1"/>
              <a:t>The</a:t>
            </a:r>
            <a:r>
              <a:rPr lang="ru-RU" sz="2400" dirty="0"/>
              <a:t>  </a:t>
            </a:r>
            <a:r>
              <a:rPr lang="ru-RU" sz="2400" dirty="0" err="1"/>
              <a:t>technological</a:t>
            </a:r>
            <a:r>
              <a:rPr lang="ru-RU" sz="2400" dirty="0"/>
              <a:t>   </a:t>
            </a:r>
            <a:r>
              <a:rPr lang="ru-RU" sz="2400" dirty="0" err="1"/>
              <a:t>infrastructure</a:t>
            </a:r>
            <a:r>
              <a:rPr lang="ru-RU" sz="2400" dirty="0"/>
              <a:t>  </a:t>
            </a:r>
            <a:r>
              <a:rPr lang="ru-RU" sz="2400" dirty="0" err="1"/>
              <a:t>in</a:t>
            </a:r>
            <a:r>
              <a:rPr lang="ru-RU" sz="2400" dirty="0"/>
              <a:t>   </a:t>
            </a:r>
            <a:r>
              <a:rPr lang="ru-RU" sz="2400" dirty="0" err="1"/>
              <a:t>developing</a:t>
            </a:r>
            <a:r>
              <a:rPr lang="ru-RU" sz="2400" dirty="0"/>
              <a:t>  </a:t>
            </a:r>
            <a:r>
              <a:rPr lang="ru-RU" sz="2400" dirty="0" err="1"/>
              <a:t>countries</a:t>
            </a:r>
            <a:r>
              <a:rPr lang="ru-RU" sz="2400" dirty="0"/>
              <a:t>   </a:t>
            </a:r>
            <a:r>
              <a:rPr lang="ru-RU" sz="2400" dirty="0" err="1"/>
              <a:t>including</a:t>
            </a:r>
            <a:r>
              <a:rPr lang="ru-RU" sz="2400" dirty="0"/>
              <a:t> </a:t>
            </a:r>
            <a:r>
              <a:rPr lang="en-US" sz="2400" dirty="0"/>
              <a:t> </a:t>
            </a:r>
            <a:r>
              <a:rPr lang="ru-RU" sz="2400" dirty="0" err="1">
                <a:solidFill>
                  <a:srgbClr val="C00000"/>
                </a:solidFill>
              </a:rPr>
              <a:t>computing</a:t>
            </a:r>
            <a:r>
              <a:rPr lang="ru-RU" sz="2400" dirty="0">
                <a:solidFill>
                  <a:srgbClr val="C00000"/>
                </a:solidFill>
              </a:rPr>
              <a:t> </a:t>
            </a:r>
            <a:r>
              <a:rPr lang="ru-RU" sz="2400" dirty="0" err="1">
                <a:solidFill>
                  <a:srgbClr val="C00000"/>
                </a:solidFill>
              </a:rPr>
              <a:t>and</a:t>
            </a:r>
            <a:r>
              <a:rPr lang="ru-RU" sz="2400" dirty="0">
                <a:solidFill>
                  <a:srgbClr val="C00000"/>
                </a:solidFill>
              </a:rPr>
              <a:t> </a:t>
            </a:r>
            <a:r>
              <a:rPr lang="ru-RU" sz="2400" dirty="0" err="1">
                <a:solidFill>
                  <a:srgbClr val="C00000"/>
                </a:solidFill>
              </a:rPr>
              <a:t>telecommunication</a:t>
            </a:r>
            <a:r>
              <a:rPr lang="ru-RU" sz="2400" dirty="0">
                <a:solidFill>
                  <a:srgbClr val="C00000"/>
                </a:solidFill>
              </a:rPr>
              <a:t> </a:t>
            </a:r>
            <a:r>
              <a:rPr lang="ru-RU" sz="2400" dirty="0" err="1">
                <a:solidFill>
                  <a:srgbClr val="C00000"/>
                </a:solidFill>
              </a:rPr>
              <a:t>is</a:t>
            </a:r>
            <a:r>
              <a:rPr lang="ru-RU" sz="2400" dirty="0">
                <a:solidFill>
                  <a:srgbClr val="C00000"/>
                </a:solidFill>
              </a:rPr>
              <a:t> </a:t>
            </a:r>
            <a:r>
              <a:rPr lang="en-US" sz="2400" dirty="0">
                <a:solidFill>
                  <a:srgbClr val="C00000"/>
                </a:solidFill>
              </a:rPr>
              <a:t>conspicuous by its </a:t>
            </a:r>
            <a:r>
              <a:rPr lang="ru-RU" sz="2400" dirty="0" err="1">
                <a:solidFill>
                  <a:srgbClr val="C00000"/>
                </a:solidFill>
              </a:rPr>
              <a:t>absen</a:t>
            </a:r>
            <a:r>
              <a:rPr lang="en-US" sz="2400" dirty="0" err="1">
                <a:solidFill>
                  <a:srgbClr val="C00000"/>
                </a:solidFill>
              </a:rPr>
              <a:t>ce</a:t>
            </a:r>
            <a:r>
              <a:rPr lang="ru-RU" sz="2400" dirty="0"/>
              <a:t>. </a:t>
            </a:r>
            <a:endParaRPr lang="en-US" sz="2400" dirty="0"/>
          </a:p>
          <a:p>
            <a:pPr algn="just">
              <a:buFont typeface="Wingdings" pitchFamily="2" charset="2"/>
              <a:buChar char="§"/>
            </a:pPr>
            <a:r>
              <a:rPr lang="ru-RU" sz="2400" dirty="0" err="1">
                <a:solidFill>
                  <a:srgbClr val="7030A0"/>
                </a:solidFill>
              </a:rPr>
              <a:t>As</a:t>
            </a:r>
            <a:r>
              <a:rPr lang="ru-RU" sz="2400" dirty="0">
                <a:solidFill>
                  <a:srgbClr val="7030A0"/>
                </a:solidFill>
              </a:rPr>
              <a:t> a </a:t>
            </a:r>
            <a:r>
              <a:rPr lang="ru-RU" sz="2400" dirty="0" err="1">
                <a:solidFill>
                  <a:srgbClr val="7030A0"/>
                </a:solidFill>
              </a:rPr>
              <a:t>result</a:t>
            </a:r>
            <a:r>
              <a:rPr lang="ru-RU" sz="2400" dirty="0">
                <a:solidFill>
                  <a:srgbClr val="7030A0"/>
                </a:solidFill>
              </a:rPr>
              <a:t> </a:t>
            </a:r>
            <a:r>
              <a:rPr lang="ru-RU" sz="2400" dirty="0" err="1">
                <a:solidFill>
                  <a:srgbClr val="7030A0"/>
                </a:solidFill>
              </a:rPr>
              <a:t>software</a:t>
            </a:r>
            <a:r>
              <a:rPr lang="ru-RU" sz="2400" dirty="0">
                <a:solidFill>
                  <a:srgbClr val="7030A0"/>
                </a:solidFill>
              </a:rPr>
              <a:t> </a:t>
            </a:r>
            <a:r>
              <a:rPr lang="ru-RU" sz="2400" dirty="0" err="1">
                <a:solidFill>
                  <a:srgbClr val="7030A0"/>
                </a:solidFill>
              </a:rPr>
              <a:t>and</a:t>
            </a:r>
            <a:r>
              <a:rPr lang="ru-RU" sz="2400" dirty="0">
                <a:solidFill>
                  <a:srgbClr val="7030A0"/>
                </a:solidFill>
              </a:rPr>
              <a:t> </a:t>
            </a:r>
            <a:r>
              <a:rPr lang="ru-RU" sz="2400" dirty="0" err="1">
                <a:solidFill>
                  <a:srgbClr val="7030A0"/>
                </a:solidFill>
              </a:rPr>
              <a:t>hardware</a:t>
            </a:r>
            <a:r>
              <a:rPr lang="ru-RU" sz="2400" dirty="0">
                <a:solidFill>
                  <a:srgbClr val="7030A0"/>
                </a:solidFill>
              </a:rPr>
              <a:t> </a:t>
            </a:r>
            <a:r>
              <a:rPr lang="ru-RU" sz="2400" dirty="0" err="1">
                <a:solidFill>
                  <a:srgbClr val="7030A0"/>
                </a:solidFill>
              </a:rPr>
              <a:t>may</a:t>
            </a:r>
            <a:r>
              <a:rPr lang="ru-RU" sz="2400" dirty="0">
                <a:solidFill>
                  <a:srgbClr val="7030A0"/>
                </a:solidFill>
              </a:rPr>
              <a:t> </a:t>
            </a:r>
            <a:r>
              <a:rPr lang="ru-RU" sz="2400" dirty="0" err="1">
                <a:solidFill>
                  <a:srgbClr val="7030A0"/>
                </a:solidFill>
              </a:rPr>
              <a:t>not</a:t>
            </a:r>
            <a:r>
              <a:rPr lang="ru-RU" sz="2400" dirty="0">
                <a:solidFill>
                  <a:srgbClr val="7030A0"/>
                </a:solidFill>
              </a:rPr>
              <a:t> </a:t>
            </a:r>
            <a:r>
              <a:rPr lang="ru-RU" sz="2400" dirty="0" err="1">
                <a:solidFill>
                  <a:srgbClr val="7030A0"/>
                </a:solidFill>
              </a:rPr>
              <a:t>be</a:t>
            </a:r>
            <a:r>
              <a:rPr lang="ru-RU" sz="2400" dirty="0">
                <a:solidFill>
                  <a:srgbClr val="7030A0"/>
                </a:solidFill>
              </a:rPr>
              <a:t> </a:t>
            </a:r>
            <a:r>
              <a:rPr lang="ru-RU" sz="2400" dirty="0" err="1">
                <a:solidFill>
                  <a:srgbClr val="7030A0"/>
                </a:solidFill>
              </a:rPr>
              <a:t>compatible</a:t>
            </a:r>
            <a:r>
              <a:rPr lang="ru-RU" sz="2400" dirty="0">
                <a:solidFill>
                  <a:srgbClr val="7030A0"/>
                </a:solidFill>
              </a:rPr>
              <a:t>. </a:t>
            </a:r>
            <a:endParaRPr lang="en-US" sz="2400" dirty="0">
              <a:solidFill>
                <a:srgbClr val="7030A0"/>
              </a:solidFill>
            </a:endParaRPr>
          </a:p>
          <a:p>
            <a:pPr algn="just">
              <a:buFont typeface="Wingdings" pitchFamily="2" charset="2"/>
              <a:buChar char="§"/>
            </a:pPr>
            <a:r>
              <a:rPr lang="ru-RU" sz="2400" dirty="0" err="1"/>
              <a:t>The</a:t>
            </a:r>
            <a:r>
              <a:rPr lang="ru-RU" sz="2400" dirty="0"/>
              <a:t> </a:t>
            </a:r>
            <a:r>
              <a:rPr lang="ru-RU" sz="2400" dirty="0" err="1"/>
              <a:t>major</a:t>
            </a:r>
            <a:r>
              <a:rPr lang="ru-RU" sz="2400" dirty="0"/>
              <a:t> </a:t>
            </a:r>
            <a:r>
              <a:rPr lang="ru-RU" sz="2400" dirty="0" err="1"/>
              <a:t>reasons</a:t>
            </a:r>
            <a:r>
              <a:rPr lang="ru-RU" sz="2400" dirty="0"/>
              <a:t> </a:t>
            </a:r>
            <a:r>
              <a:rPr lang="ru-RU" sz="2400" dirty="0" err="1"/>
              <a:t>are</a:t>
            </a:r>
            <a:r>
              <a:rPr lang="ru-RU" sz="2400" dirty="0"/>
              <a:t> </a:t>
            </a:r>
            <a:endParaRPr lang="en-US" sz="2400" dirty="0"/>
          </a:p>
          <a:p>
            <a:pPr lvl="1" algn="just">
              <a:buFont typeface="Wingdings" pitchFamily="2" charset="2"/>
              <a:buChar char="ü"/>
            </a:pPr>
            <a:r>
              <a:rPr lang="ru-RU" sz="2000" dirty="0" err="1"/>
              <a:t>cost</a:t>
            </a:r>
            <a:r>
              <a:rPr lang="ru-RU" sz="2000" dirty="0"/>
              <a:t> </a:t>
            </a:r>
            <a:r>
              <a:rPr lang="ru-RU" sz="2000" dirty="0" err="1"/>
              <a:t>of</a:t>
            </a:r>
            <a:r>
              <a:rPr lang="ru-RU" sz="2000" dirty="0"/>
              <a:t> </a:t>
            </a:r>
            <a:r>
              <a:rPr lang="ru-RU" sz="2000" dirty="0" err="1"/>
              <a:t>technology</a:t>
            </a:r>
            <a:endParaRPr lang="en-US" sz="2000" dirty="0"/>
          </a:p>
          <a:p>
            <a:pPr lvl="1" algn="just">
              <a:buFont typeface="Wingdings" pitchFamily="2" charset="2"/>
              <a:buChar char="ü"/>
            </a:pPr>
            <a:r>
              <a:rPr lang="ru-RU" sz="2000" dirty="0" err="1"/>
              <a:t>Adaptability</a:t>
            </a:r>
            <a:endParaRPr lang="en-US" sz="2000" dirty="0"/>
          </a:p>
          <a:p>
            <a:pPr lvl="1" algn="just">
              <a:buFont typeface="Wingdings" pitchFamily="2" charset="2"/>
              <a:buChar char="ü"/>
            </a:pPr>
            <a:r>
              <a:rPr lang="ru-RU" sz="2000" dirty="0" err="1"/>
              <a:t>Obsolescence</a:t>
            </a:r>
            <a:r>
              <a:rPr lang="ru-RU" sz="2000" dirty="0"/>
              <a:t> </a:t>
            </a:r>
            <a:endParaRPr lang="en-US" sz="2000" dirty="0"/>
          </a:p>
          <a:p>
            <a:pPr algn="just">
              <a:buFont typeface="Wingdings" pitchFamily="2" charset="2"/>
              <a:buChar char="§"/>
            </a:pPr>
            <a:r>
              <a:rPr lang="ru-RU" sz="2400" dirty="0" err="1"/>
              <a:t>This</a:t>
            </a:r>
            <a:r>
              <a:rPr lang="ru-RU" sz="2400" dirty="0"/>
              <a:t> </a:t>
            </a:r>
            <a:r>
              <a:rPr lang="ru-RU" sz="2400" dirty="0" err="1"/>
              <a:t>is</a:t>
            </a:r>
            <a:r>
              <a:rPr lang="ru-RU" sz="2400" dirty="0"/>
              <a:t> a </a:t>
            </a:r>
            <a:r>
              <a:rPr lang="ru-RU" sz="2400" dirty="0" err="1">
                <a:solidFill>
                  <a:srgbClr val="C00000"/>
                </a:solidFill>
              </a:rPr>
              <a:t>serious</a:t>
            </a:r>
            <a:r>
              <a:rPr lang="ru-RU" sz="2400" dirty="0">
                <a:solidFill>
                  <a:srgbClr val="C00000"/>
                </a:solidFill>
              </a:rPr>
              <a:t> </a:t>
            </a:r>
            <a:r>
              <a:rPr lang="ru-RU" sz="2400" dirty="0" err="1">
                <a:solidFill>
                  <a:srgbClr val="C00000"/>
                </a:solidFill>
              </a:rPr>
              <a:t>limitation</a:t>
            </a:r>
            <a:r>
              <a:rPr lang="ru-RU" sz="2400" dirty="0">
                <a:solidFill>
                  <a:srgbClr val="C00000"/>
                </a:solidFill>
              </a:rPr>
              <a:t> </a:t>
            </a:r>
            <a:r>
              <a:rPr lang="ru-RU" sz="2400" dirty="0" err="1">
                <a:solidFill>
                  <a:srgbClr val="C00000"/>
                </a:solidFill>
              </a:rPr>
              <a:t>to</a:t>
            </a:r>
            <a:r>
              <a:rPr lang="ru-RU" sz="2400" dirty="0">
                <a:solidFill>
                  <a:srgbClr val="C00000"/>
                </a:solidFill>
              </a:rPr>
              <a:t> e-</a:t>
            </a:r>
            <a:r>
              <a:rPr lang="ru-RU" sz="2400" dirty="0" err="1">
                <a:solidFill>
                  <a:srgbClr val="C00000"/>
                </a:solidFill>
              </a:rPr>
              <a:t>governance</a:t>
            </a:r>
            <a:r>
              <a:rPr lang="ru-RU" sz="2400" dirty="0">
                <a:solidFill>
                  <a:srgbClr val="C00000"/>
                </a:solidFill>
              </a:rPr>
              <a:t> </a:t>
            </a:r>
            <a:r>
              <a:rPr lang="ru-RU" sz="2400" dirty="0" err="1">
                <a:solidFill>
                  <a:srgbClr val="C00000"/>
                </a:solidFill>
              </a:rPr>
              <a:t>implementation</a:t>
            </a:r>
            <a:r>
              <a:rPr lang="ru-RU" sz="2400" dirty="0">
                <a:solidFill>
                  <a:srgbClr val="C00000"/>
                </a:solidFill>
              </a:rPr>
              <a:t>. </a:t>
            </a:r>
            <a:endParaRPr lang="en-US" sz="2400" dirty="0">
              <a:solidFill>
                <a:srgbClr val="C00000"/>
              </a:solidFill>
            </a:endParaRPr>
          </a:p>
          <a:p>
            <a:pPr algn="just">
              <a:buFont typeface="Wingdings" pitchFamily="2" charset="2"/>
              <a:buChar char="§"/>
            </a:pPr>
            <a:r>
              <a:rPr lang="en-US" sz="2400" dirty="0">
                <a:solidFill>
                  <a:srgbClr val="C00000"/>
                </a:solidFill>
              </a:rPr>
              <a:t>Innovative Solutions to solve the problem of funding are being explored by these countries.</a:t>
            </a:r>
          </a:p>
          <a:p>
            <a:pPr algn="just">
              <a:buFont typeface="Wingdings" pitchFamily="2" charset="2"/>
              <a:buChar char="§"/>
            </a:pPr>
            <a:r>
              <a:rPr lang="en-US" sz="2400" dirty="0">
                <a:solidFill>
                  <a:srgbClr val="C00000"/>
                </a:solidFill>
              </a:rPr>
              <a:t>The new technology domains as </a:t>
            </a:r>
            <a:r>
              <a:rPr lang="en-US" sz="2400" dirty="0" err="1">
                <a:solidFill>
                  <a:srgbClr val="C00000"/>
                </a:solidFill>
              </a:rPr>
              <a:t>fibre</a:t>
            </a:r>
            <a:r>
              <a:rPr lang="en-US" sz="2400" dirty="0">
                <a:solidFill>
                  <a:srgbClr val="C00000"/>
                </a:solidFill>
              </a:rPr>
              <a:t> optics enable low cost internet bandwidth.</a:t>
            </a:r>
          </a:p>
          <a:p>
            <a:pPr algn="just">
              <a:buFont typeface="Wingdings" pitchFamily="2" charset="2"/>
              <a:buChar char="§"/>
            </a:pPr>
            <a:r>
              <a:rPr lang="en-US" sz="2400" dirty="0">
                <a:solidFill>
                  <a:srgbClr val="C00000"/>
                </a:solidFill>
              </a:rPr>
              <a:t>Some countries are also making plans for broad band internet access. </a:t>
            </a:r>
          </a:p>
          <a:p>
            <a:endParaRPr lang="en-US" dirty="0"/>
          </a:p>
        </p:txBody>
      </p:sp>
    </p:spTree>
    <p:extLst>
      <p:ext uri="{BB962C8B-B14F-4D97-AF65-F5344CB8AC3E}">
        <p14:creationId xmlns:p14="http://schemas.microsoft.com/office/powerpoint/2010/main" val="281889380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0070C0"/>
                </a:solidFill>
              </a:rPr>
              <a:t>Need of E-Readiness </a:t>
            </a:r>
          </a:p>
        </p:txBody>
      </p:sp>
      <p:sp>
        <p:nvSpPr>
          <p:cNvPr id="3" name="Content Placeholder 2"/>
          <p:cNvSpPr>
            <a:spLocks noGrp="1"/>
          </p:cNvSpPr>
          <p:nvPr>
            <p:ph idx="1"/>
          </p:nvPr>
        </p:nvSpPr>
        <p:spPr/>
        <p:txBody>
          <a:bodyPr>
            <a:normAutofit lnSpcReduction="10000"/>
          </a:bodyPr>
          <a:lstStyle/>
          <a:p>
            <a:pPr algn="just"/>
            <a:r>
              <a:rPr lang="en-US" dirty="0">
                <a:ea typeface="+mn-lt"/>
                <a:cs typeface="+mn-lt"/>
              </a:rPr>
              <a:t>E-readiness is defined as the aptitude of an economy to use information and communication technologies to migrate traditional businesses into the new economy. E-readiness reaches its optimal level when the economy is able to create new business opportunities that could not be done otherwise. The concept of e-readiness is important because its level can be a strong predictor of how well a country can perform in the new economy. An e-readiness assessment would provide policy makers with a detailed scorecard of their economy’s competitiveness relative to its international counterparts. Further, a breakdown of indicators allows policy analysts to pinpoint areas of strengths and weaknesses, thus providing a balanced perspective in guiding a country through the digital transformation. </a:t>
            </a:r>
            <a:endParaRPr lang="en-US" dirty="0"/>
          </a:p>
        </p:txBody>
      </p:sp>
    </p:spTree>
    <p:extLst>
      <p:ext uri="{BB962C8B-B14F-4D97-AF65-F5344CB8AC3E}">
        <p14:creationId xmlns:p14="http://schemas.microsoft.com/office/powerpoint/2010/main" val="1827048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4526</TotalTime>
  <Words>2355</Words>
  <Application>Microsoft Office PowerPoint</Application>
  <PresentationFormat>Widescreen</PresentationFormat>
  <Paragraphs>301</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Wingdings</vt:lpstr>
      <vt:lpstr>Office Theme</vt:lpstr>
      <vt:lpstr>  Unit 3 E-Government Infrastructure Development</vt:lpstr>
      <vt:lpstr>Introduction</vt:lpstr>
      <vt:lpstr>Infrastructure for E-Government Development</vt:lpstr>
      <vt:lpstr>Network Infrastructure </vt:lpstr>
      <vt:lpstr>Network Infrastructure …</vt:lpstr>
      <vt:lpstr>Network Infrastructure …</vt:lpstr>
      <vt:lpstr>Network Infrastructure …</vt:lpstr>
      <vt:lpstr>Networking s/w…</vt:lpstr>
      <vt:lpstr>PowerPoint Presentation</vt:lpstr>
      <vt:lpstr>Networking services…</vt:lpstr>
      <vt:lpstr>Computing Infrastructure </vt:lpstr>
      <vt:lpstr>Database and ERP Administration</vt:lpstr>
      <vt:lpstr>End-User Computing</vt:lpstr>
      <vt:lpstr>Server &amp; Storage Services</vt:lpstr>
      <vt:lpstr>PowerPoint Presentation</vt:lpstr>
      <vt:lpstr>Data center</vt:lpstr>
      <vt:lpstr>E-governance Architecture</vt:lpstr>
      <vt:lpstr>PowerPoint Presentation</vt:lpstr>
      <vt:lpstr>Presentation layer (user interface)</vt:lpstr>
      <vt:lpstr>E-Government Layer </vt:lpstr>
      <vt:lpstr>Business Architecture layer</vt:lpstr>
      <vt:lpstr>Information Architecture Layer</vt:lpstr>
      <vt:lpstr>PowerPoint Presentation</vt:lpstr>
      <vt:lpstr>Technology Architecture layer</vt:lpstr>
      <vt:lpstr>Interoperability Framework</vt:lpstr>
      <vt:lpstr>PowerPoint Presentation</vt:lpstr>
      <vt:lpstr>PowerPoint Presentation</vt:lpstr>
      <vt:lpstr>Interoperability Framework for E-Governance </vt:lpstr>
      <vt:lpstr>Levels of Interoperability </vt:lpstr>
      <vt:lpstr>PowerPoint Presentation</vt:lpstr>
      <vt:lpstr>PowerPoint Presentation</vt:lpstr>
      <vt:lpstr>Cloud Governance</vt:lpstr>
      <vt:lpstr>Cloud governance</vt:lpstr>
      <vt:lpstr>Components of cloud governance</vt:lpstr>
      <vt:lpstr>PowerPoint Presentation</vt:lpstr>
      <vt:lpstr>Benefits </vt:lpstr>
      <vt:lpstr>PowerPoint Presentation</vt:lpstr>
      <vt:lpstr>Establishing cloud governance Three phases in establishing cloud governance are</vt:lpstr>
      <vt:lpstr>Risk of Poor Cloud Governance</vt:lpstr>
      <vt:lpstr>E-readiness</vt:lpstr>
      <vt:lpstr>Requirements for E-readiness</vt:lpstr>
      <vt:lpstr>Requirements for E-readiness…</vt:lpstr>
      <vt:lpstr>E-Readiness: Infrastructural Prerequisites</vt:lpstr>
      <vt:lpstr>Data System Infrastructure</vt:lpstr>
      <vt:lpstr>Legal Infrastructural Preparedness</vt:lpstr>
      <vt:lpstr>Legal Infrastructural Preparedness…</vt:lpstr>
      <vt:lpstr>E-Readiness: Institutional Infrastructural Preparedness</vt:lpstr>
      <vt:lpstr>E-Readiness: Human Infrastructural Preparedness</vt:lpstr>
      <vt:lpstr>  E-Readiness: Technological Infrastructure Preparedness  </vt:lpstr>
      <vt:lpstr>Need of E-Readiness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Unit 3 E-Government Infrastructure Development</dc:title>
  <dc:creator>acer</dc:creator>
  <cp:lastModifiedBy>acer</cp:lastModifiedBy>
  <cp:revision>138</cp:revision>
  <dcterms:created xsi:type="dcterms:W3CDTF">2025-07-15T06:58:05Z</dcterms:created>
  <dcterms:modified xsi:type="dcterms:W3CDTF">2026-08-11T10:10:25Z</dcterms:modified>
</cp:coreProperties>
</file>