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2" r:id="rId3"/>
    <p:sldId id="311" r:id="rId4"/>
    <p:sldId id="314" r:id="rId5"/>
    <p:sldId id="316" r:id="rId6"/>
    <p:sldId id="317" r:id="rId7"/>
    <p:sldId id="355" r:id="rId8"/>
    <p:sldId id="361" r:id="rId9"/>
    <p:sldId id="352" r:id="rId10"/>
    <p:sldId id="318" r:id="rId11"/>
    <p:sldId id="319" r:id="rId12"/>
    <p:sldId id="354" r:id="rId13"/>
    <p:sldId id="320" r:id="rId14"/>
    <p:sldId id="321" r:id="rId15"/>
    <p:sldId id="353" r:id="rId16"/>
    <p:sldId id="356" r:id="rId17"/>
    <p:sldId id="357" r:id="rId18"/>
    <p:sldId id="358" r:id="rId19"/>
    <p:sldId id="360" r:id="rId20"/>
    <p:sldId id="359" r:id="rId21"/>
    <p:sldId id="315" r:id="rId22"/>
    <p:sldId id="323" r:id="rId23"/>
    <p:sldId id="324" r:id="rId24"/>
    <p:sldId id="326" r:id="rId25"/>
    <p:sldId id="33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p:scale>
          <a:sx n="81" d="100"/>
          <a:sy n="81" d="100"/>
        </p:scale>
        <p:origin x="-10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533400"/>
            <a:ext cx="7772400" cy="2762250"/>
          </a:xfrm>
        </p:spPr>
        <p:txBody>
          <a:bodyPr>
            <a:normAutofit fontScale="90000"/>
          </a:bodyPr>
          <a:lstStyle/>
          <a:p>
            <a:r>
              <a:rPr lang="en-US" dirty="0" smtClean="0"/>
              <a:t/>
            </a:r>
            <a:br>
              <a:rPr lang="en-US" dirty="0" smtClean="0"/>
            </a:br>
            <a:r>
              <a:rPr lang="en-US" dirty="0" smtClean="0"/>
              <a:t/>
            </a:r>
            <a:br>
              <a:rPr lang="en-US" dirty="0" smtClean="0"/>
            </a:br>
            <a:r>
              <a:rPr lang="ru-RU" dirty="0" smtClean="0">
                <a:solidFill>
                  <a:srgbClr val="FF0000"/>
                </a:solidFill>
              </a:rPr>
              <a:t>Unit </a:t>
            </a:r>
            <a:r>
              <a:rPr lang="en-US" dirty="0" smtClean="0">
                <a:solidFill>
                  <a:srgbClr val="FF0000"/>
                </a:solidFill>
              </a:rPr>
              <a:t>4</a:t>
            </a:r>
            <a:r>
              <a:rPr lang="en-US" dirty="0" smtClean="0"/>
              <a:t/>
            </a:r>
            <a:br>
              <a:rPr lang="en-US" dirty="0" smtClean="0"/>
            </a:br>
            <a:r>
              <a:rPr lang="en-US" dirty="0" smtClean="0">
                <a:solidFill>
                  <a:srgbClr val="0070C0"/>
                </a:solidFill>
              </a:rPr>
              <a:t>Security for E</a:t>
            </a:r>
            <a:r>
              <a:rPr lang="ru-RU" dirty="0" smtClean="0">
                <a:solidFill>
                  <a:srgbClr val="0070C0"/>
                </a:solidFill>
              </a:rPr>
              <a:t>-Gov</a:t>
            </a:r>
            <a:r>
              <a:rPr lang="en-US" dirty="0" err="1" smtClean="0">
                <a:solidFill>
                  <a:srgbClr val="0070C0"/>
                </a:solidFill>
              </a:rPr>
              <a:t>ernment</a:t>
            </a:r>
            <a:r>
              <a:rPr lang="ru-RU" dirty="0" smtClean="0">
                <a:solidFill>
                  <a:srgbClr val="0070C0"/>
                </a:solidFill>
              </a:rPr>
              <a:t> </a:t>
            </a:r>
            <a:r>
              <a:rPr lang="en-US" dirty="0" smtClean="0">
                <a:solidFill>
                  <a:srgbClr val="0070C0"/>
                </a:solidFill>
              </a:rPr>
              <a:t/>
            </a:r>
            <a:br>
              <a:rPr lang="en-US" dirty="0" smtClean="0">
                <a:solidFill>
                  <a:srgbClr val="0070C0"/>
                </a:solidFill>
              </a:rPr>
            </a:br>
            <a:r>
              <a:rPr lang="en-US" dirty="0" smtClean="0">
                <a:solidFill>
                  <a:srgbClr val="0070C0"/>
                </a:solidFill>
              </a:rPr>
              <a:t/>
            </a:r>
            <a:br>
              <a:rPr lang="en-US" dirty="0" smtClean="0">
                <a:solidFill>
                  <a:srgbClr val="0070C0"/>
                </a:solidFill>
              </a:rPr>
            </a:br>
            <a:endParaRPr lang="en-US" dirty="0">
              <a:solidFill>
                <a:srgbClr val="0070C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rgbClr val="0070C0"/>
                </a:solidFill>
              </a:rPr>
              <a:t>Introduction</a:t>
            </a:r>
            <a:endParaRPr lang="en-US" dirty="0"/>
          </a:p>
        </p:txBody>
      </p:sp>
      <p:sp>
        <p:nvSpPr>
          <p:cNvPr id="3" name="Content Placeholder 2"/>
          <p:cNvSpPr>
            <a:spLocks noGrp="1"/>
          </p:cNvSpPr>
          <p:nvPr>
            <p:ph idx="1"/>
          </p:nvPr>
        </p:nvSpPr>
        <p:spPr>
          <a:xfrm>
            <a:off x="457200" y="914400"/>
            <a:ext cx="8229600" cy="5410200"/>
          </a:xfrm>
        </p:spPr>
        <p:txBody>
          <a:bodyPr>
            <a:noAutofit/>
          </a:bodyPr>
          <a:lstStyle/>
          <a:p>
            <a:pPr algn="just"/>
            <a:r>
              <a:rPr lang="en-US" sz="2000" dirty="0"/>
              <a:t>In fact, the </a:t>
            </a:r>
            <a:r>
              <a:rPr lang="en-US" sz="2000" dirty="0">
                <a:solidFill>
                  <a:srgbClr val="FF0000"/>
                </a:solidFill>
              </a:rPr>
              <a:t>security is one of the most significant challenge</a:t>
            </a:r>
            <a:r>
              <a:rPr lang="en-US" sz="2000" dirty="0"/>
              <a:t>s for implementing </a:t>
            </a:r>
            <a:r>
              <a:rPr lang="en-US" sz="2000" dirty="0" smtClean="0"/>
              <a:t>e-government </a:t>
            </a:r>
            <a:r>
              <a:rPr lang="en-US" sz="2000" dirty="0"/>
              <a:t>initiatives. </a:t>
            </a:r>
            <a:endParaRPr lang="en-US" sz="2000" dirty="0" smtClean="0"/>
          </a:p>
          <a:p>
            <a:pPr algn="just"/>
            <a:r>
              <a:rPr lang="en-US" sz="2000" dirty="0" smtClean="0"/>
              <a:t>Many </a:t>
            </a:r>
            <a:r>
              <a:rPr lang="en-US" sz="2000" dirty="0"/>
              <a:t>studies have found that security is one of the most important </a:t>
            </a:r>
            <a:r>
              <a:rPr lang="en-US" sz="2000" dirty="0" smtClean="0"/>
              <a:t>obstacles.</a:t>
            </a:r>
          </a:p>
          <a:p>
            <a:pPr algn="just"/>
            <a:r>
              <a:rPr lang="en-US" sz="2000" dirty="0" smtClean="0">
                <a:solidFill>
                  <a:srgbClr val="00B050"/>
                </a:solidFill>
              </a:rPr>
              <a:t>Security </a:t>
            </a:r>
            <a:r>
              <a:rPr lang="en-US" sz="2000" dirty="0">
                <a:solidFill>
                  <a:srgbClr val="00B050"/>
                </a:solidFill>
              </a:rPr>
              <a:t>means protection of all information and systems against any disclosure to unauthorized access, or unauthorized modifications or </a:t>
            </a:r>
            <a:r>
              <a:rPr lang="en-US" sz="2000" dirty="0" smtClean="0">
                <a:solidFill>
                  <a:srgbClr val="00B050"/>
                </a:solidFill>
              </a:rPr>
              <a:t>devastation</a:t>
            </a:r>
          </a:p>
          <a:p>
            <a:pPr algn="just"/>
            <a:r>
              <a:rPr lang="en-US" sz="2000" dirty="0" smtClean="0"/>
              <a:t>Thus</a:t>
            </a:r>
            <a:r>
              <a:rPr lang="en-US" sz="2000" dirty="0"/>
              <a:t>, it refers to protection of the information systems, assets and the control of access to the information </a:t>
            </a:r>
            <a:r>
              <a:rPr lang="en-US" sz="2000" dirty="0" smtClean="0"/>
              <a:t>itself.</a:t>
            </a:r>
          </a:p>
          <a:p>
            <a:pPr algn="just"/>
            <a:r>
              <a:rPr lang="en-US" sz="2000" dirty="0" smtClean="0"/>
              <a:t>It </a:t>
            </a:r>
            <a:r>
              <a:rPr lang="en-US" sz="2000" dirty="0"/>
              <a:t>is a vital component in the trust relationship between citizens and government. </a:t>
            </a:r>
            <a:endParaRPr lang="en-US" sz="2000" dirty="0" smtClean="0"/>
          </a:p>
          <a:p>
            <a:pPr algn="just"/>
            <a:r>
              <a:rPr lang="en-US" sz="2000" dirty="0" smtClean="0"/>
              <a:t>Security </a:t>
            </a:r>
            <a:r>
              <a:rPr lang="en-US" sz="2000" dirty="0"/>
              <a:t>issues may present the largest obstacle to the development of </a:t>
            </a:r>
            <a:r>
              <a:rPr lang="en-US" sz="2000" dirty="0" smtClean="0"/>
              <a:t>e-government </a:t>
            </a:r>
            <a:r>
              <a:rPr lang="en-US" sz="2000" dirty="0"/>
              <a:t>services. </a:t>
            </a:r>
            <a:endParaRPr lang="en-US" sz="2000" dirty="0" smtClean="0"/>
          </a:p>
          <a:p>
            <a:pPr algn="just"/>
            <a:r>
              <a:rPr lang="en-US" sz="2000" dirty="0" smtClean="0"/>
              <a:t>Thus</a:t>
            </a:r>
            <a:r>
              <a:rPr lang="en-US" sz="2000" dirty="0"/>
              <a:t>, security policies and standards that meet citizen expectations are an important step toward addressing these concerns </a:t>
            </a:r>
            <a:r>
              <a:rPr lang="en-US" sz="2000" dirty="0" smtClean="0"/>
              <a:t>.</a:t>
            </a:r>
          </a:p>
        </p:txBody>
      </p:sp>
    </p:spTree>
    <p:extLst>
      <p:ext uri="{BB962C8B-B14F-4D97-AF65-F5344CB8AC3E}">
        <p14:creationId xmlns:p14="http://schemas.microsoft.com/office/powerpoint/2010/main" val="41498360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solidFill>
                  <a:srgbClr val="0070C0"/>
                </a:solidFill>
              </a:rPr>
              <a:t>Introduction</a:t>
            </a:r>
            <a:endParaRPr lang="en-US" dirty="0">
              <a:solidFill>
                <a:srgbClr val="0070C0"/>
              </a:solidFill>
            </a:endParaRPr>
          </a:p>
        </p:txBody>
      </p:sp>
      <p:sp>
        <p:nvSpPr>
          <p:cNvPr id="3" name="Content Placeholder 2"/>
          <p:cNvSpPr>
            <a:spLocks noGrp="1"/>
          </p:cNvSpPr>
          <p:nvPr>
            <p:ph idx="1"/>
          </p:nvPr>
        </p:nvSpPr>
        <p:spPr>
          <a:xfrm>
            <a:off x="304800" y="755217"/>
            <a:ext cx="8534400" cy="5075238"/>
          </a:xfrm>
        </p:spPr>
        <p:txBody>
          <a:bodyPr>
            <a:noAutofit/>
          </a:bodyPr>
          <a:lstStyle/>
          <a:p>
            <a:pPr algn="just"/>
            <a:r>
              <a:rPr lang="en-US" sz="2200" dirty="0">
                <a:solidFill>
                  <a:srgbClr val="FF0000"/>
                </a:solidFill>
              </a:rPr>
              <a:t>T</a:t>
            </a:r>
            <a:r>
              <a:rPr lang="en-US" sz="2200" dirty="0" smtClean="0">
                <a:solidFill>
                  <a:srgbClr val="FF0000"/>
                </a:solidFill>
              </a:rPr>
              <a:t>he </a:t>
            </a:r>
            <a:r>
              <a:rPr lang="en-US" sz="2200" dirty="0">
                <a:solidFill>
                  <a:srgbClr val="FF0000"/>
                </a:solidFill>
              </a:rPr>
              <a:t>use of security solutions, including digital signatures, encryption, user names, passwords, customer unique numbers, bank account numbers</a:t>
            </a:r>
            <a:r>
              <a:rPr lang="en-US" sz="2200" dirty="0"/>
              <a:t>, and others being transmitted over the Internet and stored electronically can help in fulfilling security goals in e-government applications</a:t>
            </a:r>
            <a:r>
              <a:rPr lang="en-US" sz="2200" dirty="0" smtClean="0"/>
              <a:t>.</a:t>
            </a:r>
          </a:p>
          <a:p>
            <a:pPr lvl="1" algn="just">
              <a:buFont typeface="Wingdings" panose="05000000000000000000" pitchFamily="2" charset="2"/>
              <a:buChar char="ü"/>
            </a:pPr>
            <a:r>
              <a:rPr lang="en-US" sz="2200" dirty="0" smtClean="0"/>
              <a:t>Furthermore</a:t>
            </a:r>
            <a:r>
              <a:rPr lang="en-US" sz="2200" dirty="0"/>
              <a:t>, </a:t>
            </a:r>
            <a:r>
              <a:rPr lang="en-US" sz="2200" dirty="0" smtClean="0">
                <a:solidFill>
                  <a:srgbClr val="00B050"/>
                </a:solidFill>
              </a:rPr>
              <a:t>point </a:t>
            </a:r>
            <a:r>
              <a:rPr lang="en-US" sz="2200" dirty="0">
                <a:solidFill>
                  <a:srgbClr val="00B050"/>
                </a:solidFill>
              </a:rPr>
              <a:t>out that information security, referred to as cyber security or computer security</a:t>
            </a:r>
            <a:r>
              <a:rPr lang="en-US" sz="2200" dirty="0"/>
              <a:t>, is an important </a:t>
            </a:r>
            <a:r>
              <a:rPr lang="en-US" sz="2200" dirty="0" smtClean="0"/>
              <a:t>e-government </a:t>
            </a:r>
            <a:r>
              <a:rPr lang="en-US" sz="2200" dirty="0"/>
              <a:t>challenge. </a:t>
            </a:r>
            <a:endParaRPr lang="en-US" sz="2200" dirty="0" smtClean="0"/>
          </a:p>
          <a:p>
            <a:pPr algn="just"/>
            <a:r>
              <a:rPr lang="en-US" sz="2200" dirty="0" smtClean="0"/>
              <a:t>In </a:t>
            </a:r>
            <a:r>
              <a:rPr lang="en-US" sz="2200" dirty="0"/>
              <a:t>addition, </a:t>
            </a:r>
            <a:r>
              <a:rPr lang="en-US" sz="2200" dirty="0">
                <a:solidFill>
                  <a:srgbClr val="00B050"/>
                </a:solidFill>
              </a:rPr>
              <a:t>security involves continuous vigilance and protection against </a:t>
            </a:r>
            <a:r>
              <a:rPr lang="en-US" sz="2200" dirty="0"/>
              <a:t>the increasing danger of worms and viruses. </a:t>
            </a:r>
            <a:endParaRPr lang="en-US" sz="2200" dirty="0" smtClean="0"/>
          </a:p>
          <a:p>
            <a:pPr algn="just"/>
            <a:r>
              <a:rPr lang="en-US" sz="2200" dirty="0" smtClean="0"/>
              <a:t>Also</a:t>
            </a:r>
            <a:r>
              <a:rPr lang="en-US" sz="2200" dirty="0"/>
              <a:t>, people need to be educated on the importance of security measures, such as </a:t>
            </a:r>
            <a:r>
              <a:rPr lang="en-US" sz="2200" dirty="0">
                <a:solidFill>
                  <a:srgbClr val="FF0000"/>
                </a:solidFill>
              </a:rPr>
              <a:t>private passwords, to ensure their own protection. </a:t>
            </a:r>
            <a:endParaRPr lang="en-US" sz="2200" dirty="0" smtClean="0">
              <a:solidFill>
                <a:srgbClr val="FF0000"/>
              </a:solidFill>
            </a:endParaRPr>
          </a:p>
          <a:p>
            <a:pPr algn="just"/>
            <a:r>
              <a:rPr lang="en-US" sz="2200" dirty="0"/>
              <a:t>Cyber security has to deal with cyber regulations on different fields such as e-Commerce, e-Banking, e-Government and e-Healthcare, and all these depend on the governance of cyberspace to facilitate the use of web as a medium to promote global interchange without risk. </a:t>
            </a:r>
            <a:endParaRPr lang="en-US" sz="2200" dirty="0" smtClean="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715962"/>
          </a:xfrm>
        </p:spPr>
        <p:txBody>
          <a:bodyPr>
            <a:normAutofit fontScale="90000"/>
          </a:bodyPr>
          <a:lstStyle/>
          <a:p>
            <a:r>
              <a:rPr lang="en-US" dirty="0">
                <a:solidFill>
                  <a:srgbClr val="0070C0"/>
                </a:solidFill>
              </a:rPr>
              <a:t>Security of E-governance</a:t>
            </a:r>
          </a:p>
        </p:txBody>
      </p:sp>
      <p:sp>
        <p:nvSpPr>
          <p:cNvPr id="3" name="Content Placeholder 2"/>
          <p:cNvSpPr>
            <a:spLocks noGrp="1"/>
          </p:cNvSpPr>
          <p:nvPr>
            <p:ph idx="1"/>
          </p:nvPr>
        </p:nvSpPr>
        <p:spPr>
          <a:xfrm>
            <a:off x="495300" y="1143000"/>
            <a:ext cx="8229600" cy="5257800"/>
          </a:xfrm>
        </p:spPr>
        <p:txBody>
          <a:bodyPr>
            <a:normAutofit fontScale="62500" lnSpcReduction="20000"/>
          </a:bodyPr>
          <a:lstStyle/>
          <a:p>
            <a:pPr algn="just"/>
            <a:r>
              <a:rPr lang="en-US" sz="3800" dirty="0"/>
              <a:t>Implementation of E-governance has changed the way of living of the people in various countries. </a:t>
            </a:r>
            <a:endParaRPr lang="en-US" sz="3800" dirty="0" smtClean="0"/>
          </a:p>
          <a:p>
            <a:pPr algn="just"/>
            <a:r>
              <a:rPr lang="en-US" sz="3800" dirty="0" smtClean="0"/>
              <a:t>At </a:t>
            </a:r>
            <a:r>
              <a:rPr lang="en-US" sz="3800" dirty="0"/>
              <a:t>present scenario we can say </a:t>
            </a:r>
            <a:r>
              <a:rPr lang="en-US" sz="3800" dirty="0" smtClean="0"/>
              <a:t>our</a:t>
            </a:r>
            <a:r>
              <a:rPr lang="en-US" sz="3800" dirty="0"/>
              <a:t> most activities or needs are totally depend upon the E-governance, </a:t>
            </a:r>
            <a:r>
              <a:rPr lang="en-US" sz="3800" dirty="0">
                <a:solidFill>
                  <a:srgbClr val="FF0000"/>
                </a:solidFill>
              </a:rPr>
              <a:t>that’s why security of E-governance is a major issue. </a:t>
            </a:r>
            <a:endParaRPr lang="en-US" sz="3800" dirty="0" smtClean="0">
              <a:solidFill>
                <a:srgbClr val="FF0000"/>
              </a:solidFill>
            </a:endParaRPr>
          </a:p>
          <a:p>
            <a:pPr algn="just"/>
            <a:r>
              <a:rPr lang="en-US" sz="3800" dirty="0" smtClean="0"/>
              <a:t>Here </a:t>
            </a:r>
            <a:r>
              <a:rPr lang="en-US" sz="3800" dirty="0"/>
              <a:t>we try to explain an approach for E-governance security which is based on specially two terms i.e. “</a:t>
            </a:r>
            <a:r>
              <a:rPr lang="en-US" sz="3800" dirty="0">
                <a:solidFill>
                  <a:srgbClr val="FF0000"/>
                </a:solidFill>
              </a:rPr>
              <a:t>Security of What?” </a:t>
            </a:r>
            <a:r>
              <a:rPr lang="en-US" sz="3800" dirty="0"/>
              <a:t>and other is “</a:t>
            </a:r>
            <a:r>
              <a:rPr lang="en-US" sz="3800" dirty="0">
                <a:solidFill>
                  <a:srgbClr val="FF0000"/>
                </a:solidFill>
              </a:rPr>
              <a:t>Security against What?</a:t>
            </a:r>
            <a:r>
              <a:rPr lang="en-US" sz="3800" dirty="0"/>
              <a:t>” in this section we try to work on these two </a:t>
            </a:r>
            <a:r>
              <a:rPr lang="en-US" sz="3800" dirty="0" smtClean="0"/>
              <a:t>questions</a:t>
            </a:r>
          </a:p>
          <a:p>
            <a:pPr algn="just"/>
            <a:r>
              <a:rPr lang="en-US" sz="3800" dirty="0">
                <a:solidFill>
                  <a:srgbClr val="FF0000"/>
                </a:solidFill>
              </a:rPr>
              <a:t>Security of What? </a:t>
            </a:r>
            <a:endParaRPr lang="en-US" sz="3800" dirty="0" smtClean="0">
              <a:solidFill>
                <a:srgbClr val="FF0000"/>
              </a:solidFill>
            </a:endParaRPr>
          </a:p>
          <a:p>
            <a:pPr lvl="1" algn="just">
              <a:buFont typeface="Wingdings" panose="05000000000000000000" pitchFamily="2" charset="2"/>
              <a:buChar char="ü"/>
            </a:pPr>
            <a:r>
              <a:rPr lang="en-US" sz="3800" dirty="0" smtClean="0"/>
              <a:t>This </a:t>
            </a:r>
            <a:r>
              <a:rPr lang="en-US" sz="3800" dirty="0"/>
              <a:t>is a major question when we talk about </a:t>
            </a:r>
            <a:r>
              <a:rPr lang="en-US" sz="3800" dirty="0" smtClean="0"/>
              <a:t>E-governance </a:t>
            </a:r>
            <a:r>
              <a:rPr lang="en-US" sz="3800" dirty="0"/>
              <a:t>security. </a:t>
            </a:r>
            <a:endParaRPr lang="en-US" sz="3800" dirty="0" smtClean="0"/>
          </a:p>
          <a:p>
            <a:pPr algn="just"/>
            <a:r>
              <a:rPr lang="en-US" sz="3800" dirty="0" smtClean="0"/>
              <a:t>Security </a:t>
            </a:r>
            <a:r>
              <a:rPr lang="en-US" sz="3800" dirty="0"/>
              <a:t>is all about protecting the Information and Communication Technology (ICT) assets of an organization</a:t>
            </a:r>
          </a:p>
          <a:p>
            <a:endParaRPr lang="en-US" dirty="0"/>
          </a:p>
        </p:txBody>
      </p:sp>
    </p:spTree>
    <p:extLst>
      <p:ext uri="{BB962C8B-B14F-4D97-AF65-F5344CB8AC3E}">
        <p14:creationId xmlns:p14="http://schemas.microsoft.com/office/powerpoint/2010/main" val="14323034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Security of E-governance</a:t>
            </a:r>
            <a:endParaRPr lang="en-US" dirty="0"/>
          </a:p>
        </p:txBody>
      </p:sp>
      <p:sp>
        <p:nvSpPr>
          <p:cNvPr id="3" name="Content Placeholder 2"/>
          <p:cNvSpPr>
            <a:spLocks noGrp="1"/>
          </p:cNvSpPr>
          <p:nvPr>
            <p:ph idx="1"/>
          </p:nvPr>
        </p:nvSpPr>
        <p:spPr>
          <a:xfrm>
            <a:off x="457200" y="990600"/>
            <a:ext cx="8229600" cy="5791200"/>
          </a:xfrm>
        </p:spPr>
        <p:txBody>
          <a:bodyPr>
            <a:normAutofit fontScale="70000" lnSpcReduction="20000"/>
          </a:bodyPr>
          <a:lstStyle/>
          <a:p>
            <a:pPr algn="just"/>
            <a:r>
              <a:rPr lang="en-US" dirty="0">
                <a:solidFill>
                  <a:srgbClr val="FF0000"/>
                </a:solidFill>
              </a:rPr>
              <a:t>Security against What? </a:t>
            </a:r>
          </a:p>
          <a:p>
            <a:pPr algn="just"/>
            <a:r>
              <a:rPr lang="en-US" dirty="0" smtClean="0"/>
              <a:t>There </a:t>
            </a:r>
            <a:r>
              <a:rPr lang="en-US" dirty="0"/>
              <a:t>are various threats to security of our ICT system, and we can’t define or declare them exactly, it may come from various sources and in various forms. </a:t>
            </a:r>
            <a:endParaRPr lang="en-US" dirty="0" smtClean="0"/>
          </a:p>
          <a:p>
            <a:pPr lvl="1" algn="just">
              <a:buFont typeface="Wingdings" panose="05000000000000000000" pitchFamily="2" charset="2"/>
              <a:buChar char="ü"/>
            </a:pPr>
            <a:r>
              <a:rPr lang="en-US" dirty="0" smtClean="0"/>
              <a:t>So </a:t>
            </a:r>
            <a:r>
              <a:rPr lang="en-US" dirty="0"/>
              <a:t>it is very necessary for </a:t>
            </a:r>
            <a:r>
              <a:rPr lang="en-US" dirty="0" smtClean="0"/>
              <a:t>e-governance </a:t>
            </a:r>
            <a:r>
              <a:rPr lang="en-US" dirty="0"/>
              <a:t>administrator to identify these threats. </a:t>
            </a:r>
            <a:endParaRPr lang="en-US" dirty="0" smtClean="0"/>
          </a:p>
          <a:p>
            <a:pPr algn="just"/>
            <a:r>
              <a:rPr lang="en-US" dirty="0" smtClean="0"/>
              <a:t>In </a:t>
            </a:r>
            <a:r>
              <a:rPr lang="en-US" dirty="0"/>
              <a:t>this section we </a:t>
            </a:r>
            <a:r>
              <a:rPr lang="en-US" dirty="0">
                <a:solidFill>
                  <a:srgbClr val="00B050"/>
                </a:solidFill>
              </a:rPr>
              <a:t>firstly give some sources of threats and then some types of threats </a:t>
            </a:r>
            <a:r>
              <a:rPr lang="en-US" dirty="0"/>
              <a:t>which affect to E-governance. </a:t>
            </a:r>
            <a:endParaRPr lang="en-US" dirty="0" smtClean="0"/>
          </a:p>
          <a:p>
            <a:pPr algn="just"/>
            <a:r>
              <a:rPr lang="en-US" dirty="0" smtClean="0">
                <a:solidFill>
                  <a:srgbClr val="FF0000"/>
                </a:solidFill>
              </a:rPr>
              <a:t>Sources </a:t>
            </a:r>
            <a:r>
              <a:rPr lang="en-US" dirty="0">
                <a:solidFill>
                  <a:srgbClr val="FF0000"/>
                </a:solidFill>
              </a:rPr>
              <a:t>of </a:t>
            </a:r>
            <a:r>
              <a:rPr lang="en-US" dirty="0" smtClean="0">
                <a:solidFill>
                  <a:srgbClr val="FF0000"/>
                </a:solidFill>
              </a:rPr>
              <a:t>Threat</a:t>
            </a:r>
          </a:p>
          <a:p>
            <a:pPr algn="just"/>
            <a:r>
              <a:rPr lang="en-US" dirty="0" smtClean="0"/>
              <a:t>The </a:t>
            </a:r>
            <a:r>
              <a:rPr lang="en-US" dirty="0"/>
              <a:t>sources of threat can be internal or it can be external to the government body. </a:t>
            </a:r>
            <a:endParaRPr lang="en-US" dirty="0" smtClean="0"/>
          </a:p>
          <a:p>
            <a:pPr algn="just"/>
            <a:r>
              <a:rPr lang="en-US" dirty="0" smtClean="0"/>
              <a:t>There </a:t>
            </a:r>
            <a:r>
              <a:rPr lang="en-US" dirty="0"/>
              <a:t>are various </a:t>
            </a:r>
            <a:r>
              <a:rPr lang="en-US" dirty="0">
                <a:solidFill>
                  <a:srgbClr val="FF0000"/>
                </a:solidFill>
              </a:rPr>
              <a:t>internal sources of threat </a:t>
            </a:r>
            <a:r>
              <a:rPr lang="en-US" dirty="0" smtClean="0"/>
              <a:t>like the </a:t>
            </a:r>
            <a:r>
              <a:rPr lang="en-US" dirty="0"/>
              <a:t>employees who work on the E-governance project, customers of the E-governance projects they may attempt to access the databases for their personal financial profit. </a:t>
            </a:r>
            <a:endParaRPr lang="en-US" dirty="0" smtClean="0"/>
          </a:p>
          <a:p>
            <a:pPr algn="just"/>
            <a:r>
              <a:rPr lang="en-US" dirty="0" smtClean="0"/>
              <a:t>When </a:t>
            </a:r>
            <a:r>
              <a:rPr lang="en-US" dirty="0"/>
              <a:t>we talk about </a:t>
            </a:r>
            <a:r>
              <a:rPr lang="en-US" dirty="0">
                <a:solidFill>
                  <a:srgbClr val="00B050"/>
                </a:solidFill>
              </a:rPr>
              <a:t>external sources it may be Professional hackers, Criminal organizations, various Intelligence agencies or Investigation agencies</a:t>
            </a:r>
          </a:p>
        </p:txBody>
      </p:sp>
    </p:spTree>
    <p:extLst>
      <p:ext uri="{BB962C8B-B14F-4D97-AF65-F5344CB8AC3E}">
        <p14:creationId xmlns:p14="http://schemas.microsoft.com/office/powerpoint/2010/main" val="4255704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Security of E-governance</a:t>
            </a:r>
            <a:endParaRPr lang="en-US" dirty="0"/>
          </a:p>
        </p:txBody>
      </p:sp>
      <p:sp>
        <p:nvSpPr>
          <p:cNvPr id="3" name="Content Placeholder 2"/>
          <p:cNvSpPr>
            <a:spLocks noGrp="1"/>
          </p:cNvSpPr>
          <p:nvPr>
            <p:ph idx="1"/>
          </p:nvPr>
        </p:nvSpPr>
        <p:spPr>
          <a:xfrm>
            <a:off x="457200" y="1066800"/>
            <a:ext cx="8229600" cy="5410200"/>
          </a:xfrm>
        </p:spPr>
        <p:txBody>
          <a:bodyPr>
            <a:normAutofit/>
          </a:bodyPr>
          <a:lstStyle/>
          <a:p>
            <a:pPr algn="just"/>
            <a:r>
              <a:rPr lang="en-US" sz="2400" dirty="0">
                <a:solidFill>
                  <a:srgbClr val="FF0000"/>
                </a:solidFill>
              </a:rPr>
              <a:t>Types of Threat </a:t>
            </a:r>
            <a:endParaRPr lang="en-US" sz="2400" dirty="0" smtClean="0">
              <a:solidFill>
                <a:srgbClr val="FF0000"/>
              </a:solidFill>
            </a:endParaRPr>
          </a:p>
          <a:p>
            <a:pPr algn="just"/>
            <a:r>
              <a:rPr lang="en-US" sz="2400" dirty="0" smtClean="0"/>
              <a:t>Threats </a:t>
            </a:r>
            <a:r>
              <a:rPr lang="en-US" sz="2400" dirty="0"/>
              <a:t>may include </a:t>
            </a:r>
            <a:r>
              <a:rPr lang="en-US" sz="2400" dirty="0">
                <a:solidFill>
                  <a:srgbClr val="00B050"/>
                </a:solidFill>
              </a:rPr>
              <a:t>unauthorized access, modification, and destruction of data. </a:t>
            </a:r>
            <a:endParaRPr lang="en-US" sz="2400" dirty="0" smtClean="0">
              <a:solidFill>
                <a:srgbClr val="00B050"/>
              </a:solidFill>
            </a:endParaRPr>
          </a:p>
          <a:p>
            <a:pPr algn="just"/>
            <a:r>
              <a:rPr lang="en-US" sz="2400" dirty="0" smtClean="0"/>
              <a:t>The </a:t>
            </a:r>
            <a:r>
              <a:rPr lang="en-US" sz="2400" dirty="0"/>
              <a:t>threats may be of different types varying from time to time because technology changes frequently. </a:t>
            </a:r>
            <a:endParaRPr lang="en-US" sz="2400" dirty="0" smtClean="0"/>
          </a:p>
          <a:p>
            <a:pPr algn="just"/>
            <a:r>
              <a:rPr lang="en-US" sz="2400" dirty="0" smtClean="0"/>
              <a:t>The </a:t>
            </a:r>
            <a:r>
              <a:rPr lang="en-US" sz="2400" dirty="0">
                <a:solidFill>
                  <a:srgbClr val="00B050"/>
                </a:solidFill>
              </a:rPr>
              <a:t>attacks on security of e-governance system can be in different forms</a:t>
            </a:r>
            <a:r>
              <a:rPr lang="en-US" sz="2400" dirty="0"/>
              <a:t> </a:t>
            </a:r>
            <a:r>
              <a:rPr lang="en-US" sz="2400" dirty="0" smtClean="0"/>
              <a:t>including </a:t>
            </a:r>
            <a:r>
              <a:rPr lang="en-US" sz="2400" dirty="0"/>
              <a:t>Defacing of web sites, Hacking, Cracking, Damage to critical database and applications, Network security check </a:t>
            </a:r>
            <a:r>
              <a:rPr lang="en-US" sz="2400" dirty="0" smtClean="0"/>
              <a:t>list, Viruses </a:t>
            </a:r>
            <a:r>
              <a:rPr lang="en-US" sz="2400" dirty="0"/>
              <a:t>and Malwares etc. the damage of ICT assets need not always be a result of such malicious attacks as mentioned previously. </a:t>
            </a:r>
            <a:endParaRPr lang="en-US" sz="2400" dirty="0" smtClean="0"/>
          </a:p>
          <a:p>
            <a:pPr algn="just"/>
            <a:r>
              <a:rPr lang="en-US" sz="2400" dirty="0" smtClean="0"/>
              <a:t>It </a:t>
            </a:r>
            <a:r>
              <a:rPr lang="en-US" sz="2400" dirty="0"/>
              <a:t>may be some kind of natural or environmental disasters etc. </a:t>
            </a:r>
          </a:p>
        </p:txBody>
      </p:sp>
    </p:spTree>
    <p:extLst>
      <p:ext uri="{BB962C8B-B14F-4D97-AF65-F5344CB8AC3E}">
        <p14:creationId xmlns:p14="http://schemas.microsoft.com/office/powerpoint/2010/main" val="2492747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solidFill>
                  <a:srgbClr val="0070C0"/>
                </a:solidFill>
              </a:rPr>
              <a:t> Domains of Security </a:t>
            </a:r>
            <a:endParaRPr lang="en-US" dirty="0"/>
          </a:p>
        </p:txBody>
      </p:sp>
      <p:pic>
        <p:nvPicPr>
          <p:cNvPr id="4" name="Content Placeholder 3"/>
          <p:cNvPicPr>
            <a:picLocks noGrp="1" noChangeAspect="1"/>
          </p:cNvPicPr>
          <p:nvPr>
            <p:ph idx="1"/>
          </p:nvPr>
        </p:nvPicPr>
        <p:blipFill>
          <a:blip r:embed="rId2"/>
          <a:stretch>
            <a:fillRect/>
          </a:stretch>
        </p:blipFill>
        <p:spPr>
          <a:xfrm>
            <a:off x="1173176" y="1295400"/>
            <a:ext cx="6797648" cy="4525963"/>
          </a:xfrm>
          <a:prstGeom prst="rect">
            <a:avLst/>
          </a:prstGeom>
        </p:spPr>
      </p:pic>
      <p:sp>
        <p:nvSpPr>
          <p:cNvPr id="3" name="TextBox 2"/>
          <p:cNvSpPr txBox="1"/>
          <p:nvPr/>
        </p:nvSpPr>
        <p:spPr>
          <a:xfrm>
            <a:off x="1752600" y="6096001"/>
            <a:ext cx="6218224" cy="646331"/>
          </a:xfrm>
          <a:prstGeom prst="rect">
            <a:avLst/>
          </a:prstGeom>
          <a:noFill/>
        </p:spPr>
        <p:txBody>
          <a:bodyPr wrap="square" rtlCol="0">
            <a:spAutoFit/>
          </a:bodyPr>
          <a:lstStyle/>
          <a:p>
            <a:r>
              <a:rPr lang="en-US" dirty="0" smtClean="0"/>
              <a:t>CISSP CBK: Certificate Information System Security Professional Common Body of Knowledge</a:t>
            </a:r>
            <a:endParaRPr lang="en-US" dirty="0"/>
          </a:p>
        </p:txBody>
      </p:sp>
    </p:spTree>
    <p:extLst>
      <p:ext uri="{BB962C8B-B14F-4D97-AF65-F5344CB8AC3E}">
        <p14:creationId xmlns:p14="http://schemas.microsoft.com/office/powerpoint/2010/main" val="35015306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4000" dirty="0">
                <a:solidFill>
                  <a:srgbClr val="0070C0"/>
                </a:solidFill>
              </a:rPr>
              <a:t>E-government security challenges</a:t>
            </a:r>
          </a:p>
        </p:txBody>
      </p:sp>
      <p:sp>
        <p:nvSpPr>
          <p:cNvPr id="3" name="Content Placeholder 2"/>
          <p:cNvSpPr>
            <a:spLocks noGrp="1"/>
          </p:cNvSpPr>
          <p:nvPr>
            <p:ph idx="1"/>
          </p:nvPr>
        </p:nvSpPr>
        <p:spPr>
          <a:xfrm>
            <a:off x="443345" y="972127"/>
            <a:ext cx="8229600" cy="4525963"/>
          </a:xfrm>
        </p:spPr>
        <p:txBody>
          <a:bodyPr>
            <a:normAutofit/>
          </a:bodyPr>
          <a:lstStyle/>
          <a:p>
            <a:pPr algn="just"/>
            <a:r>
              <a:rPr lang="en-US" sz="2200" dirty="0"/>
              <a:t>The security framework of e-government </a:t>
            </a:r>
            <a:r>
              <a:rPr lang="en-US" sz="2200" dirty="0">
                <a:solidFill>
                  <a:srgbClr val="FF0000"/>
                </a:solidFill>
              </a:rPr>
              <a:t>consists on the main three elements; </a:t>
            </a:r>
            <a:r>
              <a:rPr lang="en-US" sz="2200" dirty="0"/>
              <a:t>people, processes and technologies. </a:t>
            </a:r>
            <a:endParaRPr lang="en-US" sz="2200" dirty="0" smtClean="0"/>
          </a:p>
          <a:p>
            <a:pPr algn="just"/>
            <a:r>
              <a:rPr lang="en-US" sz="2200" dirty="0"/>
              <a:t>O</a:t>
            </a:r>
            <a:r>
              <a:rPr lang="en-US" sz="2200" dirty="0" smtClean="0"/>
              <a:t>ur </a:t>
            </a:r>
            <a:r>
              <a:rPr lang="en-US" sz="2200" dirty="0"/>
              <a:t>focus would be on the </a:t>
            </a:r>
            <a:r>
              <a:rPr lang="en-US" sz="2200" dirty="0" smtClean="0"/>
              <a:t>E-government </a:t>
            </a:r>
            <a:r>
              <a:rPr lang="en-US" sz="2200" dirty="0"/>
              <a:t>information security in terms of the technological and </a:t>
            </a:r>
            <a:r>
              <a:rPr lang="en-US" sz="2200" dirty="0" smtClean="0"/>
              <a:t>non-technological </a:t>
            </a:r>
            <a:r>
              <a:rPr lang="en-US" sz="2200" dirty="0"/>
              <a:t>perspectives. </a:t>
            </a:r>
            <a:endParaRPr lang="en-US" sz="2200" dirty="0" smtClean="0"/>
          </a:p>
          <a:p>
            <a:pPr algn="just"/>
            <a:r>
              <a:rPr lang="en-US" sz="2200" dirty="0" smtClean="0"/>
              <a:t>Since</a:t>
            </a:r>
            <a:r>
              <a:rPr lang="en-US" sz="2200" dirty="0"/>
              <a:t>, E-government </a:t>
            </a:r>
            <a:r>
              <a:rPr lang="en-US" sz="2200" dirty="0">
                <a:solidFill>
                  <a:srgbClr val="FF0000"/>
                </a:solidFill>
              </a:rPr>
              <a:t>cannot be only the protection of the ICT assets </a:t>
            </a:r>
            <a:r>
              <a:rPr lang="en-US" sz="2200" dirty="0"/>
              <a:t>in government bodies. </a:t>
            </a:r>
            <a:endParaRPr lang="en-US" sz="2200" dirty="0" smtClean="0"/>
          </a:p>
          <a:p>
            <a:pPr algn="just"/>
            <a:r>
              <a:rPr lang="en-US" sz="2200" dirty="0" smtClean="0"/>
              <a:t>However</a:t>
            </a:r>
            <a:r>
              <a:rPr lang="en-US" sz="2200" dirty="0"/>
              <a:t>, it can be defined as a protection of both technical and non-technical assets of the government departments. </a:t>
            </a:r>
            <a:endParaRPr lang="en-US" sz="2200" dirty="0" smtClean="0"/>
          </a:p>
          <a:p>
            <a:pPr algn="just"/>
            <a:r>
              <a:rPr lang="en-US" sz="2200" dirty="0" smtClean="0"/>
              <a:t>Therefore</a:t>
            </a:r>
            <a:r>
              <a:rPr lang="en-US" sz="2200" dirty="0"/>
              <a:t>, security of </a:t>
            </a:r>
            <a:r>
              <a:rPr lang="en-US" sz="2200" dirty="0" smtClean="0"/>
              <a:t>e-government </a:t>
            </a:r>
            <a:r>
              <a:rPr lang="en-US" sz="2200" dirty="0"/>
              <a:t>can be in a broad area as illustrated in figure</a:t>
            </a:r>
          </a:p>
        </p:txBody>
      </p:sp>
      <p:pic>
        <p:nvPicPr>
          <p:cNvPr id="4" name="Picture 3"/>
          <p:cNvPicPr>
            <a:picLocks noChangeAspect="1"/>
          </p:cNvPicPr>
          <p:nvPr/>
        </p:nvPicPr>
        <p:blipFill>
          <a:blip r:embed="rId2"/>
          <a:stretch>
            <a:fillRect/>
          </a:stretch>
        </p:blipFill>
        <p:spPr>
          <a:xfrm>
            <a:off x="3657600" y="4572000"/>
            <a:ext cx="3867150" cy="2066925"/>
          </a:xfrm>
          <a:prstGeom prst="rect">
            <a:avLst/>
          </a:prstGeom>
        </p:spPr>
      </p:pic>
    </p:spTree>
    <p:extLst>
      <p:ext uri="{BB962C8B-B14F-4D97-AF65-F5344CB8AC3E}">
        <p14:creationId xmlns:p14="http://schemas.microsoft.com/office/powerpoint/2010/main" val="41781629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0070C0"/>
                </a:solidFill>
              </a:rPr>
              <a:t>Security </a:t>
            </a:r>
            <a:r>
              <a:rPr lang="en-US" dirty="0" smtClean="0">
                <a:solidFill>
                  <a:srgbClr val="0070C0"/>
                </a:solidFill>
              </a:rPr>
              <a:t>Management</a:t>
            </a:r>
            <a:endParaRPr lang="en-US" dirty="0">
              <a:solidFill>
                <a:srgbClr val="0070C0"/>
              </a:solidFill>
            </a:endParaRPr>
          </a:p>
        </p:txBody>
      </p:sp>
      <p:sp>
        <p:nvSpPr>
          <p:cNvPr id="3" name="Content Placeholder 2"/>
          <p:cNvSpPr>
            <a:spLocks noGrp="1"/>
          </p:cNvSpPr>
          <p:nvPr>
            <p:ph idx="1"/>
          </p:nvPr>
        </p:nvSpPr>
        <p:spPr>
          <a:xfrm>
            <a:off x="457200" y="1136073"/>
            <a:ext cx="8229600" cy="4525963"/>
          </a:xfrm>
        </p:spPr>
        <p:txBody>
          <a:bodyPr/>
          <a:lstStyle/>
          <a:p>
            <a:pPr algn="just"/>
            <a:r>
              <a:rPr lang="en-US" sz="2400" dirty="0"/>
              <a:t>The above facts lead us to conclusion that the </a:t>
            </a:r>
            <a:r>
              <a:rPr lang="en-US" sz="2400" dirty="0">
                <a:solidFill>
                  <a:srgbClr val="FF0000"/>
                </a:solidFill>
              </a:rPr>
              <a:t>security of the </a:t>
            </a:r>
            <a:r>
              <a:rPr lang="en-US" sz="2400" dirty="0" smtClean="0">
                <a:solidFill>
                  <a:srgbClr val="FF0000"/>
                </a:solidFill>
              </a:rPr>
              <a:t>e-governance </a:t>
            </a:r>
            <a:r>
              <a:rPr lang="en-US" sz="2400" dirty="0">
                <a:solidFill>
                  <a:srgbClr val="FF0000"/>
                </a:solidFill>
              </a:rPr>
              <a:t>system has to be managed systematically in three levels</a:t>
            </a:r>
            <a:r>
              <a:rPr lang="en-US" sz="2400" dirty="0"/>
              <a:t>, this model is explained with the help of this </a:t>
            </a:r>
            <a:r>
              <a:rPr lang="en-US" sz="2400" dirty="0" smtClean="0"/>
              <a:t>figure</a:t>
            </a:r>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1297963" y="2819400"/>
            <a:ext cx="7388837" cy="3224789"/>
          </a:xfrm>
          <a:prstGeom prst="rect">
            <a:avLst/>
          </a:prstGeom>
        </p:spPr>
      </p:pic>
    </p:spTree>
    <p:extLst>
      <p:ext uri="{BB962C8B-B14F-4D97-AF65-F5344CB8AC3E}">
        <p14:creationId xmlns:p14="http://schemas.microsoft.com/office/powerpoint/2010/main" val="4210271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457200" y="944562"/>
            <a:ext cx="8229600" cy="5684838"/>
          </a:xfrm>
        </p:spPr>
        <p:txBody>
          <a:bodyPr>
            <a:normAutofit/>
          </a:bodyPr>
          <a:lstStyle/>
          <a:p>
            <a:pPr algn="just"/>
            <a:r>
              <a:rPr lang="en-US" sz="2400" dirty="0">
                <a:solidFill>
                  <a:srgbClr val="FF0000"/>
                </a:solidFill>
              </a:rPr>
              <a:t>Security at User Level </a:t>
            </a:r>
            <a:endParaRPr lang="en-US" sz="2400" dirty="0" smtClean="0">
              <a:solidFill>
                <a:srgbClr val="FF0000"/>
              </a:solidFill>
            </a:endParaRPr>
          </a:p>
          <a:p>
            <a:pPr algn="just"/>
            <a:r>
              <a:rPr lang="en-US" sz="2400" dirty="0" smtClean="0"/>
              <a:t>Security </a:t>
            </a:r>
            <a:r>
              <a:rPr lang="en-US" sz="2400" dirty="0"/>
              <a:t>at user level is a very important </a:t>
            </a:r>
            <a:r>
              <a:rPr lang="en-US" sz="2400" dirty="0" smtClean="0"/>
              <a:t>issue.</a:t>
            </a:r>
          </a:p>
          <a:p>
            <a:pPr algn="just"/>
            <a:r>
              <a:rPr lang="en-US" sz="2400" dirty="0" smtClean="0"/>
              <a:t>We </a:t>
            </a:r>
            <a:r>
              <a:rPr lang="en-US" sz="2400" dirty="0"/>
              <a:t>can classify user level </a:t>
            </a:r>
            <a:r>
              <a:rPr lang="en-US" sz="2400" dirty="0">
                <a:solidFill>
                  <a:srgbClr val="00B050"/>
                </a:solidFill>
              </a:rPr>
              <a:t>security management in three </a:t>
            </a:r>
            <a:r>
              <a:rPr lang="en-US" sz="2400" dirty="0" smtClean="0">
                <a:solidFill>
                  <a:srgbClr val="00B050"/>
                </a:solidFill>
              </a:rPr>
              <a:t>Parts.</a:t>
            </a:r>
          </a:p>
          <a:p>
            <a:pPr algn="just"/>
            <a:r>
              <a:rPr lang="en-US" sz="2400" dirty="0">
                <a:solidFill>
                  <a:srgbClr val="7030A0"/>
                </a:solidFill>
              </a:rPr>
              <a:t>Identity Management </a:t>
            </a:r>
            <a:endParaRPr lang="en-US" sz="2400" dirty="0" smtClean="0">
              <a:solidFill>
                <a:srgbClr val="7030A0"/>
              </a:solidFill>
            </a:endParaRPr>
          </a:p>
          <a:p>
            <a:pPr lvl="1" algn="just">
              <a:buFont typeface="Wingdings" panose="05000000000000000000" pitchFamily="2" charset="2"/>
              <a:buChar char="ü"/>
            </a:pPr>
            <a:r>
              <a:rPr lang="en-US" sz="2400" dirty="0" smtClean="0"/>
              <a:t>The </a:t>
            </a:r>
            <a:r>
              <a:rPr lang="en-US" sz="2400" dirty="0"/>
              <a:t>main purpose of this is to create </a:t>
            </a:r>
            <a:r>
              <a:rPr lang="en-US" sz="2400" dirty="0">
                <a:solidFill>
                  <a:srgbClr val="FF0000"/>
                </a:solidFill>
              </a:rPr>
              <a:t>unique digital identity or credential to all legal users </a:t>
            </a:r>
            <a:r>
              <a:rPr lang="en-US" sz="2400" dirty="0"/>
              <a:t>by providing a unique user name and password, to create and manage ICT systems which ensure that the digital identities are secure. </a:t>
            </a:r>
            <a:endParaRPr lang="en-US" sz="2400" dirty="0" smtClean="0"/>
          </a:p>
          <a:p>
            <a:pPr algn="just"/>
            <a:r>
              <a:rPr lang="en-US" sz="2400" dirty="0" smtClean="0">
                <a:solidFill>
                  <a:srgbClr val="7030A0"/>
                </a:solidFill>
              </a:rPr>
              <a:t>Access </a:t>
            </a:r>
            <a:r>
              <a:rPr lang="en-US" sz="2400" dirty="0">
                <a:solidFill>
                  <a:srgbClr val="7030A0"/>
                </a:solidFill>
              </a:rPr>
              <a:t>Management System </a:t>
            </a:r>
            <a:endParaRPr lang="en-US" sz="2400" dirty="0" smtClean="0">
              <a:solidFill>
                <a:srgbClr val="7030A0"/>
              </a:solidFill>
            </a:endParaRPr>
          </a:p>
          <a:p>
            <a:pPr lvl="1" algn="just">
              <a:buFont typeface="Wingdings" panose="05000000000000000000" pitchFamily="2" charset="2"/>
              <a:buChar char="ü"/>
            </a:pPr>
            <a:r>
              <a:rPr lang="en-US" sz="2400" dirty="0" smtClean="0"/>
              <a:t>In </a:t>
            </a:r>
            <a:r>
              <a:rPr lang="en-US" sz="2400" dirty="0"/>
              <a:t>this level the unique credentials which are provided to the user at identity level are matched to identify the user, that he/she is actually the authentic </a:t>
            </a:r>
            <a:r>
              <a:rPr lang="en-US" sz="2400" dirty="0" smtClean="0"/>
              <a:t>person.</a:t>
            </a:r>
            <a:endParaRPr lang="en-US" sz="2400" dirty="0"/>
          </a:p>
        </p:txBody>
      </p:sp>
    </p:spTree>
    <p:extLst>
      <p:ext uri="{BB962C8B-B14F-4D97-AF65-F5344CB8AC3E}">
        <p14:creationId xmlns:p14="http://schemas.microsoft.com/office/powerpoint/2010/main" val="17050750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619" y="76200"/>
            <a:ext cx="8229600" cy="609600"/>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432619" y="685800"/>
            <a:ext cx="8477865" cy="4525963"/>
          </a:xfrm>
        </p:spPr>
        <p:txBody>
          <a:bodyPr>
            <a:noAutofit/>
          </a:bodyPr>
          <a:lstStyle/>
          <a:p>
            <a:pPr algn="just"/>
            <a:r>
              <a:rPr lang="en-US" sz="2400" dirty="0">
                <a:solidFill>
                  <a:srgbClr val="7030A0"/>
                </a:solidFill>
              </a:rPr>
              <a:t>Interaction Management System </a:t>
            </a:r>
            <a:endParaRPr lang="en-US" sz="2400" dirty="0" smtClean="0">
              <a:solidFill>
                <a:srgbClr val="7030A0"/>
              </a:solidFill>
            </a:endParaRPr>
          </a:p>
          <a:p>
            <a:pPr lvl="1" algn="just">
              <a:buFont typeface="Wingdings" panose="05000000000000000000" pitchFamily="2" charset="2"/>
              <a:buChar char="ü"/>
            </a:pPr>
            <a:r>
              <a:rPr lang="en-US" sz="2400" dirty="0" smtClean="0"/>
              <a:t>Interaction </a:t>
            </a:r>
            <a:r>
              <a:rPr lang="en-US" sz="2400" dirty="0"/>
              <a:t>management is a most comprehensive and complex phase. </a:t>
            </a:r>
          </a:p>
          <a:p>
            <a:pPr lvl="1" algn="just">
              <a:buFont typeface="Wingdings" panose="05000000000000000000" pitchFamily="2" charset="2"/>
              <a:buChar char="ü"/>
            </a:pPr>
            <a:r>
              <a:rPr lang="en-US" sz="2400" dirty="0" smtClean="0"/>
              <a:t>It </a:t>
            </a:r>
            <a:r>
              <a:rPr lang="en-US" sz="2400" dirty="0"/>
              <a:t>includes assurance of the Integrity, Confidentiality and Non-repudiation principles of a comprehensive security. </a:t>
            </a:r>
            <a:endParaRPr lang="en-US" sz="2400" dirty="0" smtClean="0"/>
          </a:p>
          <a:p>
            <a:pPr algn="just"/>
            <a:r>
              <a:rPr lang="en-US" sz="2400" dirty="0" smtClean="0"/>
              <a:t>In </a:t>
            </a:r>
            <a:r>
              <a:rPr lang="en-US" sz="2400" dirty="0"/>
              <a:t>user level, we can use various tools such as </a:t>
            </a:r>
            <a:r>
              <a:rPr lang="en-US" sz="2400" dirty="0">
                <a:solidFill>
                  <a:srgbClr val="FF0000"/>
                </a:solidFill>
              </a:rPr>
              <a:t>digital identity token, public key infrastructure (PKI), digital signature, asymmetric key cryptography </a:t>
            </a:r>
            <a:r>
              <a:rPr lang="en-US" sz="2400" dirty="0"/>
              <a:t>etc. to provide or enhance the security at the user level. </a:t>
            </a:r>
            <a:endParaRPr lang="en-US" sz="2400" dirty="0" smtClean="0"/>
          </a:p>
        </p:txBody>
      </p:sp>
    </p:spTree>
    <p:extLst>
      <p:ext uri="{BB962C8B-B14F-4D97-AF65-F5344CB8AC3E}">
        <p14:creationId xmlns:p14="http://schemas.microsoft.com/office/powerpoint/2010/main" val="12428362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457200" y="1064491"/>
            <a:ext cx="8229600" cy="4525963"/>
          </a:xfrm>
        </p:spPr>
        <p:txBody>
          <a:bodyPr/>
          <a:lstStyle/>
          <a:p>
            <a:pPr algn="just"/>
            <a:r>
              <a:rPr lang="en-US" sz="2400" dirty="0">
                <a:solidFill>
                  <a:srgbClr val="FF0000"/>
                </a:solidFill>
              </a:rPr>
              <a:t>Security at Transport Level </a:t>
            </a:r>
            <a:endParaRPr lang="en-US" sz="2400" dirty="0" smtClean="0">
              <a:solidFill>
                <a:srgbClr val="FF0000"/>
              </a:solidFill>
            </a:endParaRPr>
          </a:p>
          <a:p>
            <a:pPr lvl="1" algn="just">
              <a:buFont typeface="Wingdings" panose="05000000000000000000" pitchFamily="2" charset="2"/>
              <a:buChar char="ü"/>
            </a:pPr>
            <a:r>
              <a:rPr lang="en-US" sz="2400" dirty="0" smtClean="0"/>
              <a:t>In </a:t>
            </a:r>
            <a:r>
              <a:rPr lang="en-US" sz="2400" dirty="0"/>
              <a:t>this level we consider about e-governance security </a:t>
            </a:r>
            <a:r>
              <a:rPr lang="en-US" sz="2400" dirty="0" smtClean="0"/>
              <a:t>in </a:t>
            </a:r>
            <a:r>
              <a:rPr lang="en-US" sz="2400" dirty="0"/>
              <a:t>two aspects which are security within LAN and WAN, and the second one is Security over the Internet. </a:t>
            </a:r>
          </a:p>
          <a:p>
            <a:pPr algn="just"/>
            <a:r>
              <a:rPr lang="en-US" sz="2400" dirty="0"/>
              <a:t>This security level is classified into two systems, i.e. </a:t>
            </a:r>
            <a:r>
              <a:rPr lang="en-US" sz="2400" dirty="0">
                <a:solidFill>
                  <a:srgbClr val="00B050"/>
                </a:solidFill>
              </a:rPr>
              <a:t>Secure Communication System and Cryptographic System.</a:t>
            </a:r>
          </a:p>
          <a:p>
            <a:endParaRPr lang="en-US" dirty="0"/>
          </a:p>
        </p:txBody>
      </p:sp>
      <p:pic>
        <p:nvPicPr>
          <p:cNvPr id="4" name="Picture 3"/>
          <p:cNvPicPr>
            <a:picLocks noChangeAspect="1"/>
          </p:cNvPicPr>
          <p:nvPr/>
        </p:nvPicPr>
        <p:blipFill>
          <a:blip r:embed="rId2"/>
          <a:stretch>
            <a:fillRect/>
          </a:stretch>
        </p:blipFill>
        <p:spPr>
          <a:xfrm>
            <a:off x="1981200" y="3810000"/>
            <a:ext cx="5529648" cy="2286000"/>
          </a:xfrm>
          <a:prstGeom prst="rect">
            <a:avLst/>
          </a:prstGeom>
        </p:spPr>
      </p:pic>
    </p:spTree>
    <p:extLst>
      <p:ext uri="{BB962C8B-B14F-4D97-AF65-F5344CB8AC3E}">
        <p14:creationId xmlns:p14="http://schemas.microsoft.com/office/powerpoint/2010/main" val="29825525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119"/>
            <a:ext cx="8229600" cy="639762"/>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381000" y="700881"/>
            <a:ext cx="8229600" cy="5715000"/>
          </a:xfrm>
        </p:spPr>
        <p:txBody>
          <a:bodyPr>
            <a:noAutofit/>
          </a:bodyPr>
          <a:lstStyle/>
          <a:p>
            <a:pPr algn="just"/>
            <a:r>
              <a:rPr lang="en-US" sz="2000" dirty="0">
                <a:solidFill>
                  <a:srgbClr val="FF0000"/>
                </a:solidFill>
              </a:rPr>
              <a:t>Security at ICT Assets level </a:t>
            </a:r>
            <a:endParaRPr lang="en-US" sz="2000" dirty="0" smtClean="0">
              <a:solidFill>
                <a:srgbClr val="FF0000"/>
              </a:solidFill>
            </a:endParaRPr>
          </a:p>
          <a:p>
            <a:pPr lvl="1" algn="just">
              <a:buFont typeface="Wingdings" panose="05000000000000000000" pitchFamily="2" charset="2"/>
              <a:buChar char="ü"/>
            </a:pPr>
            <a:r>
              <a:rPr lang="en-US" sz="2000" dirty="0" smtClean="0"/>
              <a:t>ICT </a:t>
            </a:r>
            <a:r>
              <a:rPr lang="en-US" sz="2000" dirty="0"/>
              <a:t>assets are the most precious for any organization or institution, so to secure this level we have two broad categories of security treatment i.e. Physical security and Electronic security </a:t>
            </a:r>
            <a:endParaRPr lang="en-US" sz="2000" dirty="0" smtClean="0"/>
          </a:p>
          <a:p>
            <a:pPr algn="just"/>
            <a:endParaRPr lang="en-US" sz="2000" dirty="0"/>
          </a:p>
          <a:p>
            <a:pPr algn="just"/>
            <a:endParaRPr lang="en-US" sz="2000" dirty="0" smtClean="0"/>
          </a:p>
          <a:p>
            <a:pPr algn="just"/>
            <a:endParaRPr lang="en-US" sz="2000" dirty="0"/>
          </a:p>
          <a:p>
            <a:pPr algn="just"/>
            <a:endParaRPr lang="en-US" sz="2000" dirty="0" smtClean="0"/>
          </a:p>
          <a:p>
            <a:pPr algn="just"/>
            <a:endParaRPr lang="en-US" sz="2000" dirty="0"/>
          </a:p>
          <a:p>
            <a:pPr algn="just"/>
            <a:endParaRPr lang="en-US" sz="2000" dirty="0" smtClean="0">
              <a:solidFill>
                <a:srgbClr val="00B050"/>
              </a:solidFill>
            </a:endParaRPr>
          </a:p>
          <a:p>
            <a:pPr algn="just"/>
            <a:r>
              <a:rPr lang="en-US" sz="2000" dirty="0" smtClean="0">
                <a:solidFill>
                  <a:srgbClr val="00B050"/>
                </a:solidFill>
              </a:rPr>
              <a:t>Physical </a:t>
            </a:r>
            <a:r>
              <a:rPr lang="en-US" sz="2000" dirty="0">
                <a:solidFill>
                  <a:srgbClr val="00B050"/>
                </a:solidFill>
              </a:rPr>
              <a:t>Security </a:t>
            </a:r>
            <a:endParaRPr lang="en-US" sz="2000" dirty="0" smtClean="0">
              <a:solidFill>
                <a:srgbClr val="00B050"/>
              </a:solidFill>
            </a:endParaRPr>
          </a:p>
          <a:p>
            <a:pPr lvl="1" algn="just">
              <a:buFont typeface="Wingdings" panose="05000000000000000000" pitchFamily="2" charset="2"/>
              <a:buChar char="ü"/>
            </a:pPr>
            <a:r>
              <a:rPr lang="en-US" sz="2000" dirty="0" smtClean="0"/>
              <a:t>It </a:t>
            </a:r>
            <a:r>
              <a:rPr lang="en-US" sz="2000" dirty="0"/>
              <a:t>is used to </a:t>
            </a:r>
            <a:r>
              <a:rPr lang="en-US" sz="2000" dirty="0">
                <a:solidFill>
                  <a:srgbClr val="7030A0"/>
                </a:solidFill>
              </a:rPr>
              <a:t>protect the data against physical damages</a:t>
            </a:r>
            <a:r>
              <a:rPr lang="en-US" sz="2000" dirty="0"/>
              <a:t> or losses like- natural disasters etc. </a:t>
            </a:r>
            <a:endParaRPr lang="en-US" sz="2000" dirty="0" smtClean="0"/>
          </a:p>
          <a:p>
            <a:pPr lvl="1" algn="just">
              <a:buFont typeface="Wingdings" panose="05000000000000000000" pitchFamily="2" charset="2"/>
              <a:buChar char="ü"/>
            </a:pPr>
            <a:r>
              <a:rPr lang="en-US" sz="2000" dirty="0"/>
              <a:t>T</a:t>
            </a:r>
            <a:r>
              <a:rPr lang="en-US" sz="2000" dirty="0" smtClean="0"/>
              <a:t>o </a:t>
            </a:r>
            <a:r>
              <a:rPr lang="en-US" sz="2000" dirty="0"/>
              <a:t>protect data in this security level we take some steps such </a:t>
            </a:r>
            <a:r>
              <a:rPr lang="en-US" sz="2000" dirty="0" smtClean="0"/>
              <a:t>as security </a:t>
            </a:r>
            <a:r>
              <a:rPr lang="en-US" sz="2000" dirty="0"/>
              <a:t>level of data centers are highly secured by using biometric-controlled system, in data centers provision of dust-proof environment, fire protection systems, </a:t>
            </a:r>
            <a:r>
              <a:rPr lang="en-US" sz="2000" dirty="0" smtClean="0"/>
              <a:t>security </a:t>
            </a:r>
            <a:r>
              <a:rPr lang="en-US" sz="2000" dirty="0"/>
              <a:t>alarms, CCTV monitoring of data </a:t>
            </a:r>
            <a:r>
              <a:rPr lang="en-US" sz="2000" dirty="0" smtClean="0"/>
              <a:t>center, automated </a:t>
            </a:r>
            <a:r>
              <a:rPr lang="en-US" sz="2000" dirty="0"/>
              <a:t>backup system</a:t>
            </a:r>
            <a:endParaRPr lang="en-US" sz="2000" dirty="0" smtClean="0"/>
          </a:p>
        </p:txBody>
      </p:sp>
      <p:pic>
        <p:nvPicPr>
          <p:cNvPr id="4" name="Picture 3"/>
          <p:cNvPicPr>
            <a:picLocks noChangeAspect="1"/>
          </p:cNvPicPr>
          <p:nvPr/>
        </p:nvPicPr>
        <p:blipFill>
          <a:blip r:embed="rId2"/>
          <a:stretch>
            <a:fillRect/>
          </a:stretch>
        </p:blipFill>
        <p:spPr>
          <a:xfrm>
            <a:off x="2362200" y="2133600"/>
            <a:ext cx="6087880" cy="2057400"/>
          </a:xfrm>
          <a:prstGeom prst="rect">
            <a:avLst/>
          </a:prstGeom>
        </p:spPr>
      </p:pic>
    </p:spTree>
    <p:extLst>
      <p:ext uri="{BB962C8B-B14F-4D97-AF65-F5344CB8AC3E}">
        <p14:creationId xmlns:p14="http://schemas.microsoft.com/office/powerpoint/2010/main" val="1277693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304800" y="914400"/>
            <a:ext cx="8229600" cy="5562600"/>
          </a:xfrm>
        </p:spPr>
        <p:txBody>
          <a:bodyPr>
            <a:noAutofit/>
          </a:bodyPr>
          <a:lstStyle/>
          <a:p>
            <a:pPr algn="just"/>
            <a:r>
              <a:rPr lang="en-US" sz="2200" dirty="0" smtClean="0">
                <a:solidFill>
                  <a:srgbClr val="00B050"/>
                </a:solidFill>
              </a:rPr>
              <a:t>Electronic Security</a:t>
            </a:r>
          </a:p>
          <a:p>
            <a:pPr lvl="1" algn="just">
              <a:buFont typeface="Wingdings" panose="05000000000000000000" pitchFamily="2" charset="2"/>
              <a:buChar char="ü"/>
            </a:pPr>
            <a:r>
              <a:rPr lang="en-US" sz="1800" dirty="0"/>
              <a:t>T</a:t>
            </a:r>
            <a:r>
              <a:rPr lang="en-US" sz="1800" dirty="0" smtClean="0"/>
              <a:t>o </a:t>
            </a:r>
            <a:r>
              <a:rPr lang="en-US" sz="1800" dirty="0"/>
              <a:t>give the protection against digital threats we </a:t>
            </a:r>
            <a:r>
              <a:rPr lang="en-US" sz="1800" dirty="0" smtClean="0"/>
              <a:t> </a:t>
            </a:r>
            <a:r>
              <a:rPr lang="en-US" sz="1800" dirty="0"/>
              <a:t>use electronic security. </a:t>
            </a:r>
            <a:endParaRPr lang="en-US" sz="1800" dirty="0" smtClean="0"/>
          </a:p>
          <a:p>
            <a:pPr algn="just"/>
            <a:r>
              <a:rPr lang="en-US" sz="2200" dirty="0" smtClean="0"/>
              <a:t>We </a:t>
            </a:r>
            <a:r>
              <a:rPr lang="en-US" sz="2200" dirty="0"/>
              <a:t>have various electronic security tools, and we can manage them in two categories </a:t>
            </a:r>
            <a:endParaRPr lang="en-US" sz="2200" dirty="0" smtClean="0"/>
          </a:p>
          <a:p>
            <a:pPr marL="0" indent="0" algn="just">
              <a:buNone/>
            </a:pPr>
            <a:endParaRPr lang="en-US" sz="2200" dirty="0" smtClean="0"/>
          </a:p>
          <a:p>
            <a:pPr marL="0" indent="0" algn="just">
              <a:buNone/>
            </a:pPr>
            <a:endParaRPr lang="en-US" sz="2200" dirty="0"/>
          </a:p>
          <a:p>
            <a:pPr marL="0" indent="0" algn="just">
              <a:buNone/>
            </a:pPr>
            <a:endParaRPr lang="en-US" sz="2200" dirty="0" smtClean="0"/>
          </a:p>
          <a:p>
            <a:pPr marL="0" indent="0" algn="just">
              <a:buNone/>
            </a:pPr>
            <a:endParaRPr lang="en-US" sz="2200" dirty="0" smtClean="0">
              <a:solidFill>
                <a:srgbClr val="FF0000"/>
              </a:solidFill>
            </a:endParaRPr>
          </a:p>
          <a:p>
            <a:pPr algn="just">
              <a:buFont typeface="Wingdings" panose="05000000000000000000" pitchFamily="2" charset="2"/>
              <a:buChar char="Ø"/>
            </a:pPr>
            <a:r>
              <a:rPr lang="en-US" sz="2200" dirty="0" smtClean="0">
                <a:solidFill>
                  <a:srgbClr val="FF0000"/>
                </a:solidFill>
              </a:rPr>
              <a:t>Anti-virus System</a:t>
            </a:r>
          </a:p>
          <a:p>
            <a:pPr algn="just"/>
            <a:r>
              <a:rPr lang="en-US" sz="2000" dirty="0" smtClean="0"/>
              <a:t>When </a:t>
            </a:r>
            <a:r>
              <a:rPr lang="en-US" sz="2000" dirty="0"/>
              <a:t>we discuss about </a:t>
            </a:r>
            <a:r>
              <a:rPr lang="en-US" sz="2000" dirty="0">
                <a:solidFill>
                  <a:srgbClr val="00B050"/>
                </a:solidFill>
              </a:rPr>
              <a:t>digital threats </a:t>
            </a:r>
            <a:r>
              <a:rPr lang="en-US" sz="2000" dirty="0"/>
              <a:t>the first thing in our mind is </a:t>
            </a:r>
            <a:r>
              <a:rPr lang="en-US" sz="2000" dirty="0">
                <a:solidFill>
                  <a:srgbClr val="FF0000"/>
                </a:solidFill>
              </a:rPr>
              <a:t>virus,</a:t>
            </a:r>
            <a:r>
              <a:rPr lang="en-US" sz="2000" dirty="0"/>
              <a:t> which affects our ICT assets in various ways such </a:t>
            </a:r>
            <a:r>
              <a:rPr lang="en-US" sz="2000" dirty="0" smtClean="0"/>
              <a:t>as </a:t>
            </a:r>
            <a:r>
              <a:rPr lang="en-US" sz="2000" dirty="0"/>
              <a:t>slowing down of the system, occupy disk space, corrupt </a:t>
            </a:r>
            <a:r>
              <a:rPr lang="en-US" sz="2000" dirty="0" smtClean="0"/>
              <a:t> </a:t>
            </a:r>
            <a:r>
              <a:rPr lang="en-US" sz="2000" dirty="0"/>
              <a:t>valuable data or storage medium etc. </a:t>
            </a:r>
            <a:endParaRPr lang="en-US" sz="2000" dirty="0" smtClean="0"/>
          </a:p>
          <a:p>
            <a:pPr algn="just"/>
            <a:r>
              <a:rPr lang="en-US" sz="2000" dirty="0"/>
              <a:t>I</a:t>
            </a:r>
            <a:r>
              <a:rPr lang="en-US" sz="2000" dirty="0" smtClean="0"/>
              <a:t>t </a:t>
            </a:r>
            <a:r>
              <a:rPr lang="en-US" sz="2000" dirty="0"/>
              <a:t>is also known as malware, worms and Trojan horses. </a:t>
            </a:r>
            <a:endParaRPr lang="en-US" sz="2000" dirty="0" smtClean="0"/>
          </a:p>
          <a:p>
            <a:pPr algn="just"/>
            <a:r>
              <a:rPr lang="en-US" sz="2000" dirty="0"/>
              <a:t>T</a:t>
            </a:r>
            <a:r>
              <a:rPr lang="en-US" sz="2000" dirty="0" smtClean="0"/>
              <a:t>here </a:t>
            </a:r>
            <a:r>
              <a:rPr lang="en-US" sz="2000" dirty="0"/>
              <a:t>are “over 1,122,311 known viruses active in the world as of 2008</a:t>
            </a:r>
          </a:p>
        </p:txBody>
      </p:sp>
      <p:pic>
        <p:nvPicPr>
          <p:cNvPr id="5" name="Picture 4"/>
          <p:cNvPicPr>
            <a:picLocks noChangeAspect="1"/>
          </p:cNvPicPr>
          <p:nvPr/>
        </p:nvPicPr>
        <p:blipFill>
          <a:blip r:embed="rId2"/>
          <a:stretch>
            <a:fillRect/>
          </a:stretch>
        </p:blipFill>
        <p:spPr>
          <a:xfrm>
            <a:off x="3333750" y="2133600"/>
            <a:ext cx="5276850" cy="1908014"/>
          </a:xfrm>
          <a:prstGeom prst="rect">
            <a:avLst/>
          </a:prstGeom>
        </p:spPr>
      </p:pic>
    </p:spTree>
    <p:extLst>
      <p:ext uri="{BB962C8B-B14F-4D97-AF65-F5344CB8AC3E}">
        <p14:creationId xmlns:p14="http://schemas.microsoft.com/office/powerpoint/2010/main" val="2539176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8683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547687" y="838200"/>
            <a:ext cx="8229600" cy="2590800"/>
          </a:xfrm>
        </p:spPr>
        <p:txBody>
          <a:bodyPr>
            <a:noAutofit/>
          </a:bodyPr>
          <a:lstStyle/>
          <a:p>
            <a:pPr algn="just"/>
            <a:r>
              <a:rPr lang="en-US" sz="2200" dirty="0"/>
              <a:t>Firewalls “A system designed to prevent unauthorized access to or from a private </a:t>
            </a:r>
            <a:r>
              <a:rPr lang="en-US" sz="2200" dirty="0" smtClean="0"/>
              <a:t>network”. </a:t>
            </a:r>
          </a:p>
          <a:p>
            <a:pPr algn="just"/>
            <a:r>
              <a:rPr lang="en-US" sz="2200" dirty="0" smtClean="0"/>
              <a:t>A </a:t>
            </a:r>
            <a:r>
              <a:rPr lang="en-US" sz="2200" dirty="0"/>
              <a:t>firewall </a:t>
            </a:r>
            <a:r>
              <a:rPr lang="en-US" sz="2200" dirty="0">
                <a:solidFill>
                  <a:srgbClr val="00B050"/>
                </a:solidFill>
              </a:rPr>
              <a:t>is a security device that can be hardware or software that is mainly use for to separate a secure area from a less secure area </a:t>
            </a:r>
            <a:r>
              <a:rPr lang="en-US" sz="2200" dirty="0"/>
              <a:t>and to control communications between the two. </a:t>
            </a:r>
            <a:endParaRPr lang="en-US" sz="2200" dirty="0" smtClean="0"/>
          </a:p>
          <a:p>
            <a:pPr algn="just"/>
            <a:r>
              <a:rPr lang="en-US" sz="2200" dirty="0" smtClean="0"/>
              <a:t>We </a:t>
            </a:r>
            <a:r>
              <a:rPr lang="en-US" sz="2200" dirty="0"/>
              <a:t>have several firewall techniques such as Packet filter, Application gateway, Circuit-level gateway, Proxy server. </a:t>
            </a:r>
            <a:endParaRPr lang="en-US" sz="2200" dirty="0" smtClean="0"/>
          </a:p>
          <a:p>
            <a:pPr algn="just"/>
            <a:r>
              <a:rPr lang="en-US" sz="2200" dirty="0" smtClean="0"/>
              <a:t>There </a:t>
            </a:r>
            <a:r>
              <a:rPr lang="en-US" sz="2200" dirty="0"/>
              <a:t>are many different brands of software firewalls, some of them </a:t>
            </a:r>
            <a:r>
              <a:rPr lang="en-US" sz="2200" dirty="0" err="1"/>
              <a:t>areZoneAlarm</a:t>
            </a:r>
            <a:r>
              <a:rPr lang="en-US" sz="2200" dirty="0"/>
              <a:t>, </a:t>
            </a:r>
            <a:r>
              <a:rPr lang="en-US" sz="2200" dirty="0" err="1"/>
              <a:t>BlackICE</a:t>
            </a:r>
            <a:r>
              <a:rPr lang="en-US" sz="2200" dirty="0"/>
              <a:t> and </a:t>
            </a:r>
            <a:r>
              <a:rPr lang="en-US" sz="2200" dirty="0" err="1"/>
              <a:t>Kerio</a:t>
            </a:r>
            <a:r>
              <a:rPr lang="en-US" sz="2200" dirty="0"/>
              <a:t> etc.</a:t>
            </a:r>
          </a:p>
        </p:txBody>
      </p:sp>
      <p:pic>
        <p:nvPicPr>
          <p:cNvPr id="4" name="Picture 3"/>
          <p:cNvPicPr>
            <a:picLocks noChangeAspect="1"/>
          </p:cNvPicPr>
          <p:nvPr/>
        </p:nvPicPr>
        <p:blipFill>
          <a:blip r:embed="rId2"/>
          <a:stretch>
            <a:fillRect/>
          </a:stretch>
        </p:blipFill>
        <p:spPr>
          <a:xfrm>
            <a:off x="1219200" y="4267200"/>
            <a:ext cx="7038975" cy="2257425"/>
          </a:xfrm>
          <a:prstGeom prst="rect">
            <a:avLst/>
          </a:prstGeom>
        </p:spPr>
      </p:pic>
    </p:spTree>
    <p:extLst>
      <p:ext uri="{BB962C8B-B14F-4D97-AF65-F5344CB8AC3E}">
        <p14:creationId xmlns:p14="http://schemas.microsoft.com/office/powerpoint/2010/main" val="3338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0070C0"/>
                </a:solidFill>
              </a:rPr>
              <a:t>Security </a:t>
            </a:r>
            <a:r>
              <a:rPr lang="en-US" dirty="0" smtClean="0">
                <a:solidFill>
                  <a:srgbClr val="0070C0"/>
                </a:solidFill>
              </a:rPr>
              <a:t>Model</a:t>
            </a:r>
            <a:endParaRPr lang="en-US" dirty="0"/>
          </a:p>
        </p:txBody>
      </p:sp>
      <p:pic>
        <p:nvPicPr>
          <p:cNvPr id="6" name="Content Placeholder 5"/>
          <p:cNvPicPr>
            <a:picLocks noGrp="1" noChangeAspect="1"/>
          </p:cNvPicPr>
          <p:nvPr>
            <p:ph idx="1"/>
          </p:nvPr>
        </p:nvPicPr>
        <p:blipFill>
          <a:blip r:embed="rId2"/>
          <a:stretch>
            <a:fillRect/>
          </a:stretch>
        </p:blipFill>
        <p:spPr>
          <a:xfrm>
            <a:off x="228600" y="1447800"/>
            <a:ext cx="5567383" cy="5181600"/>
          </a:xfrm>
          <a:prstGeom prst="rect">
            <a:avLst/>
          </a:prstGeom>
        </p:spPr>
      </p:pic>
      <p:sp>
        <p:nvSpPr>
          <p:cNvPr id="7" name="Rectangle 6"/>
          <p:cNvSpPr/>
          <p:nvPr/>
        </p:nvSpPr>
        <p:spPr>
          <a:xfrm>
            <a:off x="4495800" y="1183205"/>
            <a:ext cx="4572000" cy="2862322"/>
          </a:xfrm>
          <a:prstGeom prst="rect">
            <a:avLst/>
          </a:prstGeom>
        </p:spPr>
        <p:txBody>
          <a:bodyPr>
            <a:spAutoFit/>
          </a:bodyPr>
          <a:lstStyle/>
          <a:p>
            <a:r>
              <a:rPr lang="en-US" dirty="0">
                <a:solidFill>
                  <a:srgbClr val="FF0000"/>
                </a:solidFill>
              </a:rPr>
              <a:t>Confidentiality/Privacy/Accessibility</a:t>
            </a:r>
            <a:r>
              <a:rPr lang="en-US" dirty="0"/>
              <a:t>: ensuring that systems and information are accessible to those </a:t>
            </a:r>
            <a:r>
              <a:rPr lang="en-US" dirty="0" smtClean="0"/>
              <a:t>authorized </a:t>
            </a:r>
            <a:r>
              <a:rPr lang="en-US" dirty="0"/>
              <a:t>to access it</a:t>
            </a:r>
            <a:r>
              <a:rPr lang="en-US" dirty="0" smtClean="0"/>
              <a:t>.</a:t>
            </a:r>
          </a:p>
          <a:p>
            <a:r>
              <a:rPr lang="en-US" dirty="0">
                <a:solidFill>
                  <a:srgbClr val="FF0000"/>
                </a:solidFill>
              </a:rPr>
              <a:t>Integrity: </a:t>
            </a:r>
            <a:r>
              <a:rPr lang="en-US" dirty="0"/>
              <a:t>ensuring systems and data have not been tampered with (either accidentally or maliciously) and are in their original and intended state</a:t>
            </a:r>
            <a:r>
              <a:rPr lang="en-US" dirty="0" smtClean="0"/>
              <a:t>.</a:t>
            </a:r>
          </a:p>
          <a:p>
            <a:r>
              <a:rPr lang="en-US" dirty="0" smtClean="0">
                <a:solidFill>
                  <a:srgbClr val="FF0000"/>
                </a:solidFill>
              </a:rPr>
              <a:t>Availability</a:t>
            </a:r>
            <a:r>
              <a:rPr lang="en-US" dirty="0" smtClean="0"/>
              <a:t>: Ensuring</a:t>
            </a:r>
            <a:r>
              <a:rPr lang="en-US" dirty="0"/>
              <a:t> </a:t>
            </a:r>
            <a:r>
              <a:rPr lang="en-US" dirty="0" smtClean="0"/>
              <a:t>that</a:t>
            </a:r>
            <a:r>
              <a:rPr lang="en-US" dirty="0"/>
              <a:t> </a:t>
            </a:r>
            <a:r>
              <a:rPr lang="en-US" dirty="0" smtClean="0"/>
              <a:t>information</a:t>
            </a:r>
            <a:r>
              <a:rPr lang="en-US" dirty="0"/>
              <a:t> </a:t>
            </a:r>
            <a:r>
              <a:rPr lang="en-US" dirty="0" smtClean="0"/>
              <a:t>and</a:t>
            </a:r>
            <a:r>
              <a:rPr lang="en-US" dirty="0"/>
              <a:t> </a:t>
            </a:r>
            <a:r>
              <a:rPr lang="en-US" dirty="0" smtClean="0"/>
              <a:t>vital</a:t>
            </a:r>
            <a:endParaRPr lang="en-US" dirty="0"/>
          </a:p>
          <a:p>
            <a:r>
              <a:rPr lang="en-US" dirty="0" smtClean="0"/>
              <a:t>IT services</a:t>
            </a:r>
            <a:r>
              <a:rPr lang="en-US" dirty="0"/>
              <a:t> </a:t>
            </a:r>
            <a:r>
              <a:rPr lang="en-US" dirty="0" smtClean="0"/>
              <a:t>are</a:t>
            </a:r>
            <a:r>
              <a:rPr lang="en-US" dirty="0"/>
              <a:t> </a:t>
            </a:r>
            <a:r>
              <a:rPr lang="en-US" dirty="0" smtClean="0"/>
              <a:t>available</a:t>
            </a:r>
            <a:r>
              <a:rPr lang="en-US" dirty="0"/>
              <a:t> </a:t>
            </a:r>
            <a:r>
              <a:rPr lang="en-US" dirty="0" smtClean="0"/>
              <a:t>when</a:t>
            </a:r>
            <a:r>
              <a:rPr lang="en-US" dirty="0"/>
              <a:t> </a:t>
            </a:r>
            <a:r>
              <a:rPr lang="en-US" dirty="0" smtClean="0"/>
              <a:t>required</a:t>
            </a:r>
            <a:endParaRPr lang="en-US" dirty="0"/>
          </a:p>
          <a:p>
            <a:endParaRPr lang="en-US" dirty="0"/>
          </a:p>
        </p:txBody>
      </p:sp>
    </p:spTree>
    <p:extLst>
      <p:ext uri="{BB962C8B-B14F-4D97-AF65-F5344CB8AC3E}">
        <p14:creationId xmlns:p14="http://schemas.microsoft.com/office/powerpoint/2010/main" val="2312593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dirty="0" smtClean="0">
                <a:solidFill>
                  <a:srgbClr val="0070C0"/>
                </a:solidFill>
              </a:rPr>
              <a:t/>
            </a:r>
            <a:br>
              <a:rPr lang="en-US" dirty="0" smtClean="0">
                <a:solidFill>
                  <a:srgbClr val="0070C0"/>
                </a:solidFill>
              </a:rPr>
            </a:br>
            <a:r>
              <a:rPr lang="en-US" dirty="0" smtClean="0">
                <a:solidFill>
                  <a:srgbClr val="0070C0"/>
                </a:solidFill>
              </a:rPr>
              <a:t>E-government </a:t>
            </a:r>
            <a:r>
              <a:rPr lang="en-US" dirty="0">
                <a:solidFill>
                  <a:srgbClr val="0070C0"/>
                </a:solidFill>
              </a:rPr>
              <a:t>Security Model</a:t>
            </a:r>
            <a:br>
              <a:rPr lang="en-US" dirty="0">
                <a:solidFill>
                  <a:srgbClr val="0070C0"/>
                </a:solidFill>
              </a:rPr>
            </a:br>
            <a:endParaRPr lang="en-US" dirty="0">
              <a:solidFill>
                <a:srgbClr val="0070C0"/>
              </a:solidFill>
            </a:endParaRPr>
          </a:p>
        </p:txBody>
      </p:sp>
      <p:sp>
        <p:nvSpPr>
          <p:cNvPr id="3" name="Content Placeholder 2"/>
          <p:cNvSpPr>
            <a:spLocks noGrp="1"/>
          </p:cNvSpPr>
          <p:nvPr>
            <p:ph idx="1"/>
          </p:nvPr>
        </p:nvSpPr>
        <p:spPr>
          <a:xfrm>
            <a:off x="304800" y="868362"/>
            <a:ext cx="8382000" cy="4525963"/>
          </a:xfrm>
        </p:spPr>
        <p:txBody>
          <a:bodyPr>
            <a:noAutofit/>
          </a:bodyPr>
          <a:lstStyle/>
          <a:p>
            <a:pPr algn="just"/>
            <a:r>
              <a:rPr lang="en-US" sz="2200" dirty="0"/>
              <a:t>In </a:t>
            </a:r>
            <a:r>
              <a:rPr lang="en-US" sz="2200" dirty="0" smtClean="0"/>
              <a:t>Implementing </a:t>
            </a:r>
            <a:r>
              <a:rPr lang="en-US" sz="2200" dirty="0"/>
              <a:t>the online services, government entities should </a:t>
            </a:r>
            <a:r>
              <a:rPr lang="en-US" sz="2200" dirty="0">
                <a:solidFill>
                  <a:srgbClr val="FF0000"/>
                </a:solidFill>
              </a:rPr>
              <a:t>define the types of security</a:t>
            </a:r>
            <a:r>
              <a:rPr lang="en-US" sz="2200" dirty="0"/>
              <a:t> to make the citizens comfortable in using these services. </a:t>
            </a:r>
            <a:endParaRPr lang="en-US" sz="2200" dirty="0" smtClean="0"/>
          </a:p>
          <a:p>
            <a:pPr algn="just"/>
            <a:r>
              <a:rPr lang="en-US" sz="2200" dirty="0" smtClean="0"/>
              <a:t>Citizens </a:t>
            </a:r>
            <a:r>
              <a:rPr lang="en-US" sz="2200" dirty="0"/>
              <a:t>and companies </a:t>
            </a:r>
            <a:r>
              <a:rPr lang="en-US" sz="2200" dirty="0">
                <a:solidFill>
                  <a:srgbClr val="FF0000"/>
                </a:solidFill>
              </a:rPr>
              <a:t>must have confidence that both the content and the infrastructure of the internet are secure</a:t>
            </a:r>
            <a:r>
              <a:rPr lang="en-US" sz="2200" dirty="0"/>
              <a:t>. </a:t>
            </a:r>
            <a:endParaRPr lang="en-US" sz="2200" dirty="0" smtClean="0"/>
          </a:p>
          <a:p>
            <a:pPr algn="just"/>
            <a:r>
              <a:rPr lang="en-US" sz="2200" dirty="0" smtClean="0"/>
              <a:t>These </a:t>
            </a:r>
            <a:r>
              <a:rPr lang="en-US" sz="2200" dirty="0"/>
              <a:t>types of security should emphasis the protection of data privacy, access control, authentication, and network </a:t>
            </a:r>
            <a:r>
              <a:rPr lang="en-US" sz="2200" dirty="0" smtClean="0"/>
              <a:t>security</a:t>
            </a:r>
          </a:p>
          <a:p>
            <a:pPr algn="just"/>
            <a:r>
              <a:rPr lang="en-US" sz="2200" dirty="0"/>
              <a:t>The security issues and mechanisms should be included in each task of the e-government model. </a:t>
            </a:r>
            <a:endParaRPr lang="en-US" sz="2200" dirty="0" smtClean="0"/>
          </a:p>
          <a:p>
            <a:pPr algn="just"/>
            <a:r>
              <a:rPr lang="en-US" sz="2200" dirty="0" smtClean="0"/>
              <a:t>These </a:t>
            </a:r>
            <a:r>
              <a:rPr lang="en-US" sz="2200" dirty="0"/>
              <a:t>issues and mechanisms constitute the components of a workflow model that has been described by a number of tasks as follows </a:t>
            </a:r>
            <a:r>
              <a:rPr lang="en-US" sz="2200" dirty="0" smtClean="0"/>
              <a:t>:</a:t>
            </a:r>
          </a:p>
          <a:p>
            <a:pPr algn="just"/>
            <a:r>
              <a:rPr lang="en-US" sz="2200" dirty="0">
                <a:solidFill>
                  <a:srgbClr val="FF0000"/>
                </a:solidFill>
              </a:rPr>
              <a:t>Task T1 </a:t>
            </a:r>
            <a:r>
              <a:rPr lang="en-US" sz="2200" dirty="0"/>
              <a:t>: A political decision is required to implement IT security</a:t>
            </a:r>
            <a:r>
              <a:rPr lang="en-US" sz="2200" dirty="0" smtClean="0"/>
              <a:t>.</a:t>
            </a:r>
          </a:p>
          <a:p>
            <a:pPr algn="just"/>
            <a:r>
              <a:rPr lang="en-US" sz="2200" dirty="0">
                <a:solidFill>
                  <a:srgbClr val="FF0000"/>
                </a:solidFill>
              </a:rPr>
              <a:t>Task T2 </a:t>
            </a:r>
            <a:r>
              <a:rPr lang="en-US" sz="2200" dirty="0"/>
              <a:t>: A security analysis is required to implement the above decision</a:t>
            </a:r>
          </a:p>
        </p:txBody>
      </p:sp>
    </p:spTree>
    <p:extLst>
      <p:ext uri="{BB962C8B-B14F-4D97-AF65-F5344CB8AC3E}">
        <p14:creationId xmlns:p14="http://schemas.microsoft.com/office/powerpoint/2010/main" val="2672228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27" y="-55418"/>
            <a:ext cx="8229600" cy="715962"/>
          </a:xfrm>
        </p:spPr>
        <p:txBody>
          <a:bodyPr>
            <a:normAutofit fontScale="90000"/>
          </a:bodyPr>
          <a:lstStyle/>
          <a:p>
            <a:r>
              <a:rPr lang="en-US" dirty="0">
                <a:solidFill>
                  <a:srgbClr val="0070C0"/>
                </a:solidFill>
              </a:rPr>
              <a:t/>
            </a:r>
            <a:br>
              <a:rPr lang="en-US" dirty="0">
                <a:solidFill>
                  <a:srgbClr val="0070C0"/>
                </a:solidFill>
              </a:rPr>
            </a:br>
            <a:r>
              <a:rPr lang="en-US" dirty="0">
                <a:solidFill>
                  <a:srgbClr val="0070C0"/>
                </a:solidFill>
              </a:rPr>
              <a:t>E-government Security Model</a:t>
            </a:r>
            <a:br>
              <a:rPr lang="en-US" dirty="0">
                <a:solidFill>
                  <a:srgbClr val="0070C0"/>
                </a:solidFill>
              </a:rPr>
            </a:br>
            <a:endParaRPr lang="en-US" dirty="0"/>
          </a:p>
        </p:txBody>
      </p:sp>
      <p:sp>
        <p:nvSpPr>
          <p:cNvPr id="3" name="Content Placeholder 2"/>
          <p:cNvSpPr>
            <a:spLocks noGrp="1"/>
          </p:cNvSpPr>
          <p:nvPr>
            <p:ph idx="1"/>
          </p:nvPr>
        </p:nvSpPr>
        <p:spPr>
          <a:xfrm>
            <a:off x="438727" y="533400"/>
            <a:ext cx="8229600" cy="6096000"/>
          </a:xfrm>
        </p:spPr>
        <p:txBody>
          <a:bodyPr>
            <a:noAutofit/>
          </a:bodyPr>
          <a:lstStyle/>
          <a:p>
            <a:pPr algn="just"/>
            <a:r>
              <a:rPr lang="en-US" sz="2000" dirty="0">
                <a:solidFill>
                  <a:srgbClr val="FF0000"/>
                </a:solidFill>
              </a:rPr>
              <a:t>Task T3 </a:t>
            </a:r>
            <a:r>
              <a:rPr lang="en-US" sz="2000" dirty="0"/>
              <a:t>: An inclusion of legal frames necessary for ICT security by the formulation of a legal framework for e-commerce, e- government, electronic document exchanges, and telecommunications </a:t>
            </a:r>
            <a:r>
              <a:rPr lang="en-US" sz="2000" dirty="0" smtClean="0"/>
              <a:t>regulations</a:t>
            </a:r>
          </a:p>
          <a:p>
            <a:pPr algn="just"/>
            <a:r>
              <a:rPr lang="en-US" sz="2000" dirty="0">
                <a:solidFill>
                  <a:srgbClr val="FF0000"/>
                </a:solidFill>
              </a:rPr>
              <a:t>Task T4 </a:t>
            </a:r>
            <a:r>
              <a:rPr lang="en-US" sz="2000" dirty="0"/>
              <a:t>: An evaluation of confidence of the user in using the network to enforce the ICT </a:t>
            </a:r>
            <a:r>
              <a:rPr lang="en-US" sz="2000" dirty="0" smtClean="0"/>
              <a:t>security</a:t>
            </a:r>
          </a:p>
          <a:p>
            <a:pPr algn="just"/>
            <a:r>
              <a:rPr lang="en-US" sz="2000" dirty="0">
                <a:solidFill>
                  <a:srgbClr val="FF0000"/>
                </a:solidFill>
              </a:rPr>
              <a:t>Task T5 </a:t>
            </a:r>
            <a:r>
              <a:rPr lang="en-US" sz="2000" dirty="0"/>
              <a:t>: A definition of security objectives and strategies for e- government, that is made possible once the pilot IT security projects are </a:t>
            </a:r>
            <a:r>
              <a:rPr lang="en-US" sz="2000" dirty="0" smtClean="0"/>
              <a:t>started</a:t>
            </a:r>
          </a:p>
          <a:p>
            <a:pPr algn="just"/>
            <a:r>
              <a:rPr lang="en-US" sz="2000" dirty="0">
                <a:solidFill>
                  <a:srgbClr val="FF0000"/>
                </a:solidFill>
              </a:rPr>
              <a:t>Task T6 </a:t>
            </a:r>
            <a:r>
              <a:rPr lang="en-US" sz="2000" dirty="0"/>
              <a:t>: In the construction of an advanced technology secure network, the government needs </a:t>
            </a:r>
            <a:r>
              <a:rPr lang="en-US" sz="2000" dirty="0" smtClean="0"/>
              <a:t> </a:t>
            </a:r>
            <a:r>
              <a:rPr lang="en-US" sz="2000" dirty="0"/>
              <a:t>to define security policies in the transmission </a:t>
            </a:r>
            <a:r>
              <a:rPr lang="en-US" sz="2000" dirty="0" smtClean="0"/>
              <a:t>network</a:t>
            </a:r>
          </a:p>
          <a:p>
            <a:pPr algn="just"/>
            <a:r>
              <a:rPr lang="en-US" sz="2000" dirty="0">
                <a:solidFill>
                  <a:srgbClr val="FF0000"/>
                </a:solidFill>
              </a:rPr>
              <a:t>Task T7 </a:t>
            </a:r>
            <a:r>
              <a:rPr lang="en-US" sz="2000" dirty="0" smtClean="0"/>
              <a:t>: A </a:t>
            </a:r>
            <a:r>
              <a:rPr lang="en-US" sz="2000" dirty="0"/>
              <a:t>promoting of Security Good Habits : the government needs to make plans and incentive </a:t>
            </a:r>
            <a:r>
              <a:rPr lang="en-US" sz="2000" dirty="0" smtClean="0"/>
              <a:t>actions</a:t>
            </a:r>
          </a:p>
          <a:p>
            <a:pPr algn="just"/>
            <a:r>
              <a:rPr lang="en-US" sz="2000" dirty="0">
                <a:solidFill>
                  <a:srgbClr val="FF0000"/>
                </a:solidFill>
              </a:rPr>
              <a:t>Task T8 </a:t>
            </a:r>
            <a:r>
              <a:rPr lang="en-US" sz="2000" dirty="0"/>
              <a:t>: The use of technical solutions to set up a local public key infrastructure (PKI</a:t>
            </a:r>
            <a:r>
              <a:rPr lang="en-US" sz="2000" dirty="0" smtClean="0"/>
              <a:t>)</a:t>
            </a:r>
          </a:p>
          <a:p>
            <a:pPr algn="just"/>
            <a:r>
              <a:rPr lang="en-US" sz="2000" dirty="0">
                <a:solidFill>
                  <a:srgbClr val="FF0000"/>
                </a:solidFill>
              </a:rPr>
              <a:t>Task T9 </a:t>
            </a:r>
            <a:r>
              <a:rPr lang="en-US" sz="2000" dirty="0"/>
              <a:t>: Enhancing security for </a:t>
            </a:r>
            <a:r>
              <a:rPr lang="en-US" sz="2000" dirty="0" smtClean="0"/>
              <a:t>online </a:t>
            </a:r>
            <a:r>
              <a:rPr lang="en-US" sz="2000" dirty="0"/>
              <a:t>services, the government shall encourage </a:t>
            </a:r>
            <a:r>
              <a:rPr lang="en-US" sz="2000" dirty="0" smtClean="0"/>
              <a:t>companies</a:t>
            </a:r>
          </a:p>
          <a:p>
            <a:pPr algn="just"/>
            <a:r>
              <a:rPr lang="en-US" sz="2000" dirty="0">
                <a:solidFill>
                  <a:srgbClr val="FF0000"/>
                </a:solidFill>
              </a:rPr>
              <a:t>Task T10 </a:t>
            </a:r>
            <a:r>
              <a:rPr lang="en-US" sz="2000" dirty="0"/>
              <a:t>: Establishment of IT security Observatory by </a:t>
            </a:r>
            <a:r>
              <a:rPr lang="en-US" sz="2000" dirty="0" smtClean="0"/>
              <a:t>providing </a:t>
            </a:r>
            <a:r>
              <a:rPr lang="en-US" sz="2000" dirty="0"/>
              <a:t>means to collect and analyze information about vulnerabilities and threats</a:t>
            </a:r>
          </a:p>
        </p:txBody>
      </p:sp>
    </p:spTree>
    <p:extLst>
      <p:ext uri="{BB962C8B-B14F-4D97-AF65-F5344CB8AC3E}">
        <p14:creationId xmlns:p14="http://schemas.microsoft.com/office/powerpoint/2010/main" val="237805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rgbClr val="0070C0"/>
                </a:solidFill>
              </a:rPr>
              <a:t>E-government Security Model</a:t>
            </a:r>
            <a:endParaRPr lang="en-US" dirty="0"/>
          </a:p>
        </p:txBody>
      </p:sp>
      <p:pic>
        <p:nvPicPr>
          <p:cNvPr id="4" name="Content Placeholder 3"/>
          <p:cNvPicPr>
            <a:picLocks noGrp="1" noChangeAspect="1"/>
          </p:cNvPicPr>
          <p:nvPr>
            <p:ph idx="1"/>
          </p:nvPr>
        </p:nvPicPr>
        <p:blipFill>
          <a:blip r:embed="rId2"/>
          <a:stretch>
            <a:fillRect/>
          </a:stretch>
        </p:blipFill>
        <p:spPr>
          <a:xfrm>
            <a:off x="1628775" y="1156855"/>
            <a:ext cx="5886450" cy="4842486"/>
          </a:xfrm>
          <a:prstGeom prst="rect">
            <a:avLst/>
          </a:prstGeom>
        </p:spPr>
      </p:pic>
    </p:spTree>
    <p:extLst>
      <p:ext uri="{BB962C8B-B14F-4D97-AF65-F5344CB8AC3E}">
        <p14:creationId xmlns:p14="http://schemas.microsoft.com/office/powerpoint/2010/main" val="54797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chemeClr val="accent1"/>
                </a:solidFill>
              </a:rPr>
              <a:t>E-government </a:t>
            </a:r>
            <a:r>
              <a:rPr lang="en-US" dirty="0" smtClean="0">
                <a:solidFill>
                  <a:schemeClr val="accent1"/>
                </a:solidFill>
              </a:rPr>
              <a:t>Security </a:t>
            </a:r>
            <a:r>
              <a:rPr lang="en-US" dirty="0">
                <a:solidFill>
                  <a:schemeClr val="accent1"/>
                </a:solidFill>
              </a:rPr>
              <a:t>techniques</a:t>
            </a:r>
          </a:p>
        </p:txBody>
      </p:sp>
      <p:sp>
        <p:nvSpPr>
          <p:cNvPr id="3" name="Content Placeholder 2"/>
          <p:cNvSpPr>
            <a:spLocks noGrp="1"/>
          </p:cNvSpPr>
          <p:nvPr>
            <p:ph idx="1"/>
          </p:nvPr>
        </p:nvSpPr>
        <p:spPr>
          <a:xfrm>
            <a:off x="443345" y="1066800"/>
            <a:ext cx="8229600" cy="4525963"/>
          </a:xfrm>
        </p:spPr>
        <p:txBody>
          <a:bodyPr>
            <a:noAutofit/>
          </a:bodyPr>
          <a:lstStyle/>
          <a:p>
            <a:pPr algn="just"/>
            <a:r>
              <a:rPr lang="en-US" sz="2400" dirty="0"/>
              <a:t>To construct an advanced secure network, the </a:t>
            </a:r>
            <a:r>
              <a:rPr lang="en-US" sz="2400" dirty="0">
                <a:solidFill>
                  <a:srgbClr val="FF0000"/>
                </a:solidFill>
              </a:rPr>
              <a:t>government should install solutions to ensure security and confidentiality</a:t>
            </a:r>
            <a:r>
              <a:rPr lang="en-US" sz="2400" dirty="0"/>
              <a:t>. </a:t>
            </a:r>
            <a:endParaRPr lang="en-US" sz="2400" dirty="0" smtClean="0"/>
          </a:p>
          <a:p>
            <a:pPr algn="just"/>
            <a:r>
              <a:rPr lang="en-US" sz="2400" dirty="0" smtClean="0"/>
              <a:t>Security </a:t>
            </a:r>
            <a:r>
              <a:rPr lang="en-US" sz="2400" dirty="0"/>
              <a:t>policies should be defined to </a:t>
            </a:r>
            <a:r>
              <a:rPr lang="en-US" sz="2400" dirty="0">
                <a:solidFill>
                  <a:srgbClr val="FF0000"/>
                </a:solidFill>
              </a:rPr>
              <a:t>allow several security levels</a:t>
            </a:r>
            <a:r>
              <a:rPr lang="en-US" sz="2400" dirty="0"/>
              <a:t> according to the type of assets. </a:t>
            </a:r>
            <a:endParaRPr lang="en-US" sz="2400" dirty="0" smtClean="0"/>
          </a:p>
          <a:p>
            <a:pPr algn="just"/>
            <a:r>
              <a:rPr lang="en-US" sz="2400" dirty="0" smtClean="0"/>
              <a:t>It </a:t>
            </a:r>
            <a:r>
              <a:rPr lang="en-US" sz="2400" dirty="0"/>
              <a:t>is suggested to consider this problem as </a:t>
            </a:r>
            <a:r>
              <a:rPr lang="en-US" sz="2400" dirty="0">
                <a:solidFill>
                  <a:srgbClr val="00B050"/>
                </a:solidFill>
              </a:rPr>
              <a:t>three hierarchical levels</a:t>
            </a:r>
            <a:r>
              <a:rPr lang="en-US" sz="2400" dirty="0"/>
              <a:t>: the national level, the intranet level and the server level. </a:t>
            </a:r>
            <a:endParaRPr lang="en-US" sz="2400" dirty="0" smtClean="0"/>
          </a:p>
          <a:p>
            <a:pPr algn="just"/>
            <a:r>
              <a:rPr lang="en-US" sz="2400" dirty="0" smtClean="0"/>
              <a:t>For </a:t>
            </a:r>
            <a:r>
              <a:rPr lang="en-US" sz="2400" dirty="0"/>
              <a:t>each level, </a:t>
            </a:r>
            <a:r>
              <a:rPr lang="en-US" sz="2400" dirty="0">
                <a:solidFill>
                  <a:srgbClr val="00B050"/>
                </a:solidFill>
              </a:rPr>
              <a:t>the threats, the risk of the threats, and their corresponding security solutions are identified.</a:t>
            </a:r>
            <a:r>
              <a:rPr lang="en-US" sz="2400" dirty="0"/>
              <a:t> </a:t>
            </a:r>
            <a:endParaRPr lang="en-US" sz="2400" dirty="0" smtClean="0"/>
          </a:p>
          <a:p>
            <a:pPr algn="just"/>
            <a:r>
              <a:rPr lang="en-US" sz="2400" dirty="0" smtClean="0"/>
              <a:t>A </a:t>
            </a:r>
            <a:r>
              <a:rPr lang="en-US" sz="2400" dirty="0"/>
              <a:t>Virtual Private Network (VPN) seems to be a good solution to provide privacy and confidentiality. </a:t>
            </a:r>
            <a:endParaRPr lang="en-US" sz="2400" dirty="0" smtClean="0"/>
          </a:p>
          <a:p>
            <a:pPr algn="just"/>
            <a:r>
              <a:rPr lang="en-US" sz="2400" dirty="0" smtClean="0"/>
              <a:t>Governments </a:t>
            </a:r>
            <a:r>
              <a:rPr lang="en-US" sz="2400" dirty="0"/>
              <a:t>has to promote the use of such a solution to secure the </a:t>
            </a:r>
            <a:r>
              <a:rPr lang="en-US" sz="2400" dirty="0" smtClean="0"/>
              <a:t>e-services.</a:t>
            </a:r>
            <a:endParaRPr lang="en-US" sz="2400" dirty="0"/>
          </a:p>
        </p:txBody>
      </p:sp>
    </p:spTree>
    <p:extLst>
      <p:ext uri="{BB962C8B-B14F-4D97-AF65-F5344CB8AC3E}">
        <p14:creationId xmlns:p14="http://schemas.microsoft.com/office/powerpoint/2010/main" val="2065653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739" y="40481"/>
            <a:ext cx="8229600" cy="685800"/>
          </a:xfrm>
        </p:spPr>
        <p:txBody>
          <a:bodyPr>
            <a:normAutofit fontScale="90000"/>
          </a:bodyPr>
          <a:lstStyle/>
          <a:p>
            <a:r>
              <a:rPr lang="en-US" dirty="0">
                <a:solidFill>
                  <a:srgbClr val="0070C0"/>
                </a:solidFill>
              </a:rPr>
              <a:t>Security Architecture</a:t>
            </a:r>
          </a:p>
        </p:txBody>
      </p:sp>
      <p:sp>
        <p:nvSpPr>
          <p:cNvPr id="5" name="Content Placeholder 4"/>
          <p:cNvSpPr>
            <a:spLocks noGrp="1"/>
          </p:cNvSpPr>
          <p:nvPr>
            <p:ph idx="1"/>
          </p:nvPr>
        </p:nvSpPr>
        <p:spPr>
          <a:xfrm>
            <a:off x="452284" y="730899"/>
            <a:ext cx="8229600" cy="3094038"/>
          </a:xfrm>
        </p:spPr>
        <p:txBody>
          <a:bodyPr>
            <a:normAutofit/>
          </a:bodyPr>
          <a:lstStyle/>
          <a:p>
            <a:pPr algn="just"/>
            <a:r>
              <a:rPr lang="en-US" sz="2400" dirty="0"/>
              <a:t>The security architecture of E-governance is a </a:t>
            </a:r>
            <a:r>
              <a:rPr lang="en-US" sz="2400" dirty="0">
                <a:solidFill>
                  <a:srgbClr val="FF0000"/>
                </a:solidFill>
              </a:rPr>
              <a:t>high level document</a:t>
            </a:r>
            <a:r>
              <a:rPr lang="en-US" sz="2400" dirty="0"/>
              <a:t> that set the security goals of e-governance project and describe the procedure that need to be followed by all the e-governance hierarchy such as users, businesses, operators etc. </a:t>
            </a:r>
            <a:endParaRPr lang="en-US" sz="2400" dirty="0" smtClean="0"/>
          </a:p>
          <a:p>
            <a:pPr algn="just"/>
            <a:r>
              <a:rPr lang="en-US" sz="2400" dirty="0" smtClean="0"/>
              <a:t>Appropriate </a:t>
            </a:r>
            <a:r>
              <a:rPr lang="en-US" sz="2400" dirty="0"/>
              <a:t>legal framework is absolutely essential for the systematic and sustained growth of e-governance</a:t>
            </a:r>
            <a:endParaRPr lang="en-US" sz="2400" dirty="0">
              <a:solidFill>
                <a:srgbClr val="FF0000"/>
              </a:solidFill>
            </a:endParaRPr>
          </a:p>
        </p:txBody>
      </p:sp>
      <p:pic>
        <p:nvPicPr>
          <p:cNvPr id="3" name="Picture 2"/>
          <p:cNvPicPr>
            <a:picLocks noChangeAspect="1"/>
          </p:cNvPicPr>
          <p:nvPr/>
        </p:nvPicPr>
        <p:blipFill>
          <a:blip r:embed="rId2"/>
          <a:stretch>
            <a:fillRect/>
          </a:stretch>
        </p:blipFill>
        <p:spPr>
          <a:xfrm>
            <a:off x="1371600" y="3657600"/>
            <a:ext cx="6667500" cy="2952750"/>
          </a:xfrm>
          <a:prstGeom prst="rect">
            <a:avLst/>
          </a:prstGeom>
        </p:spPr>
      </p:pic>
    </p:spTree>
    <p:extLst>
      <p:ext uri="{BB962C8B-B14F-4D97-AF65-F5344CB8AC3E}">
        <p14:creationId xmlns:p14="http://schemas.microsoft.com/office/powerpoint/2010/main" val="40662492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8473"/>
            <a:ext cx="8991600" cy="667327"/>
          </a:xfrm>
        </p:spPr>
        <p:txBody>
          <a:bodyPr>
            <a:normAutofit fontScale="90000"/>
          </a:bodyPr>
          <a:lstStyle/>
          <a:p>
            <a:r>
              <a:rPr lang="en-US" dirty="0">
                <a:solidFill>
                  <a:srgbClr val="0070C0"/>
                </a:solidFill>
              </a:rPr>
              <a:t>Protection of Public Order and Decency</a:t>
            </a:r>
          </a:p>
        </p:txBody>
      </p:sp>
      <p:sp>
        <p:nvSpPr>
          <p:cNvPr id="3" name="Content Placeholder 2"/>
          <p:cNvSpPr>
            <a:spLocks noGrp="1"/>
          </p:cNvSpPr>
          <p:nvPr>
            <p:ph idx="1"/>
          </p:nvPr>
        </p:nvSpPr>
        <p:spPr>
          <a:xfrm>
            <a:off x="457200" y="685800"/>
            <a:ext cx="8382000" cy="5562600"/>
          </a:xfrm>
        </p:spPr>
        <p:txBody>
          <a:bodyPr>
            <a:noAutofit/>
          </a:bodyPr>
          <a:lstStyle/>
          <a:p>
            <a:pPr algn="just"/>
            <a:r>
              <a:rPr lang="en-US" sz="2000" dirty="0" smtClean="0"/>
              <a:t>The </a:t>
            </a:r>
            <a:r>
              <a:rPr lang="en-US" sz="2000" dirty="0"/>
              <a:t>internet is a highly capable of being </a:t>
            </a:r>
            <a:r>
              <a:rPr lang="en-US" sz="2000" dirty="0">
                <a:solidFill>
                  <a:srgbClr val="FF0000"/>
                </a:solidFill>
              </a:rPr>
              <a:t>saturated and versatile medium at the same time. </a:t>
            </a:r>
          </a:p>
          <a:p>
            <a:pPr lvl="1" algn="just">
              <a:buFont typeface="Wingdings" panose="05000000000000000000" pitchFamily="2" charset="2"/>
              <a:buChar char="ü"/>
            </a:pPr>
            <a:r>
              <a:rPr lang="en-US" sz="1600" dirty="0" smtClean="0"/>
              <a:t>Its </a:t>
            </a:r>
            <a:r>
              <a:rPr lang="en-US" sz="1600" dirty="0"/>
              <a:t>reach is very vast and due to its multimedia capability its impact can be immediate and profound. </a:t>
            </a:r>
            <a:endParaRPr lang="en-US" sz="1600" dirty="0" smtClean="0"/>
          </a:p>
          <a:p>
            <a:pPr algn="just"/>
            <a:r>
              <a:rPr lang="en-US" sz="2000" dirty="0" smtClean="0"/>
              <a:t>So </a:t>
            </a:r>
            <a:r>
              <a:rPr lang="en-US" sz="2000" dirty="0"/>
              <a:t>the government has to </a:t>
            </a:r>
            <a:r>
              <a:rPr lang="en-US" sz="2000" dirty="0">
                <a:solidFill>
                  <a:srgbClr val="FF0000"/>
                </a:solidFill>
              </a:rPr>
              <a:t>beware of its potential to create a negative impact on society through promotion of terrorism, pornography, communalism, violence </a:t>
            </a:r>
            <a:r>
              <a:rPr lang="en-US" sz="2000" dirty="0"/>
              <a:t>etc. </a:t>
            </a:r>
            <a:endParaRPr lang="en-US" sz="2000" dirty="0" smtClean="0"/>
          </a:p>
          <a:p>
            <a:pPr algn="just"/>
            <a:r>
              <a:rPr lang="en-US" sz="1800" dirty="0" smtClean="0"/>
              <a:t>Section </a:t>
            </a:r>
            <a:r>
              <a:rPr lang="en-US" sz="1800" dirty="0"/>
              <a:t>67 of the IT Act 2000 of India makes it a punishable offence to “publish or transmit or cause to be published </a:t>
            </a:r>
            <a:r>
              <a:rPr lang="en-US" sz="1800" dirty="0" smtClean="0"/>
              <a:t>in </a:t>
            </a:r>
            <a:r>
              <a:rPr lang="en-US" sz="1800" dirty="0"/>
              <a:t>the electronic form, an material which is lascivious or appeals to the prurient interest or if its effect is such as to tend to deprave and corrupt persons who are likely, having regard to all relevant circumstances, to read, see or hear the matter contained or embodied in </a:t>
            </a:r>
            <a:r>
              <a:rPr lang="en-US" sz="1800" dirty="0" smtClean="0"/>
              <a:t>it”. </a:t>
            </a:r>
          </a:p>
          <a:p>
            <a:pPr algn="just"/>
            <a:r>
              <a:rPr lang="en-US" sz="2000" dirty="0" smtClean="0"/>
              <a:t>The </a:t>
            </a:r>
            <a:r>
              <a:rPr lang="en-US" sz="2000" dirty="0">
                <a:solidFill>
                  <a:srgbClr val="FF0000"/>
                </a:solidFill>
              </a:rPr>
              <a:t>enormity of the Internet pornography </a:t>
            </a:r>
            <a:r>
              <a:rPr lang="en-US" sz="2000" dirty="0"/>
              <a:t>and immense responsibility of governments in intervention can be gauged from the following statistics on the subject, taken from Internet Filter Review 2004, on 24 October 2003</a:t>
            </a:r>
            <a:r>
              <a:rPr lang="en-US" sz="2000" dirty="0" smtClean="0"/>
              <a:t>:</a:t>
            </a:r>
          </a:p>
          <a:p>
            <a:pPr lvl="1" algn="just">
              <a:buFont typeface="Wingdings" panose="05000000000000000000" pitchFamily="2" charset="2"/>
              <a:buChar char="ü"/>
            </a:pPr>
            <a:r>
              <a:rPr lang="en-US" sz="1800" dirty="0"/>
              <a:t>Number of pornographic web sites on the internet: 370 million. </a:t>
            </a:r>
            <a:endParaRPr lang="en-US" sz="1800" dirty="0" smtClean="0"/>
          </a:p>
          <a:p>
            <a:pPr lvl="1" algn="just">
              <a:buFont typeface="Wingdings" panose="05000000000000000000" pitchFamily="2" charset="2"/>
              <a:buChar char="ü"/>
            </a:pPr>
            <a:r>
              <a:rPr lang="en-US" sz="1800" dirty="0" smtClean="0"/>
              <a:t>Number </a:t>
            </a:r>
            <a:r>
              <a:rPr lang="en-US" sz="1800" dirty="0"/>
              <a:t>of child pornographic web sites on the Internet: </a:t>
            </a:r>
            <a:r>
              <a:rPr lang="en-US" sz="1800" dirty="0" smtClean="0"/>
              <a:t>100,000</a:t>
            </a:r>
            <a:r>
              <a:rPr lang="en-US" sz="1800" dirty="0"/>
              <a:t>. </a:t>
            </a:r>
            <a:endParaRPr lang="en-US" sz="1800" dirty="0" smtClean="0"/>
          </a:p>
          <a:p>
            <a:pPr lvl="1" algn="just">
              <a:buFont typeface="Wingdings" panose="05000000000000000000" pitchFamily="2" charset="2"/>
              <a:buChar char="ü"/>
            </a:pPr>
            <a:r>
              <a:rPr lang="en-US" sz="1800" dirty="0" smtClean="0"/>
              <a:t>Size </a:t>
            </a:r>
            <a:r>
              <a:rPr lang="en-US" sz="1800" dirty="0"/>
              <a:t>of pornographic industry world-wide: US$ 57 </a:t>
            </a:r>
            <a:r>
              <a:rPr lang="en-US" sz="1800" dirty="0" smtClean="0"/>
              <a:t>billion.</a:t>
            </a:r>
          </a:p>
          <a:p>
            <a:pPr lvl="1" algn="just">
              <a:buFont typeface="Wingdings" panose="05000000000000000000" pitchFamily="2" charset="2"/>
              <a:buChar char="ü"/>
            </a:pPr>
            <a:r>
              <a:rPr lang="en-US" sz="1800" dirty="0" smtClean="0"/>
              <a:t>Size </a:t>
            </a:r>
            <a:r>
              <a:rPr lang="en-US" sz="1800" dirty="0"/>
              <a:t>of Internet pornographic industry: US$ 2.5 billion.</a:t>
            </a:r>
          </a:p>
        </p:txBody>
      </p:sp>
    </p:spTree>
    <p:extLst>
      <p:ext uri="{BB962C8B-B14F-4D97-AF65-F5344CB8AC3E}">
        <p14:creationId xmlns:p14="http://schemas.microsoft.com/office/powerpoint/2010/main" val="1149578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0070C0"/>
                </a:solidFill>
              </a:rPr>
              <a:t>Protection of Privacy of Individuals</a:t>
            </a:r>
          </a:p>
        </p:txBody>
      </p:sp>
      <p:sp>
        <p:nvSpPr>
          <p:cNvPr id="3" name="Content Placeholder 2"/>
          <p:cNvSpPr>
            <a:spLocks noGrp="1"/>
          </p:cNvSpPr>
          <p:nvPr>
            <p:ph idx="1"/>
          </p:nvPr>
        </p:nvSpPr>
        <p:spPr>
          <a:xfrm>
            <a:off x="475673" y="1066800"/>
            <a:ext cx="8229600" cy="5410200"/>
          </a:xfrm>
        </p:spPr>
        <p:txBody>
          <a:bodyPr>
            <a:normAutofit/>
          </a:bodyPr>
          <a:lstStyle/>
          <a:p>
            <a:pPr algn="just"/>
            <a:r>
              <a:rPr lang="en-US" sz="2400" dirty="0" smtClean="0">
                <a:solidFill>
                  <a:srgbClr val="FF0000"/>
                </a:solidFill>
              </a:rPr>
              <a:t>Disclosure </a:t>
            </a:r>
            <a:r>
              <a:rPr lang="en-US" sz="2400" dirty="0">
                <a:solidFill>
                  <a:srgbClr val="FF0000"/>
                </a:solidFill>
              </a:rPr>
              <a:t>of personal information</a:t>
            </a:r>
            <a:r>
              <a:rPr lang="en-US" sz="2400" dirty="0"/>
              <a:t> over the internet raises questions related to the privacy of individuals. </a:t>
            </a:r>
            <a:endParaRPr lang="en-US" sz="2400" dirty="0" smtClean="0"/>
          </a:p>
          <a:p>
            <a:pPr algn="just"/>
            <a:r>
              <a:rPr lang="en-US" sz="2400" dirty="0" smtClean="0"/>
              <a:t>The </a:t>
            </a:r>
            <a:r>
              <a:rPr lang="en-US" sz="2400" dirty="0"/>
              <a:t>United States passes an Act which is “</a:t>
            </a:r>
            <a:r>
              <a:rPr lang="en-US" sz="2400" dirty="0">
                <a:solidFill>
                  <a:srgbClr val="FF0000"/>
                </a:solidFill>
              </a:rPr>
              <a:t>The Privacy Act of 1974</a:t>
            </a:r>
            <a:r>
              <a:rPr lang="en-US" sz="2400" dirty="0"/>
              <a:t>”. </a:t>
            </a:r>
            <a:endParaRPr lang="en-US" sz="2400" dirty="0" smtClean="0"/>
          </a:p>
          <a:p>
            <a:pPr algn="just"/>
            <a:r>
              <a:rPr lang="en-US" sz="2400" dirty="0" smtClean="0"/>
              <a:t>According </a:t>
            </a:r>
            <a:r>
              <a:rPr lang="en-US" sz="2400" dirty="0"/>
              <a:t>to this Act </a:t>
            </a:r>
            <a:r>
              <a:rPr lang="en-US" sz="2400" dirty="0">
                <a:solidFill>
                  <a:srgbClr val="00B050"/>
                </a:solidFill>
              </a:rPr>
              <a:t>any organization should followed some steps when it gathered any personal information </a:t>
            </a:r>
            <a:r>
              <a:rPr lang="en-US" sz="2400" dirty="0"/>
              <a:t>of any individual- Notice, Choice, Onward Transfer and Security</a:t>
            </a:r>
          </a:p>
        </p:txBody>
      </p:sp>
    </p:spTree>
    <p:extLst>
      <p:ext uri="{BB962C8B-B14F-4D97-AF65-F5344CB8AC3E}">
        <p14:creationId xmlns:p14="http://schemas.microsoft.com/office/powerpoint/2010/main" val="9143349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600" dirty="0">
                <a:solidFill>
                  <a:srgbClr val="0070C0"/>
                </a:solidFill>
              </a:rPr>
              <a:t>Providing Legal Status to Digital Identities and Transactions</a:t>
            </a:r>
          </a:p>
        </p:txBody>
      </p:sp>
      <p:sp>
        <p:nvSpPr>
          <p:cNvPr id="3" name="Content Placeholder 2"/>
          <p:cNvSpPr>
            <a:spLocks noGrp="1"/>
          </p:cNvSpPr>
          <p:nvPr>
            <p:ph idx="1"/>
          </p:nvPr>
        </p:nvSpPr>
        <p:spPr>
          <a:xfrm>
            <a:off x="457200" y="1295400"/>
            <a:ext cx="8229600" cy="5181600"/>
          </a:xfrm>
        </p:spPr>
        <p:txBody>
          <a:bodyPr>
            <a:normAutofit fontScale="77500" lnSpcReduction="20000"/>
          </a:bodyPr>
          <a:lstStyle/>
          <a:p>
            <a:pPr algn="just"/>
            <a:r>
              <a:rPr lang="en-US" sz="3100" dirty="0"/>
              <a:t>One of the </a:t>
            </a:r>
            <a:r>
              <a:rPr lang="en-US" sz="3100" dirty="0">
                <a:solidFill>
                  <a:srgbClr val="00B050"/>
                </a:solidFill>
              </a:rPr>
              <a:t>fundamental requirements </a:t>
            </a:r>
            <a:r>
              <a:rPr lang="en-US" sz="3100" dirty="0"/>
              <a:t>of e-governance projects is </a:t>
            </a:r>
            <a:r>
              <a:rPr lang="en-US" sz="3100" dirty="0">
                <a:solidFill>
                  <a:srgbClr val="FF0000"/>
                </a:solidFill>
              </a:rPr>
              <a:t>its ability to create and sustain the operations of government agencies</a:t>
            </a:r>
            <a:r>
              <a:rPr lang="en-US" sz="3100" dirty="0"/>
              <a:t> as well as private agencies. </a:t>
            </a:r>
            <a:endParaRPr lang="en-US" sz="3100" dirty="0" smtClean="0"/>
          </a:p>
          <a:p>
            <a:pPr algn="just"/>
            <a:r>
              <a:rPr lang="en-US" sz="3100" dirty="0" smtClean="0"/>
              <a:t>So </a:t>
            </a:r>
            <a:r>
              <a:rPr lang="en-US" sz="3100" dirty="0"/>
              <a:t>it’s very necessary to </a:t>
            </a:r>
            <a:r>
              <a:rPr lang="en-US" sz="3100" dirty="0">
                <a:solidFill>
                  <a:srgbClr val="00B050"/>
                </a:solidFill>
              </a:rPr>
              <a:t>consult legal status of entities and actions</a:t>
            </a:r>
            <a:r>
              <a:rPr lang="en-US" sz="3100" dirty="0"/>
              <a:t> such </a:t>
            </a:r>
            <a:r>
              <a:rPr lang="en-US" sz="3100" dirty="0" smtClean="0"/>
              <a:t>as </a:t>
            </a:r>
            <a:r>
              <a:rPr lang="en-US" sz="3100" dirty="0"/>
              <a:t>‘</a:t>
            </a:r>
            <a:r>
              <a:rPr lang="en-US" sz="3100" dirty="0">
                <a:solidFill>
                  <a:srgbClr val="FF0000"/>
                </a:solidFill>
              </a:rPr>
              <a:t>legal status </a:t>
            </a:r>
            <a:r>
              <a:rPr lang="en-US" sz="3100" dirty="0"/>
              <a:t>is to be provided to the digital identities’, ‘provide the </a:t>
            </a:r>
            <a:r>
              <a:rPr lang="en-US" sz="3100" dirty="0">
                <a:solidFill>
                  <a:srgbClr val="FF0000"/>
                </a:solidFill>
              </a:rPr>
              <a:t>legal recognition </a:t>
            </a:r>
            <a:r>
              <a:rPr lang="en-US" sz="3100" dirty="0"/>
              <a:t>to digital assets’, ‘ provide a </a:t>
            </a:r>
            <a:r>
              <a:rPr lang="en-US" sz="3100" dirty="0">
                <a:solidFill>
                  <a:srgbClr val="FF0000"/>
                </a:solidFill>
              </a:rPr>
              <a:t>digital authority to digital transactions</a:t>
            </a:r>
            <a:r>
              <a:rPr lang="en-US" sz="3100" dirty="0"/>
              <a:t>, these transactions could be in the areas of G2G, G2B,G2C </a:t>
            </a:r>
            <a:r>
              <a:rPr lang="en-US" sz="3100" dirty="0" err="1"/>
              <a:t>etc</a:t>
            </a:r>
            <a:r>
              <a:rPr lang="en-US" sz="3100" dirty="0"/>
              <a:t>’. ‘</a:t>
            </a:r>
            <a:r>
              <a:rPr lang="en-US" sz="3100" dirty="0">
                <a:solidFill>
                  <a:srgbClr val="00B050"/>
                </a:solidFill>
              </a:rPr>
              <a:t>Agreements and contracts in digital form</a:t>
            </a:r>
            <a:r>
              <a:rPr lang="en-US" sz="3100" dirty="0"/>
              <a:t>’. </a:t>
            </a:r>
            <a:endParaRPr lang="en-US" sz="3100" dirty="0" smtClean="0"/>
          </a:p>
          <a:p>
            <a:pPr algn="just"/>
            <a:r>
              <a:rPr lang="en-US" sz="3100" dirty="0" smtClean="0"/>
              <a:t>To </a:t>
            </a:r>
            <a:r>
              <a:rPr lang="en-US" sz="3100" dirty="0"/>
              <a:t>providing the authority to any legal digital transaction or deal the Indian government gave ‘</a:t>
            </a:r>
            <a:r>
              <a:rPr lang="en-US" sz="3100" dirty="0">
                <a:solidFill>
                  <a:srgbClr val="FF0000"/>
                </a:solidFill>
              </a:rPr>
              <a:t>Information Technology Act 2000</a:t>
            </a:r>
            <a:r>
              <a:rPr lang="en-US" sz="3100" dirty="0"/>
              <a:t>’ in October 2000. </a:t>
            </a:r>
            <a:endParaRPr lang="en-US" sz="3100" dirty="0" smtClean="0"/>
          </a:p>
          <a:p>
            <a:pPr algn="just"/>
            <a:r>
              <a:rPr lang="en-US" sz="3100" dirty="0"/>
              <a:t>It </a:t>
            </a:r>
            <a:r>
              <a:rPr lang="en-US" sz="3100" dirty="0" smtClean="0"/>
              <a:t>specifically </a:t>
            </a:r>
            <a:r>
              <a:rPr lang="en-US" sz="3100" dirty="0"/>
              <a:t>takes care of all the issues mentioned above. </a:t>
            </a:r>
            <a:endParaRPr lang="en-US" sz="3100" dirty="0" smtClean="0"/>
          </a:p>
          <a:p>
            <a:pPr algn="just"/>
            <a:r>
              <a:rPr lang="en-US" sz="3100" dirty="0" smtClean="0"/>
              <a:t>India </a:t>
            </a:r>
            <a:r>
              <a:rPr lang="en-US" sz="3100" dirty="0"/>
              <a:t>followed some provisions of ‘</a:t>
            </a:r>
            <a:r>
              <a:rPr lang="en-US" sz="3100" dirty="0">
                <a:solidFill>
                  <a:srgbClr val="FF0000"/>
                </a:solidFill>
              </a:rPr>
              <a:t>Electronic transaction Act 1998</a:t>
            </a:r>
            <a:r>
              <a:rPr lang="en-US" sz="3100" dirty="0"/>
              <a:t> (Singapore)’ closely while drafting the IT Act 2000</a:t>
            </a:r>
            <a:r>
              <a:rPr lang="en-US" dirty="0"/>
              <a:t>.</a:t>
            </a:r>
          </a:p>
        </p:txBody>
      </p:sp>
    </p:spTree>
    <p:extLst>
      <p:ext uri="{BB962C8B-B14F-4D97-AF65-F5344CB8AC3E}">
        <p14:creationId xmlns:p14="http://schemas.microsoft.com/office/powerpoint/2010/main" val="14268527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a:solidFill>
                  <a:srgbClr val="0070C0"/>
                </a:solidFill>
              </a:rPr>
              <a:t>Security Standards</a:t>
            </a:r>
          </a:p>
        </p:txBody>
      </p:sp>
      <p:sp>
        <p:nvSpPr>
          <p:cNvPr id="3" name="Content Placeholder 2"/>
          <p:cNvSpPr>
            <a:spLocks noGrp="1"/>
          </p:cNvSpPr>
          <p:nvPr>
            <p:ph idx="1"/>
          </p:nvPr>
        </p:nvSpPr>
        <p:spPr>
          <a:xfrm>
            <a:off x="457200" y="1066800"/>
            <a:ext cx="8229600" cy="5105400"/>
          </a:xfrm>
        </p:spPr>
        <p:txBody>
          <a:bodyPr>
            <a:normAutofit/>
          </a:bodyPr>
          <a:lstStyle/>
          <a:p>
            <a:pPr algn="just"/>
            <a:r>
              <a:rPr lang="en-US" sz="2400" dirty="0"/>
              <a:t>The standard for information security was set by the BS 7799, being its popularity it was adopted by ISO as ISO 17799 and its sequel BS 7799-2 that prescribes the specification for Information Security Management</a:t>
            </a:r>
            <a:r>
              <a:rPr lang="en-US" sz="2400" dirty="0" smtClean="0"/>
              <a:t>.</a:t>
            </a:r>
          </a:p>
          <a:p>
            <a:pPr algn="just"/>
            <a:r>
              <a:rPr lang="en-US" sz="2400" dirty="0" smtClean="0"/>
              <a:t>“</a:t>
            </a:r>
            <a:r>
              <a:rPr lang="en-US" sz="2400" dirty="0"/>
              <a:t>The ISO 27001 standard was published in October 2005, essentially replacing the old BS 7799-2 standard. </a:t>
            </a:r>
            <a:endParaRPr lang="en-US" sz="2400" dirty="0" smtClean="0"/>
          </a:p>
          <a:p>
            <a:pPr lvl="1" algn="just">
              <a:buFont typeface="Wingdings" panose="05000000000000000000" pitchFamily="2" charset="2"/>
              <a:buChar char="ü"/>
            </a:pPr>
            <a:r>
              <a:rPr lang="en-US" sz="2400" dirty="0" smtClean="0"/>
              <a:t>It </a:t>
            </a:r>
            <a:r>
              <a:rPr lang="en-US" sz="2400" dirty="0"/>
              <a:t>is the specification for an Information Security Management </a:t>
            </a:r>
            <a:r>
              <a:rPr lang="en-US" sz="2400" dirty="0" smtClean="0"/>
              <a:t>System”. </a:t>
            </a:r>
          </a:p>
          <a:p>
            <a:pPr algn="just"/>
            <a:r>
              <a:rPr lang="en-US" sz="2400" dirty="0" smtClean="0"/>
              <a:t>“</a:t>
            </a:r>
            <a:r>
              <a:rPr lang="en-US" sz="2400" dirty="0"/>
              <a:t>ISO 17799 defines 127 security controls structured under 10 major headings to enable the information security manager to identify the particular safeguards that are appropriate to there specific area of responsibility</a:t>
            </a:r>
          </a:p>
        </p:txBody>
      </p:sp>
    </p:spTree>
    <p:extLst>
      <p:ext uri="{BB962C8B-B14F-4D97-AF65-F5344CB8AC3E}">
        <p14:creationId xmlns:p14="http://schemas.microsoft.com/office/powerpoint/2010/main" val="29149517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4356</TotalTime>
  <Words>2412</Words>
  <Application>Microsoft Office PowerPoint</Application>
  <PresentationFormat>On-screen Show (4:3)</PresentationFormat>
  <Paragraphs>152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Unit 4 Security for E-Government   </vt:lpstr>
      <vt:lpstr>Introduction</vt:lpstr>
      <vt:lpstr>Introduction</vt:lpstr>
      <vt:lpstr>Security of E-governance</vt:lpstr>
      <vt:lpstr>Security of E-governance</vt:lpstr>
      <vt:lpstr>Security of E-governance</vt:lpstr>
      <vt:lpstr> Domains of Security </vt:lpstr>
      <vt:lpstr>E-government security challenges</vt:lpstr>
      <vt:lpstr>Security Management</vt:lpstr>
      <vt:lpstr>Security Management</vt:lpstr>
      <vt:lpstr>Security Management</vt:lpstr>
      <vt:lpstr>Security Management</vt:lpstr>
      <vt:lpstr>Security Management</vt:lpstr>
      <vt:lpstr>Security Management</vt:lpstr>
      <vt:lpstr>Security Management</vt:lpstr>
      <vt:lpstr>Security Model</vt:lpstr>
      <vt:lpstr> E-government Security Model </vt:lpstr>
      <vt:lpstr> E-government Security Model </vt:lpstr>
      <vt:lpstr>E-government Security Model</vt:lpstr>
      <vt:lpstr>E-government Security techniques</vt:lpstr>
      <vt:lpstr>Security Architecture</vt:lpstr>
      <vt:lpstr>Protection of Public Order and Decency</vt:lpstr>
      <vt:lpstr>Protection of Privacy of Individuals</vt:lpstr>
      <vt:lpstr>Providing Legal Status to Digital Identities and Transactions</vt:lpstr>
      <vt:lpstr>Security Standards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 Governance Models </dc:title>
  <dc:creator>SACHIT</dc:creator>
  <cp:lastModifiedBy>Dadhi Ghimire</cp:lastModifiedBy>
  <cp:revision>386</cp:revision>
  <dcterms:created xsi:type="dcterms:W3CDTF">2006-08-16T00:00:00Z</dcterms:created>
  <dcterms:modified xsi:type="dcterms:W3CDTF">2022-06-15T04:13:24Z</dcterms:modified>
</cp:coreProperties>
</file>