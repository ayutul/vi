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5" r:id="rId20"/>
    <p:sldId id="276" r:id="rId21"/>
    <p:sldId id="284" r:id="rId22"/>
    <p:sldId id="285" r:id="rId23"/>
    <p:sldId id="277" r:id="rId24"/>
    <p:sldId id="278" r:id="rId25"/>
    <p:sldId id="279" r:id="rId26"/>
    <p:sldId id="280" r:id="rId27"/>
    <p:sldId id="281" r:id="rId28"/>
    <p:sldId id="282" r:id="rId29"/>
    <p:sldId id="283" r:id="rId30"/>
    <p:sldId id="286" r:id="rId31"/>
    <p:sldId id="287" r:id="rId32"/>
    <p:sldId id="288" r:id="rId33"/>
    <p:sldId id="289" r:id="rId34"/>
    <p:sldId id="290" r:id="rId35"/>
    <p:sldId id="291" r:id="rId36"/>
    <p:sldId id="292" r:id="rId37"/>
    <p:sldId id="293" r:id="rId38"/>
    <p:sldId id="295" r:id="rId39"/>
    <p:sldId id="296" r:id="rId40"/>
    <p:sldId id="297" r:id="rId41"/>
    <p:sldId id="298" r:id="rId42"/>
    <p:sldId id="299" r:id="rId43"/>
    <p:sldId id="300" r:id="rId44"/>
    <p:sldId id="301" r:id="rId45"/>
    <p:sldId id="302" r:id="rId46"/>
    <p:sldId id="303" r:id="rId47"/>
    <p:sldId id="304"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667" autoAdjust="0"/>
    <p:restoredTop sz="94660"/>
  </p:normalViewPr>
  <p:slideViewPr>
    <p:cSldViewPr snapToGrid="0">
      <p:cViewPr varScale="1">
        <p:scale>
          <a:sx n="95" d="100"/>
          <a:sy n="95" d="100"/>
        </p:scale>
        <p:origin x="100" y="4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02FD00B-AF30-4202-B33B-F8EE053479E0}" type="datetimeFigureOut">
              <a:rPr lang="en-US" smtClean="0"/>
              <a:t>8/24/2026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831F1A-F0D8-4D31-B660-4679867EDB86}" type="slidenum">
              <a:rPr lang="en-US" smtClean="0"/>
              <a:t>‹#›</a:t>
            </a:fld>
            <a:endParaRPr lang="en-US" dirty="0"/>
          </a:p>
        </p:txBody>
      </p:sp>
    </p:spTree>
    <p:extLst>
      <p:ext uri="{BB962C8B-B14F-4D97-AF65-F5344CB8AC3E}">
        <p14:creationId xmlns:p14="http://schemas.microsoft.com/office/powerpoint/2010/main" val="3874883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2FD00B-AF30-4202-B33B-F8EE053479E0}" type="datetimeFigureOut">
              <a:rPr lang="en-US" smtClean="0"/>
              <a:t>8/24/2026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831F1A-F0D8-4D31-B660-4679867EDB86}" type="slidenum">
              <a:rPr lang="en-US" smtClean="0"/>
              <a:t>‹#›</a:t>
            </a:fld>
            <a:endParaRPr lang="en-US" dirty="0"/>
          </a:p>
        </p:txBody>
      </p:sp>
    </p:spTree>
    <p:extLst>
      <p:ext uri="{BB962C8B-B14F-4D97-AF65-F5344CB8AC3E}">
        <p14:creationId xmlns:p14="http://schemas.microsoft.com/office/powerpoint/2010/main" val="2800921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02FD00B-AF30-4202-B33B-F8EE053479E0}" type="datetimeFigureOut">
              <a:rPr lang="en-US" smtClean="0"/>
              <a:t>8/24/2026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831F1A-F0D8-4D31-B660-4679867EDB86}" type="slidenum">
              <a:rPr lang="en-US" smtClean="0"/>
              <a:t>‹#›</a:t>
            </a:fld>
            <a:endParaRPr lang="en-US" dirty="0"/>
          </a:p>
        </p:txBody>
      </p:sp>
    </p:spTree>
    <p:extLst>
      <p:ext uri="{BB962C8B-B14F-4D97-AF65-F5344CB8AC3E}">
        <p14:creationId xmlns:p14="http://schemas.microsoft.com/office/powerpoint/2010/main" val="472906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02FD00B-AF30-4202-B33B-F8EE053479E0}" type="datetimeFigureOut">
              <a:rPr lang="en-US" smtClean="0"/>
              <a:t>8/24/2026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831F1A-F0D8-4D31-B660-4679867EDB86}" type="slidenum">
              <a:rPr lang="en-US" smtClean="0"/>
              <a:t>‹#›</a:t>
            </a:fld>
            <a:endParaRPr lang="en-US" dirty="0"/>
          </a:p>
        </p:txBody>
      </p:sp>
    </p:spTree>
    <p:extLst>
      <p:ext uri="{BB962C8B-B14F-4D97-AF65-F5344CB8AC3E}">
        <p14:creationId xmlns:p14="http://schemas.microsoft.com/office/powerpoint/2010/main" val="3773013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02FD00B-AF30-4202-B33B-F8EE053479E0}" type="datetimeFigureOut">
              <a:rPr lang="en-US" smtClean="0"/>
              <a:t>8/24/2026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C831F1A-F0D8-4D31-B660-4679867EDB86}" type="slidenum">
              <a:rPr lang="en-US" smtClean="0"/>
              <a:t>‹#›</a:t>
            </a:fld>
            <a:endParaRPr lang="en-US" dirty="0"/>
          </a:p>
        </p:txBody>
      </p:sp>
    </p:spTree>
    <p:extLst>
      <p:ext uri="{BB962C8B-B14F-4D97-AF65-F5344CB8AC3E}">
        <p14:creationId xmlns:p14="http://schemas.microsoft.com/office/powerpoint/2010/main" val="2097824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02FD00B-AF30-4202-B33B-F8EE053479E0}" type="datetimeFigureOut">
              <a:rPr lang="en-US" smtClean="0"/>
              <a:t>8/24/2026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C831F1A-F0D8-4D31-B660-4679867EDB86}" type="slidenum">
              <a:rPr lang="en-US" smtClean="0"/>
              <a:t>‹#›</a:t>
            </a:fld>
            <a:endParaRPr lang="en-US" dirty="0"/>
          </a:p>
        </p:txBody>
      </p:sp>
    </p:spTree>
    <p:extLst>
      <p:ext uri="{BB962C8B-B14F-4D97-AF65-F5344CB8AC3E}">
        <p14:creationId xmlns:p14="http://schemas.microsoft.com/office/powerpoint/2010/main" val="344989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2FD00B-AF30-4202-B33B-F8EE053479E0}" type="datetimeFigureOut">
              <a:rPr lang="en-US" smtClean="0"/>
              <a:t>8/24/2026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C831F1A-F0D8-4D31-B660-4679867EDB86}" type="slidenum">
              <a:rPr lang="en-US" smtClean="0"/>
              <a:t>‹#›</a:t>
            </a:fld>
            <a:endParaRPr lang="en-US" dirty="0"/>
          </a:p>
        </p:txBody>
      </p:sp>
    </p:spTree>
    <p:extLst>
      <p:ext uri="{BB962C8B-B14F-4D97-AF65-F5344CB8AC3E}">
        <p14:creationId xmlns:p14="http://schemas.microsoft.com/office/powerpoint/2010/main" val="43732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02FD00B-AF30-4202-B33B-F8EE053479E0}" type="datetimeFigureOut">
              <a:rPr lang="en-US" smtClean="0"/>
              <a:t>8/24/2026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831F1A-F0D8-4D31-B660-4679867EDB86}" type="slidenum">
              <a:rPr lang="en-US" smtClean="0"/>
              <a:t>‹#›</a:t>
            </a:fld>
            <a:endParaRPr lang="en-US" dirty="0"/>
          </a:p>
        </p:txBody>
      </p:sp>
    </p:spTree>
    <p:extLst>
      <p:ext uri="{BB962C8B-B14F-4D97-AF65-F5344CB8AC3E}">
        <p14:creationId xmlns:p14="http://schemas.microsoft.com/office/powerpoint/2010/main" val="1324780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02FD00B-AF30-4202-B33B-F8EE053479E0}" type="datetimeFigureOut">
              <a:rPr lang="en-US" smtClean="0"/>
              <a:t>8/24/2026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831F1A-F0D8-4D31-B660-4679867EDB86}" type="slidenum">
              <a:rPr lang="en-US" smtClean="0"/>
              <a:t>‹#›</a:t>
            </a:fld>
            <a:endParaRPr lang="en-US" dirty="0"/>
          </a:p>
        </p:txBody>
      </p:sp>
    </p:spTree>
    <p:extLst>
      <p:ext uri="{BB962C8B-B14F-4D97-AF65-F5344CB8AC3E}">
        <p14:creationId xmlns:p14="http://schemas.microsoft.com/office/powerpoint/2010/main" val="3893805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2FD00B-AF30-4202-B33B-F8EE053479E0}" type="datetimeFigureOut">
              <a:rPr lang="en-US" smtClean="0"/>
              <a:t>8/24/2026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831F1A-F0D8-4D31-B660-4679867EDB86}" type="slidenum">
              <a:rPr lang="en-US" smtClean="0"/>
              <a:t>‹#›</a:t>
            </a:fld>
            <a:endParaRPr lang="en-US" dirty="0"/>
          </a:p>
        </p:txBody>
      </p:sp>
    </p:spTree>
    <p:extLst>
      <p:ext uri="{BB962C8B-B14F-4D97-AF65-F5344CB8AC3E}">
        <p14:creationId xmlns:p14="http://schemas.microsoft.com/office/powerpoint/2010/main" val="3394945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2FD00B-AF30-4202-B33B-F8EE053479E0}" type="datetimeFigureOut">
              <a:rPr lang="en-US" smtClean="0"/>
              <a:t>8/24/2026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831F1A-F0D8-4D31-B660-4679867EDB86}" type="slidenum">
              <a:rPr lang="en-US" smtClean="0"/>
              <a:t>‹#›</a:t>
            </a:fld>
            <a:endParaRPr lang="en-US" dirty="0"/>
          </a:p>
        </p:txBody>
      </p:sp>
    </p:spTree>
    <p:extLst>
      <p:ext uri="{BB962C8B-B14F-4D97-AF65-F5344CB8AC3E}">
        <p14:creationId xmlns:p14="http://schemas.microsoft.com/office/powerpoint/2010/main" val="3830794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2FD00B-AF30-4202-B33B-F8EE053479E0}" type="datetimeFigureOut">
              <a:rPr lang="en-US" smtClean="0"/>
              <a:t>8/24/2026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31F1A-F0D8-4D31-B660-4679867EDB86}" type="slidenum">
              <a:rPr lang="en-US" smtClean="0"/>
              <a:t>‹#›</a:t>
            </a:fld>
            <a:endParaRPr lang="en-US" dirty="0"/>
          </a:p>
        </p:txBody>
      </p:sp>
    </p:spTree>
    <p:extLst>
      <p:ext uri="{BB962C8B-B14F-4D97-AF65-F5344CB8AC3E}">
        <p14:creationId xmlns:p14="http://schemas.microsoft.com/office/powerpoint/2010/main" val="25475983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solidFill>
                  <a:srgbClr val="0070C0"/>
                </a:solidFill>
              </a:rPr>
              <a:t>Security for E</a:t>
            </a:r>
            <a:r>
              <a:rPr lang="ru-RU" dirty="0" smtClean="0">
                <a:solidFill>
                  <a:srgbClr val="0070C0"/>
                </a:solidFill>
              </a:rPr>
              <a:t>-</a:t>
            </a:r>
            <a:r>
              <a:rPr lang="ru-RU" dirty="0" err="1" smtClean="0">
                <a:solidFill>
                  <a:srgbClr val="0070C0"/>
                </a:solidFill>
              </a:rPr>
              <a:t>Gov</a:t>
            </a:r>
            <a:r>
              <a:rPr lang="en-US" dirty="0" err="1" smtClean="0">
                <a:solidFill>
                  <a:srgbClr val="0070C0"/>
                </a:solidFill>
              </a:rPr>
              <a:t>ernment</a:t>
            </a:r>
            <a:r>
              <a:rPr lang="ru-RU" dirty="0" smtClean="0">
                <a:solidFill>
                  <a:srgbClr val="0070C0"/>
                </a:solidFill>
              </a:rPr>
              <a:t> </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600098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31162"/>
          </a:xfrm>
        </p:spPr>
        <p:txBody>
          <a:bodyPr>
            <a:normAutofit fontScale="90000"/>
          </a:bodyPr>
          <a:lstStyle/>
          <a:p>
            <a:r>
              <a:rPr lang="en-US" dirty="0" smtClean="0"/>
              <a:t>Introduction</a:t>
            </a:r>
            <a:endParaRPr lang="en-US" dirty="0"/>
          </a:p>
        </p:txBody>
      </p:sp>
      <p:sp>
        <p:nvSpPr>
          <p:cNvPr id="3" name="Content Placeholder 2"/>
          <p:cNvSpPr>
            <a:spLocks noGrp="1"/>
          </p:cNvSpPr>
          <p:nvPr>
            <p:ph idx="1"/>
          </p:nvPr>
        </p:nvSpPr>
        <p:spPr>
          <a:xfrm>
            <a:off x="838200" y="914400"/>
            <a:ext cx="10515600" cy="5262563"/>
          </a:xfrm>
        </p:spPr>
        <p:txBody>
          <a:bodyPr>
            <a:normAutofit fontScale="92500" lnSpcReduction="20000"/>
          </a:bodyPr>
          <a:lstStyle/>
          <a:p>
            <a:pPr algn="just"/>
            <a:r>
              <a:rPr lang="en-US" dirty="0"/>
              <a:t>In fact, the </a:t>
            </a:r>
            <a:r>
              <a:rPr lang="en-US" dirty="0">
                <a:solidFill>
                  <a:srgbClr val="FF0000"/>
                </a:solidFill>
              </a:rPr>
              <a:t>security is one of the most significant challenge</a:t>
            </a:r>
            <a:r>
              <a:rPr lang="en-US" dirty="0"/>
              <a:t>s for implementing e-government initiatives. </a:t>
            </a:r>
          </a:p>
          <a:p>
            <a:pPr algn="just"/>
            <a:r>
              <a:rPr lang="en-US" dirty="0"/>
              <a:t>Many studies have found that security is one of the most important obstacles.</a:t>
            </a:r>
          </a:p>
          <a:p>
            <a:pPr algn="just"/>
            <a:r>
              <a:rPr lang="en-US" dirty="0">
                <a:solidFill>
                  <a:srgbClr val="00B050"/>
                </a:solidFill>
              </a:rPr>
              <a:t>Security means protection of all information and systems against any disclosure to unauthorized access, or unauthorized modifications or devastation</a:t>
            </a:r>
          </a:p>
          <a:p>
            <a:pPr algn="just"/>
            <a:r>
              <a:rPr lang="en-US" dirty="0"/>
              <a:t>Thus, it refers to protection of the information systems, assets and the control of access to the information itself.</a:t>
            </a:r>
          </a:p>
          <a:p>
            <a:pPr algn="just"/>
            <a:r>
              <a:rPr lang="en-US" dirty="0"/>
              <a:t>It is a vital component in the trust relationship between citizens and government. </a:t>
            </a:r>
          </a:p>
          <a:p>
            <a:pPr algn="just"/>
            <a:r>
              <a:rPr lang="en-US" dirty="0"/>
              <a:t>Security issues may present the largest obstacle to the development of e-government services. </a:t>
            </a:r>
          </a:p>
          <a:p>
            <a:pPr algn="just"/>
            <a:r>
              <a:rPr lang="en-US" dirty="0"/>
              <a:t>Thus, security policies and standards that meet citizen expectations are an important step toward addressing these concerns .</a:t>
            </a:r>
          </a:p>
        </p:txBody>
      </p:sp>
    </p:spTree>
    <p:extLst>
      <p:ext uri="{BB962C8B-B14F-4D97-AF65-F5344CB8AC3E}">
        <p14:creationId xmlns:p14="http://schemas.microsoft.com/office/powerpoint/2010/main" val="41998754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normAutofit lnSpcReduction="10000"/>
          </a:bodyPr>
          <a:lstStyle/>
          <a:p>
            <a:pPr algn="just"/>
            <a:r>
              <a:rPr lang="en-US" sz="2200" dirty="0" smtClean="0">
                <a:solidFill>
                  <a:srgbClr val="FF0000"/>
                </a:solidFill>
              </a:rPr>
              <a:t>The use of security solutions, including digital signatures, encryption, user names, passwords, customer unique numbers, bank account numbers</a:t>
            </a:r>
            <a:r>
              <a:rPr lang="en-US" sz="2200" dirty="0" smtClean="0"/>
              <a:t>, and others being transmitted over the Internet and stored electronically can help in fulfilling security goals in e-government applications.</a:t>
            </a:r>
          </a:p>
          <a:p>
            <a:pPr lvl="1" algn="just">
              <a:buFont typeface="Wingdings" panose="05000000000000000000" pitchFamily="2" charset="2"/>
              <a:buChar char="ü"/>
            </a:pPr>
            <a:r>
              <a:rPr lang="en-US" sz="2200" dirty="0" smtClean="0"/>
              <a:t>Furthermore, </a:t>
            </a:r>
            <a:r>
              <a:rPr lang="en-US" sz="2200" dirty="0" smtClean="0">
                <a:solidFill>
                  <a:srgbClr val="00B050"/>
                </a:solidFill>
              </a:rPr>
              <a:t>point out that information security, referred to as cyber security or computer security</a:t>
            </a:r>
            <a:r>
              <a:rPr lang="en-US" sz="2200" dirty="0" smtClean="0"/>
              <a:t>, is an important e-government challenge. </a:t>
            </a:r>
          </a:p>
          <a:p>
            <a:pPr algn="just"/>
            <a:r>
              <a:rPr lang="en-US" sz="2200" dirty="0" smtClean="0"/>
              <a:t>In addition, </a:t>
            </a:r>
            <a:r>
              <a:rPr lang="en-US" sz="2200" dirty="0" smtClean="0">
                <a:solidFill>
                  <a:srgbClr val="00B050"/>
                </a:solidFill>
              </a:rPr>
              <a:t>security involves continuous vigilance and protection against </a:t>
            </a:r>
            <a:r>
              <a:rPr lang="en-US" sz="2200" dirty="0" smtClean="0"/>
              <a:t>the increasing danger of worms and viruses. </a:t>
            </a:r>
          </a:p>
          <a:p>
            <a:pPr algn="just"/>
            <a:r>
              <a:rPr lang="en-US" sz="2200" dirty="0" smtClean="0"/>
              <a:t>Also, people need to be educated on the importance of security measures, such as </a:t>
            </a:r>
            <a:r>
              <a:rPr lang="en-US" sz="2200" dirty="0" smtClean="0">
                <a:solidFill>
                  <a:srgbClr val="FF0000"/>
                </a:solidFill>
              </a:rPr>
              <a:t>private passwords, to ensure their own protection. </a:t>
            </a:r>
          </a:p>
          <a:p>
            <a:pPr algn="just"/>
            <a:r>
              <a:rPr lang="en-US" sz="2200" dirty="0" smtClean="0"/>
              <a:t>Cyber security has to deal with cyber regulations on different fields such as e-Commerce, e-Banking, e-Government and e-Healthcare, and all these depend on the governance of cyberspace to facilitate the use of web as a medium to promote global interchange without risk. </a:t>
            </a:r>
            <a:endParaRPr lang="en-US" sz="2200" dirty="0" smtClean="0">
              <a:solidFill>
                <a:srgbClr val="FF0000"/>
              </a:solidFill>
            </a:endParaRPr>
          </a:p>
        </p:txBody>
      </p:sp>
    </p:spTree>
    <p:extLst>
      <p:ext uri="{BB962C8B-B14F-4D97-AF65-F5344CB8AC3E}">
        <p14:creationId xmlns:p14="http://schemas.microsoft.com/office/powerpoint/2010/main" val="12532573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Security of e-governance</a:t>
            </a:r>
            <a:endParaRPr lang="en-US" dirty="0"/>
          </a:p>
        </p:txBody>
      </p:sp>
      <p:sp>
        <p:nvSpPr>
          <p:cNvPr id="3" name="Content Placeholder 2"/>
          <p:cNvSpPr>
            <a:spLocks noGrp="1"/>
          </p:cNvSpPr>
          <p:nvPr>
            <p:ph idx="1"/>
          </p:nvPr>
        </p:nvSpPr>
        <p:spPr/>
        <p:txBody>
          <a:bodyPr>
            <a:normAutofit fontScale="62500" lnSpcReduction="20000"/>
          </a:bodyPr>
          <a:lstStyle/>
          <a:p>
            <a:pPr algn="just"/>
            <a:r>
              <a:rPr lang="en-US" sz="3800" dirty="0" smtClean="0"/>
              <a:t>Implementation of E-governance has changed the way of living of the people in various countries. </a:t>
            </a:r>
          </a:p>
          <a:p>
            <a:pPr algn="just"/>
            <a:r>
              <a:rPr lang="en-US" sz="3800" dirty="0" smtClean="0"/>
              <a:t>At present scenario we can say our most activities or needs are totally depend upon the E-governance, </a:t>
            </a:r>
            <a:r>
              <a:rPr lang="en-US" sz="3800" dirty="0" smtClean="0">
                <a:solidFill>
                  <a:srgbClr val="FF0000"/>
                </a:solidFill>
              </a:rPr>
              <a:t>that’s why security of E-governance is a major issue. </a:t>
            </a:r>
          </a:p>
          <a:p>
            <a:pPr algn="just"/>
            <a:r>
              <a:rPr lang="en-US" sz="3800" dirty="0" smtClean="0"/>
              <a:t>Here we try to explain an approach for E-governance security which is based on specially two terms i.e. “</a:t>
            </a:r>
            <a:r>
              <a:rPr lang="en-US" sz="3800" dirty="0" smtClean="0">
                <a:solidFill>
                  <a:srgbClr val="FF0000"/>
                </a:solidFill>
              </a:rPr>
              <a:t>Security of What?” </a:t>
            </a:r>
            <a:r>
              <a:rPr lang="en-US" sz="3800" dirty="0" smtClean="0"/>
              <a:t>and other is “</a:t>
            </a:r>
            <a:r>
              <a:rPr lang="en-US" sz="3800" dirty="0" smtClean="0">
                <a:solidFill>
                  <a:srgbClr val="FF0000"/>
                </a:solidFill>
              </a:rPr>
              <a:t>Security against What?</a:t>
            </a:r>
            <a:r>
              <a:rPr lang="en-US" sz="3800" dirty="0" smtClean="0"/>
              <a:t>” in this section we try to work on these two questions</a:t>
            </a:r>
          </a:p>
          <a:p>
            <a:pPr algn="just"/>
            <a:r>
              <a:rPr lang="en-US" sz="3800" dirty="0" smtClean="0">
                <a:solidFill>
                  <a:srgbClr val="FF0000"/>
                </a:solidFill>
              </a:rPr>
              <a:t>Security of What? </a:t>
            </a:r>
          </a:p>
          <a:p>
            <a:pPr lvl="1" algn="just">
              <a:buFont typeface="Wingdings" panose="05000000000000000000" pitchFamily="2" charset="2"/>
              <a:buChar char="ü"/>
            </a:pPr>
            <a:r>
              <a:rPr lang="en-US" sz="3800" dirty="0" smtClean="0"/>
              <a:t>This is a major question when we talk about E-governance security. </a:t>
            </a:r>
          </a:p>
          <a:p>
            <a:pPr algn="just"/>
            <a:r>
              <a:rPr lang="en-US" sz="3800" dirty="0" smtClean="0"/>
              <a:t>Security is all about protecting the Information and Communication Technology (ICT) assets of an organization</a:t>
            </a:r>
          </a:p>
          <a:p>
            <a:endParaRPr lang="en-US" dirty="0"/>
          </a:p>
        </p:txBody>
      </p:sp>
    </p:spTree>
    <p:extLst>
      <p:ext uri="{BB962C8B-B14F-4D97-AF65-F5344CB8AC3E}">
        <p14:creationId xmlns:p14="http://schemas.microsoft.com/office/powerpoint/2010/main" val="9951504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Security of e-governance</a:t>
            </a:r>
            <a:endParaRPr lang="en-US" dirty="0"/>
          </a:p>
        </p:txBody>
      </p:sp>
      <p:sp>
        <p:nvSpPr>
          <p:cNvPr id="3" name="Content Placeholder 2"/>
          <p:cNvSpPr>
            <a:spLocks noGrp="1"/>
          </p:cNvSpPr>
          <p:nvPr>
            <p:ph idx="1"/>
          </p:nvPr>
        </p:nvSpPr>
        <p:spPr/>
        <p:txBody>
          <a:bodyPr>
            <a:normAutofit fontScale="77500" lnSpcReduction="20000"/>
          </a:bodyPr>
          <a:lstStyle/>
          <a:p>
            <a:pPr algn="just"/>
            <a:r>
              <a:rPr lang="en-US" dirty="0" smtClean="0">
                <a:solidFill>
                  <a:srgbClr val="FF0000"/>
                </a:solidFill>
              </a:rPr>
              <a:t>Security against What? </a:t>
            </a:r>
          </a:p>
          <a:p>
            <a:pPr algn="just"/>
            <a:r>
              <a:rPr lang="en-US" dirty="0" smtClean="0"/>
              <a:t>There are various threats to security of our ICT system, and we can’t define or declare them exactly, it may come from various sources and in various forms. </a:t>
            </a:r>
          </a:p>
          <a:p>
            <a:pPr lvl="1" algn="just">
              <a:buFont typeface="Wingdings" panose="05000000000000000000" pitchFamily="2" charset="2"/>
              <a:buChar char="ü"/>
            </a:pPr>
            <a:r>
              <a:rPr lang="en-US" dirty="0" smtClean="0"/>
              <a:t>So it is very necessary for e-governance administrator to identify these threats. </a:t>
            </a:r>
          </a:p>
          <a:p>
            <a:pPr algn="just"/>
            <a:r>
              <a:rPr lang="en-US" dirty="0" smtClean="0"/>
              <a:t>In this section we </a:t>
            </a:r>
            <a:r>
              <a:rPr lang="en-US" dirty="0" smtClean="0">
                <a:solidFill>
                  <a:srgbClr val="00B050"/>
                </a:solidFill>
              </a:rPr>
              <a:t>firstly give some sources of threats and then some types of threats </a:t>
            </a:r>
            <a:r>
              <a:rPr lang="en-US" dirty="0" smtClean="0"/>
              <a:t>which affect to E-governance. </a:t>
            </a:r>
          </a:p>
          <a:p>
            <a:pPr algn="just"/>
            <a:r>
              <a:rPr lang="en-US" dirty="0" smtClean="0">
                <a:solidFill>
                  <a:srgbClr val="FF0000"/>
                </a:solidFill>
              </a:rPr>
              <a:t>Sources of Threat</a:t>
            </a:r>
          </a:p>
          <a:p>
            <a:pPr algn="just"/>
            <a:r>
              <a:rPr lang="en-US" dirty="0" smtClean="0"/>
              <a:t>The sources of threat can be internal or it can be external to the government body. </a:t>
            </a:r>
          </a:p>
          <a:p>
            <a:pPr algn="just"/>
            <a:r>
              <a:rPr lang="en-US" dirty="0" smtClean="0"/>
              <a:t>There are various </a:t>
            </a:r>
            <a:r>
              <a:rPr lang="en-US" dirty="0" smtClean="0">
                <a:solidFill>
                  <a:srgbClr val="FF0000"/>
                </a:solidFill>
              </a:rPr>
              <a:t>internal sources of threat </a:t>
            </a:r>
            <a:r>
              <a:rPr lang="en-US" dirty="0" smtClean="0"/>
              <a:t>like the employees who work on the E-governance project, customers of the E-governance projects they may attempt to access the databases for their personal financial profit. </a:t>
            </a:r>
          </a:p>
          <a:p>
            <a:pPr algn="just"/>
            <a:r>
              <a:rPr lang="en-US" dirty="0" smtClean="0"/>
              <a:t>When we talk about </a:t>
            </a:r>
            <a:r>
              <a:rPr lang="en-US" dirty="0" smtClean="0">
                <a:solidFill>
                  <a:srgbClr val="00B050"/>
                </a:solidFill>
              </a:rPr>
              <a:t>external sources it may be Professional hackers, Criminal organizations, various Intelligence agencies or Investigation agencies</a:t>
            </a:r>
            <a:endParaRPr lang="en-US" dirty="0">
              <a:solidFill>
                <a:srgbClr val="00B050"/>
              </a:solidFill>
            </a:endParaRPr>
          </a:p>
        </p:txBody>
      </p:sp>
    </p:spTree>
    <p:extLst>
      <p:ext uri="{BB962C8B-B14F-4D97-AF65-F5344CB8AC3E}">
        <p14:creationId xmlns:p14="http://schemas.microsoft.com/office/powerpoint/2010/main" val="22173614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Security of e-governance</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solidFill>
                  <a:srgbClr val="FF0000"/>
                </a:solidFill>
              </a:rPr>
              <a:t>Types of Threat </a:t>
            </a:r>
          </a:p>
          <a:p>
            <a:pPr algn="just"/>
            <a:r>
              <a:rPr lang="en-US" dirty="0"/>
              <a:t>Threats may include </a:t>
            </a:r>
            <a:r>
              <a:rPr lang="en-US" dirty="0">
                <a:solidFill>
                  <a:srgbClr val="00B050"/>
                </a:solidFill>
              </a:rPr>
              <a:t>unauthorized access, modification, and destruction of data. </a:t>
            </a:r>
          </a:p>
          <a:p>
            <a:pPr algn="just"/>
            <a:r>
              <a:rPr lang="en-US" dirty="0"/>
              <a:t>The threats may be of different types varying from time to time because technology changes frequently. </a:t>
            </a:r>
          </a:p>
          <a:p>
            <a:pPr algn="just"/>
            <a:r>
              <a:rPr lang="en-US" dirty="0"/>
              <a:t>The </a:t>
            </a:r>
            <a:r>
              <a:rPr lang="en-US" dirty="0">
                <a:solidFill>
                  <a:srgbClr val="00B050"/>
                </a:solidFill>
              </a:rPr>
              <a:t>attacks on security of e-governance system can be in different forms</a:t>
            </a:r>
            <a:r>
              <a:rPr lang="en-US" dirty="0"/>
              <a:t> including Defacing of web sites, Hacking, Cracking, Damage to critical database and applications, Network security check list, Viruses and Malwares etc. the damage of ICT assets need not always be a result of such malicious attacks as mentioned previously. </a:t>
            </a:r>
          </a:p>
          <a:p>
            <a:pPr algn="just"/>
            <a:r>
              <a:rPr lang="en-US" dirty="0"/>
              <a:t>It may be some kind of natural or environmental disasters etc. </a:t>
            </a:r>
          </a:p>
        </p:txBody>
      </p:sp>
    </p:spTree>
    <p:extLst>
      <p:ext uri="{BB962C8B-B14F-4D97-AF65-F5344CB8AC3E}">
        <p14:creationId xmlns:p14="http://schemas.microsoft.com/office/powerpoint/2010/main" val="2060092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smtClean="0">
                <a:solidFill>
                  <a:srgbClr val="0070C0"/>
                </a:solidFill>
              </a:rPr>
              <a:t> Domains of Security </a:t>
            </a:r>
            <a:endParaRPr lang="en-US" dirty="0"/>
          </a:p>
        </p:txBody>
      </p:sp>
      <p:pic>
        <p:nvPicPr>
          <p:cNvPr id="4" name="Content Placeholder 3"/>
          <p:cNvPicPr>
            <a:picLocks noGrp="1" noChangeAspect="1"/>
          </p:cNvPicPr>
          <p:nvPr>
            <p:ph idx="1"/>
          </p:nvPr>
        </p:nvPicPr>
        <p:blipFill>
          <a:blip r:embed="rId2"/>
          <a:stretch>
            <a:fillRect/>
          </a:stretch>
        </p:blipFill>
        <p:spPr>
          <a:xfrm>
            <a:off x="2697176" y="1295401"/>
            <a:ext cx="6797648" cy="4525963"/>
          </a:xfrm>
          <a:prstGeom prst="rect">
            <a:avLst/>
          </a:prstGeom>
        </p:spPr>
      </p:pic>
      <p:sp>
        <p:nvSpPr>
          <p:cNvPr id="3" name="TextBox 2"/>
          <p:cNvSpPr txBox="1"/>
          <p:nvPr/>
        </p:nvSpPr>
        <p:spPr>
          <a:xfrm>
            <a:off x="3276600" y="6096002"/>
            <a:ext cx="6218224" cy="646331"/>
          </a:xfrm>
          <a:prstGeom prst="rect">
            <a:avLst/>
          </a:prstGeom>
          <a:noFill/>
        </p:spPr>
        <p:txBody>
          <a:bodyPr wrap="square" rtlCol="0">
            <a:spAutoFit/>
          </a:bodyPr>
          <a:lstStyle/>
          <a:p>
            <a:r>
              <a:rPr lang="en-US" dirty="0"/>
              <a:t>CISSP CBK: Certificate Information System Security Professional Common Body of Knowledge</a:t>
            </a:r>
          </a:p>
        </p:txBody>
      </p:sp>
    </p:spTree>
    <p:extLst>
      <p:ext uri="{BB962C8B-B14F-4D97-AF65-F5344CB8AC3E}">
        <p14:creationId xmlns:p14="http://schemas.microsoft.com/office/powerpoint/2010/main" val="9120134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15962"/>
          </a:xfrm>
        </p:spPr>
        <p:txBody>
          <a:bodyPr>
            <a:normAutofit/>
          </a:bodyPr>
          <a:lstStyle/>
          <a:p>
            <a:r>
              <a:rPr lang="en-US" sz="4000" dirty="0">
                <a:solidFill>
                  <a:srgbClr val="0070C0"/>
                </a:solidFill>
              </a:rPr>
              <a:t>E-government security challenges</a:t>
            </a:r>
          </a:p>
        </p:txBody>
      </p:sp>
      <p:sp>
        <p:nvSpPr>
          <p:cNvPr id="3" name="Content Placeholder 2"/>
          <p:cNvSpPr>
            <a:spLocks noGrp="1"/>
          </p:cNvSpPr>
          <p:nvPr>
            <p:ph idx="1"/>
          </p:nvPr>
        </p:nvSpPr>
        <p:spPr>
          <a:xfrm>
            <a:off x="1967345" y="972128"/>
            <a:ext cx="8229600" cy="4525963"/>
          </a:xfrm>
        </p:spPr>
        <p:txBody>
          <a:bodyPr>
            <a:normAutofit/>
          </a:bodyPr>
          <a:lstStyle/>
          <a:p>
            <a:pPr algn="just"/>
            <a:r>
              <a:rPr lang="en-US" sz="2200" dirty="0"/>
              <a:t>The security framework of e-government </a:t>
            </a:r>
            <a:r>
              <a:rPr lang="en-US" sz="2200" dirty="0">
                <a:solidFill>
                  <a:srgbClr val="FF0000"/>
                </a:solidFill>
              </a:rPr>
              <a:t>consists on the main three elements; </a:t>
            </a:r>
            <a:r>
              <a:rPr lang="en-US" sz="2200" dirty="0"/>
              <a:t>people, processes and technologies. </a:t>
            </a:r>
          </a:p>
          <a:p>
            <a:pPr algn="just"/>
            <a:r>
              <a:rPr lang="en-US" sz="2200" dirty="0"/>
              <a:t>Our focus would be on the E-government information security in terms of the technological and non-technological perspectives. </a:t>
            </a:r>
          </a:p>
          <a:p>
            <a:pPr algn="just"/>
            <a:r>
              <a:rPr lang="en-US" sz="2200" dirty="0"/>
              <a:t>Since, E-government </a:t>
            </a:r>
            <a:r>
              <a:rPr lang="en-US" sz="2200" dirty="0">
                <a:solidFill>
                  <a:srgbClr val="FF0000"/>
                </a:solidFill>
              </a:rPr>
              <a:t>cannot be only the protection of the ICT assets </a:t>
            </a:r>
            <a:r>
              <a:rPr lang="en-US" sz="2200" dirty="0"/>
              <a:t>in government bodies. </a:t>
            </a:r>
          </a:p>
          <a:p>
            <a:pPr algn="just"/>
            <a:r>
              <a:rPr lang="en-US" sz="2200" dirty="0"/>
              <a:t>However, it can be defined as a protection of both technical and non-technical assets of the government departments. </a:t>
            </a:r>
          </a:p>
          <a:p>
            <a:pPr algn="just"/>
            <a:r>
              <a:rPr lang="en-US" sz="2200" dirty="0"/>
              <a:t>Therefore, security of e-government can be in a broad area as illustrated in figure</a:t>
            </a:r>
          </a:p>
        </p:txBody>
      </p:sp>
      <p:pic>
        <p:nvPicPr>
          <p:cNvPr id="4" name="Picture 3"/>
          <p:cNvPicPr>
            <a:picLocks noChangeAspect="1"/>
          </p:cNvPicPr>
          <p:nvPr/>
        </p:nvPicPr>
        <p:blipFill>
          <a:blip r:embed="rId2"/>
          <a:stretch>
            <a:fillRect/>
          </a:stretch>
        </p:blipFill>
        <p:spPr>
          <a:xfrm>
            <a:off x="5181600" y="4572001"/>
            <a:ext cx="3867150" cy="2066925"/>
          </a:xfrm>
          <a:prstGeom prst="rect">
            <a:avLst/>
          </a:prstGeom>
        </p:spPr>
      </p:pic>
    </p:spTree>
    <p:extLst>
      <p:ext uri="{BB962C8B-B14F-4D97-AF65-F5344CB8AC3E}">
        <p14:creationId xmlns:p14="http://schemas.microsoft.com/office/powerpoint/2010/main" val="20964860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5842" y="201353"/>
            <a:ext cx="10515600" cy="590218"/>
          </a:xfrm>
        </p:spPr>
        <p:txBody>
          <a:bodyPr>
            <a:normAutofit fontScale="90000"/>
          </a:bodyPr>
          <a:lstStyle/>
          <a:p>
            <a:r>
              <a:rPr lang="en-US" dirty="0" smtClean="0"/>
              <a:t>Challenges</a:t>
            </a:r>
            <a:endParaRPr lang="en-US" dirty="0"/>
          </a:p>
        </p:txBody>
      </p:sp>
      <p:sp>
        <p:nvSpPr>
          <p:cNvPr id="3" name="Content Placeholder 2"/>
          <p:cNvSpPr>
            <a:spLocks noGrp="1"/>
          </p:cNvSpPr>
          <p:nvPr>
            <p:ph idx="1"/>
          </p:nvPr>
        </p:nvSpPr>
        <p:spPr>
          <a:xfrm>
            <a:off x="838200" y="968991"/>
            <a:ext cx="10515600" cy="5214796"/>
          </a:xfrm>
        </p:spPr>
        <p:txBody>
          <a:bodyPr>
            <a:normAutofit fontScale="77500" lnSpcReduction="20000"/>
          </a:bodyPr>
          <a:lstStyle/>
          <a:p>
            <a:pPr algn="just"/>
            <a:r>
              <a:rPr lang="en-US" b="1" dirty="0"/>
              <a:t>Cybersecurity Threats:</a:t>
            </a:r>
            <a:r>
              <a:rPr lang="en-US" dirty="0"/>
              <a:t> E-government systems face a wide range of cyber threats, including malware, phishing attacks, ransomware, and distributed denial-of-service (</a:t>
            </a:r>
            <a:r>
              <a:rPr lang="en-US" dirty="0" err="1"/>
              <a:t>DDoS</a:t>
            </a:r>
            <a:r>
              <a:rPr lang="en-US" dirty="0"/>
              <a:t>) attacks. These threats can disrupt services, steal sensitive data, or compromise the integrity of government systems.</a:t>
            </a:r>
          </a:p>
          <a:p>
            <a:pPr algn="just"/>
            <a:r>
              <a:rPr lang="en-US" b="1" dirty="0" smtClean="0"/>
              <a:t>Data </a:t>
            </a:r>
            <a:r>
              <a:rPr lang="en-US" b="1" dirty="0"/>
              <a:t>Privacy:</a:t>
            </a:r>
            <a:r>
              <a:rPr lang="en-US" dirty="0"/>
              <a:t> E-government platforms often handle large amounts of personal and sensitive information. Ensuring the privacy and confidentiality of this data is essential to protect citizens' rights and prevent identity theft or unauthorized access.</a:t>
            </a:r>
          </a:p>
          <a:p>
            <a:pPr algn="just"/>
            <a:r>
              <a:rPr lang="en-US" b="1" dirty="0" smtClean="0"/>
              <a:t>Complexity </a:t>
            </a:r>
            <a:r>
              <a:rPr lang="en-US" b="1" dirty="0"/>
              <a:t>of Systems:</a:t>
            </a:r>
            <a:r>
              <a:rPr lang="en-US" dirty="0"/>
              <a:t> E-government initiatives typically involve complex systems and interconnected networks, making them vulnerable to security vulnerabilities and misconfigurations. Managing security across these diverse systems can be challenging, especially when integrating legacy systems with newer technologies.</a:t>
            </a:r>
          </a:p>
          <a:p>
            <a:pPr algn="just"/>
            <a:r>
              <a:rPr lang="en-US" b="1" dirty="0" smtClean="0"/>
              <a:t>Insider </a:t>
            </a:r>
            <a:r>
              <a:rPr lang="en-US" b="1" dirty="0"/>
              <a:t>Threats: </a:t>
            </a:r>
            <a:r>
              <a:rPr lang="en-US" dirty="0"/>
              <a:t>Insider threats, whether intentional or accidental, pose a significant risk to e-government security. Employees or contractors with privileged access to government systems may abuse their privileges, leak sensitive information, or inadvertently introduce security vulnerabilities.</a:t>
            </a:r>
          </a:p>
          <a:p>
            <a:pPr algn="just"/>
            <a:r>
              <a:rPr lang="en-US" b="1" dirty="0" smtClean="0"/>
              <a:t>Compliance </a:t>
            </a:r>
            <a:r>
              <a:rPr lang="en-US" b="1" dirty="0"/>
              <a:t>and Regulations:</a:t>
            </a:r>
            <a:r>
              <a:rPr lang="en-US" dirty="0"/>
              <a:t> E-government initiatives must comply with various regulations and standards related to data protection, privacy, and cybersecurity. Ensuring compliance with these requirements adds complexity to security management and may require substantial resources.</a:t>
            </a:r>
          </a:p>
        </p:txBody>
      </p:sp>
    </p:spTree>
    <p:extLst>
      <p:ext uri="{BB962C8B-B14F-4D97-AF65-F5344CB8AC3E}">
        <p14:creationId xmlns:p14="http://schemas.microsoft.com/office/powerpoint/2010/main" val="15000368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5341"/>
            <a:ext cx="10515600" cy="781287"/>
          </a:xfrm>
        </p:spPr>
        <p:txBody>
          <a:bodyPr/>
          <a:lstStyle/>
          <a:p>
            <a:r>
              <a:rPr lang="en-US" dirty="0" smtClean="0"/>
              <a:t>Security Approaches</a:t>
            </a:r>
            <a:endParaRPr lang="en-US" dirty="0"/>
          </a:p>
        </p:txBody>
      </p:sp>
      <p:sp>
        <p:nvSpPr>
          <p:cNvPr id="3" name="Content Placeholder 2"/>
          <p:cNvSpPr>
            <a:spLocks noGrp="1"/>
          </p:cNvSpPr>
          <p:nvPr>
            <p:ph idx="1"/>
          </p:nvPr>
        </p:nvSpPr>
        <p:spPr>
          <a:xfrm>
            <a:off x="68239" y="764275"/>
            <a:ext cx="12064621" cy="5119261"/>
          </a:xfrm>
        </p:spPr>
        <p:txBody>
          <a:bodyPr>
            <a:noAutofit/>
          </a:bodyPr>
          <a:lstStyle/>
          <a:p>
            <a:pPr algn="just">
              <a:buFont typeface="Arial" panose="020B0604020202020204" pitchFamily="34" charset="0"/>
              <a:buChar char="•"/>
            </a:pPr>
            <a:r>
              <a:rPr lang="en-US" sz="2000" b="1" i="0" dirty="0" smtClean="0">
                <a:solidFill>
                  <a:srgbClr val="0D0D0D"/>
                </a:solidFill>
                <a:effectLst/>
                <a:latin typeface="Poppins"/>
              </a:rPr>
              <a:t>Risk Assessment and Management: </a:t>
            </a:r>
            <a:r>
              <a:rPr lang="en-US" sz="2000" b="0" i="0" dirty="0" smtClean="0">
                <a:solidFill>
                  <a:srgbClr val="0D0D0D"/>
                </a:solidFill>
                <a:effectLst/>
                <a:latin typeface="Poppins"/>
              </a:rPr>
              <a:t>Conducting regular risk assessments helps identify potential security threats and vulnerabilities within e-government systems. By prioritizing risks and implementing appropriate controls, government agencies can mitigate security risks effectively.</a:t>
            </a:r>
            <a:endParaRPr lang="en-US" sz="2000" b="0" i="0" dirty="0" smtClean="0">
              <a:effectLst/>
              <a:latin typeface="Poppins"/>
            </a:endParaRPr>
          </a:p>
          <a:p>
            <a:pPr algn="just">
              <a:buFont typeface="Arial" panose="020B0604020202020204" pitchFamily="34" charset="0"/>
              <a:buChar char="•"/>
            </a:pPr>
            <a:r>
              <a:rPr lang="en-US" sz="2000" b="0" i="0" dirty="0" smtClean="0">
                <a:effectLst/>
                <a:latin typeface="Poppins"/>
              </a:rPr>
              <a:t> </a:t>
            </a:r>
            <a:r>
              <a:rPr lang="en-US" sz="2000" b="1" i="0" dirty="0" smtClean="0">
                <a:solidFill>
                  <a:srgbClr val="0D0D0D"/>
                </a:solidFill>
                <a:effectLst/>
                <a:latin typeface="Poppins"/>
              </a:rPr>
              <a:t>Security by Design: </a:t>
            </a:r>
            <a:r>
              <a:rPr lang="en-US" sz="2000" b="0" i="0" dirty="0" smtClean="0">
                <a:solidFill>
                  <a:srgbClr val="0D0D0D"/>
                </a:solidFill>
                <a:effectLst/>
                <a:latin typeface="Poppins"/>
              </a:rPr>
              <a:t>Implementing security measures from the design phase of e-government projects helps build robust security foundations. This includes incorporating security features such as encryption, access controls, and authentication mechanisms into system architecture and development processes.</a:t>
            </a:r>
            <a:endParaRPr lang="en-US" sz="2000" b="0" i="0" dirty="0" smtClean="0">
              <a:effectLst/>
              <a:latin typeface="Poppins"/>
            </a:endParaRPr>
          </a:p>
          <a:p>
            <a:pPr algn="just">
              <a:buFont typeface="Arial" panose="020B0604020202020204" pitchFamily="34" charset="0"/>
              <a:buChar char="•"/>
            </a:pPr>
            <a:r>
              <a:rPr lang="en-US" sz="2000" b="0" i="0" dirty="0" smtClean="0">
                <a:effectLst/>
                <a:latin typeface="Poppins"/>
              </a:rPr>
              <a:t> </a:t>
            </a:r>
            <a:r>
              <a:rPr lang="en-US" sz="2000" b="1" i="0" dirty="0" smtClean="0">
                <a:solidFill>
                  <a:srgbClr val="0D0D0D"/>
                </a:solidFill>
                <a:effectLst/>
                <a:latin typeface="Poppins"/>
              </a:rPr>
              <a:t>Access Control and Authentication:</a:t>
            </a:r>
            <a:r>
              <a:rPr lang="en-US" sz="2000" b="0" i="0" dirty="0" smtClean="0">
                <a:solidFill>
                  <a:srgbClr val="0D0D0D"/>
                </a:solidFill>
                <a:effectLst/>
                <a:latin typeface="Poppins"/>
              </a:rPr>
              <a:t> Implementing strong access control measures, such as role-based access control (RBAC) and multi-factor authentication (MFA), helps prevent unauthorized access to government systems and sensitive data.</a:t>
            </a:r>
            <a:endParaRPr lang="en-US" sz="2000" b="0" i="0" dirty="0" smtClean="0">
              <a:effectLst/>
              <a:latin typeface="Poppins"/>
            </a:endParaRPr>
          </a:p>
          <a:p>
            <a:pPr algn="just">
              <a:buFont typeface="Arial" panose="020B0604020202020204" pitchFamily="34" charset="0"/>
              <a:buChar char="•"/>
            </a:pPr>
            <a:r>
              <a:rPr lang="en-US" sz="2000" b="0" i="0" dirty="0" smtClean="0">
                <a:effectLst/>
                <a:latin typeface="Poppins"/>
              </a:rPr>
              <a:t> </a:t>
            </a:r>
            <a:r>
              <a:rPr lang="en-US" sz="2000" b="1" i="0" dirty="0" smtClean="0">
                <a:solidFill>
                  <a:srgbClr val="0D0D0D"/>
                </a:solidFill>
                <a:effectLst/>
                <a:latin typeface="Poppins"/>
              </a:rPr>
              <a:t>Continuous Monitoring and Incident Response: </a:t>
            </a:r>
            <a:r>
              <a:rPr lang="en-US" sz="2000" b="0" i="0" dirty="0" smtClean="0">
                <a:solidFill>
                  <a:srgbClr val="0D0D0D"/>
                </a:solidFill>
                <a:effectLst/>
                <a:latin typeface="Poppins"/>
              </a:rPr>
              <a:t>Adopting continuous monitoring tools and practices allows government agencies to detect security incidents promptly and respond effectively. Establishing incident response plans and conducting regular security drills help ensure a rapid and coordinated response to cyber threats.</a:t>
            </a:r>
            <a:endParaRPr lang="en-US" sz="2000" b="0" i="0" dirty="0" smtClean="0">
              <a:effectLst/>
              <a:latin typeface="Poppins"/>
            </a:endParaRPr>
          </a:p>
          <a:p>
            <a:pPr algn="just">
              <a:buFont typeface="Arial" panose="020B0604020202020204" pitchFamily="34" charset="0"/>
              <a:buChar char="•"/>
            </a:pPr>
            <a:r>
              <a:rPr lang="en-US" sz="2000" b="0" i="0" dirty="0" smtClean="0">
                <a:effectLst/>
                <a:latin typeface="Poppins"/>
              </a:rPr>
              <a:t> </a:t>
            </a:r>
            <a:r>
              <a:rPr lang="en-US" sz="2000" b="1" i="0" dirty="0" smtClean="0">
                <a:solidFill>
                  <a:srgbClr val="0D0D0D"/>
                </a:solidFill>
                <a:effectLst/>
                <a:latin typeface="Poppins"/>
              </a:rPr>
              <a:t>Education and Training:</a:t>
            </a:r>
            <a:r>
              <a:rPr lang="en-US" sz="2000" b="0" i="0" dirty="0" smtClean="0">
                <a:solidFill>
                  <a:srgbClr val="0D0D0D"/>
                </a:solidFill>
                <a:effectLst/>
                <a:latin typeface="Poppins"/>
              </a:rPr>
              <a:t> Providing cybersecurity awareness training to government employees and contractors helps raise awareness about security best practices and reduces the risk of insider threats. Training programs should cover topics such as phishing awareness, secure password management, and data handling procedures.</a:t>
            </a:r>
            <a:endParaRPr lang="en-US" sz="2000" b="0" i="0" dirty="0" smtClean="0">
              <a:effectLst/>
              <a:latin typeface="Poppins"/>
            </a:endParaRPr>
          </a:p>
          <a:p>
            <a:pPr algn="just"/>
            <a:r>
              <a:rPr lang="en-US" sz="2000" dirty="0" smtClean="0"/>
              <a:t/>
            </a:r>
            <a:br>
              <a:rPr lang="en-US" sz="2000" dirty="0" smtClean="0"/>
            </a:br>
            <a:endParaRPr lang="en-US" sz="2000" dirty="0"/>
          </a:p>
        </p:txBody>
      </p:sp>
    </p:spTree>
    <p:extLst>
      <p:ext uri="{BB962C8B-B14F-4D97-AF65-F5344CB8AC3E}">
        <p14:creationId xmlns:p14="http://schemas.microsoft.com/office/powerpoint/2010/main" val="10191113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E-GOVERNMENT PRESENT SECURITY APPROACH</a:t>
            </a:r>
            <a:endParaRPr lang="en-US" dirty="0"/>
          </a:p>
        </p:txBody>
      </p:sp>
      <p:pic>
        <p:nvPicPr>
          <p:cNvPr id="4" name="Content Placeholder 3"/>
          <p:cNvPicPr>
            <a:picLocks noGrp="1" noChangeAspect="1"/>
          </p:cNvPicPr>
          <p:nvPr>
            <p:ph idx="1"/>
          </p:nvPr>
        </p:nvPicPr>
        <p:blipFill>
          <a:blip r:embed="rId2"/>
          <a:stretch>
            <a:fillRect/>
          </a:stretch>
        </p:blipFill>
        <p:spPr>
          <a:xfrm>
            <a:off x="2176818" y="1761762"/>
            <a:ext cx="8099946" cy="4628540"/>
          </a:xfrm>
          <a:prstGeom prst="rect">
            <a:avLst/>
          </a:prstGeom>
        </p:spPr>
      </p:pic>
    </p:spTree>
    <p:extLst>
      <p:ext uri="{BB962C8B-B14F-4D97-AF65-F5344CB8AC3E}">
        <p14:creationId xmlns:p14="http://schemas.microsoft.com/office/powerpoint/2010/main" val="325003479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64024"/>
            <a:ext cx="10515600" cy="5712939"/>
          </a:xfrm>
        </p:spPr>
        <p:txBody>
          <a:bodyPr>
            <a:normAutofit/>
          </a:bodyPr>
          <a:lstStyle/>
          <a:p>
            <a:r>
              <a:rPr lang="en-US" dirty="0"/>
              <a:t>Registration</a:t>
            </a:r>
          </a:p>
          <a:p>
            <a:pPr lvl="1"/>
            <a:r>
              <a:rPr lang="en-US" dirty="0"/>
              <a:t>Registration is the process for accessing restricted services/documents.</a:t>
            </a:r>
          </a:p>
          <a:p>
            <a:r>
              <a:rPr lang="en-US" dirty="0"/>
              <a:t>Authentication Service </a:t>
            </a:r>
          </a:p>
          <a:p>
            <a:pPr lvl="1"/>
            <a:r>
              <a:rPr lang="en-US" dirty="0"/>
              <a:t>Level 0: This is the basic authentication mechanism using username and password. </a:t>
            </a:r>
          </a:p>
          <a:p>
            <a:pPr lvl="1"/>
            <a:r>
              <a:rPr lang="en-US" dirty="0"/>
              <a:t>Level 1: At Level 1, a user will be able to prove </a:t>
            </a:r>
            <a:r>
              <a:rPr lang="en-US" dirty="0" smtClean="0"/>
              <a:t>her/his </a:t>
            </a:r>
            <a:r>
              <a:rPr lang="en-US" dirty="0"/>
              <a:t>identity </a:t>
            </a:r>
            <a:r>
              <a:rPr lang="en-US" b="1" dirty="0"/>
              <a:t>using OTP token along with his/her Unique Identification Card number (UID) credentials. </a:t>
            </a:r>
            <a:endParaRPr lang="en-US" dirty="0"/>
          </a:p>
          <a:p>
            <a:pPr lvl="1"/>
            <a:r>
              <a:rPr lang="en-US" dirty="0"/>
              <a:t>Level 2: At Level 2, the user would need to prove his/her identity through a </a:t>
            </a:r>
            <a:r>
              <a:rPr lang="en-US" b="1" dirty="0"/>
              <a:t>hardware or software token (along with PIN). </a:t>
            </a:r>
            <a:endParaRPr lang="en-US" dirty="0"/>
          </a:p>
          <a:p>
            <a:pPr lvl="1"/>
            <a:r>
              <a:rPr lang="en-US" dirty="0"/>
              <a:t>Level 3: At Level 3, the user will prove his/her identity using </a:t>
            </a:r>
            <a:r>
              <a:rPr lang="en-US" b="1" dirty="0"/>
              <a:t>biometrics authentication. </a:t>
            </a:r>
            <a:endParaRPr lang="en-US" b="1" dirty="0" smtClean="0"/>
          </a:p>
          <a:p>
            <a:pPr lvl="1"/>
            <a:endParaRPr lang="en-US" b="1" dirty="0"/>
          </a:p>
          <a:p>
            <a:pPr marL="457200" lvl="1" indent="0">
              <a:buNone/>
            </a:pPr>
            <a:r>
              <a:rPr lang="en-US" b="1" dirty="0" smtClean="0"/>
              <a:t>Refer figure of book for enhance security system</a:t>
            </a:r>
            <a:endParaRPr lang="en-US" dirty="0"/>
          </a:p>
        </p:txBody>
      </p:sp>
    </p:spTree>
    <p:extLst>
      <p:ext uri="{BB962C8B-B14F-4D97-AF65-F5344CB8AC3E}">
        <p14:creationId xmlns:p14="http://schemas.microsoft.com/office/powerpoint/2010/main" val="2715226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0070C0"/>
                </a:solidFill>
              </a:rPr>
              <a:t>Security </a:t>
            </a:r>
            <a:r>
              <a:rPr lang="en-US" dirty="0" smtClean="0">
                <a:solidFill>
                  <a:srgbClr val="0070C0"/>
                </a:solidFill>
              </a:rPr>
              <a:t>Management </a:t>
            </a:r>
            <a:r>
              <a:rPr lang="en-US" b="1" dirty="0" smtClean="0">
                <a:solidFill>
                  <a:schemeClr val="tx2">
                    <a:lumMod val="60000"/>
                    <a:lumOff val="40000"/>
                  </a:schemeClr>
                </a:solidFill>
              </a:rPr>
              <a:t>Model</a:t>
            </a:r>
            <a:endParaRPr lang="en-US" dirty="0">
              <a:solidFill>
                <a:srgbClr val="0070C0"/>
              </a:solidFill>
            </a:endParaRPr>
          </a:p>
        </p:txBody>
      </p:sp>
      <p:sp>
        <p:nvSpPr>
          <p:cNvPr id="3" name="Content Placeholder 2"/>
          <p:cNvSpPr>
            <a:spLocks noGrp="1"/>
          </p:cNvSpPr>
          <p:nvPr>
            <p:ph idx="1"/>
          </p:nvPr>
        </p:nvSpPr>
        <p:spPr>
          <a:xfrm>
            <a:off x="218364" y="1136074"/>
            <a:ext cx="9992436" cy="4548219"/>
          </a:xfrm>
        </p:spPr>
        <p:txBody>
          <a:bodyPr/>
          <a:lstStyle/>
          <a:p>
            <a:pPr algn="just"/>
            <a:r>
              <a:rPr lang="en-US" sz="2400" dirty="0" smtClean="0"/>
              <a:t>A </a:t>
            </a:r>
            <a:r>
              <a:rPr lang="en-US" sz="2400" b="1" dirty="0" smtClean="0"/>
              <a:t>security management model</a:t>
            </a:r>
            <a:r>
              <a:rPr lang="en-US" sz="2400" dirty="0" smtClean="0"/>
              <a:t> is meant to be a </a:t>
            </a:r>
            <a:r>
              <a:rPr lang="en-US" sz="2400" b="1" dirty="0" smtClean="0"/>
              <a:t>generic</a:t>
            </a:r>
            <a:r>
              <a:rPr lang="en-US" sz="2400" dirty="0" smtClean="0"/>
              <a:t> description of </a:t>
            </a:r>
            <a:r>
              <a:rPr lang="en-US" sz="2400" b="1" dirty="0" smtClean="0"/>
              <a:t>what</a:t>
            </a:r>
            <a:r>
              <a:rPr lang="en-US" sz="2400" dirty="0" smtClean="0"/>
              <a:t> an organization should do to provide a secure environment for itself. </a:t>
            </a:r>
          </a:p>
          <a:p>
            <a:pPr algn="just"/>
            <a:r>
              <a:rPr lang="en-US" sz="2400" dirty="0" smtClean="0">
                <a:solidFill>
                  <a:srgbClr val="FF0000"/>
                </a:solidFill>
              </a:rPr>
              <a:t>security </a:t>
            </a:r>
            <a:r>
              <a:rPr lang="en-US" sz="2400" dirty="0">
                <a:solidFill>
                  <a:srgbClr val="FF0000"/>
                </a:solidFill>
              </a:rPr>
              <a:t>of the e-governance system has to be managed systematically in three levels</a:t>
            </a:r>
            <a:r>
              <a:rPr lang="en-US" sz="2400" dirty="0"/>
              <a:t>, this model is explained with the help of this figure</a:t>
            </a:r>
          </a:p>
          <a:p>
            <a:pPr marL="0" indent="0">
              <a:buNone/>
            </a:pPr>
            <a:r>
              <a:rPr lang="en-US" dirty="0" smtClean="0"/>
              <a:t> </a:t>
            </a:r>
            <a:endParaRPr lang="en-US" dirty="0"/>
          </a:p>
        </p:txBody>
      </p:sp>
      <p:pic>
        <p:nvPicPr>
          <p:cNvPr id="4" name="Picture 3"/>
          <p:cNvPicPr>
            <a:picLocks noChangeAspect="1"/>
          </p:cNvPicPr>
          <p:nvPr/>
        </p:nvPicPr>
        <p:blipFill>
          <a:blip r:embed="rId2"/>
          <a:stretch>
            <a:fillRect/>
          </a:stretch>
        </p:blipFill>
        <p:spPr>
          <a:xfrm>
            <a:off x="1692320" y="2753672"/>
            <a:ext cx="8334234" cy="3637399"/>
          </a:xfrm>
          <a:prstGeom prst="rect">
            <a:avLst/>
          </a:prstGeom>
        </p:spPr>
      </p:pic>
    </p:spTree>
    <p:extLst>
      <p:ext uri="{BB962C8B-B14F-4D97-AF65-F5344CB8AC3E}">
        <p14:creationId xmlns:p14="http://schemas.microsoft.com/office/powerpoint/2010/main" val="191082864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792162"/>
          </a:xfrm>
        </p:spPr>
        <p:txBody>
          <a:bodyPr/>
          <a:lstStyle/>
          <a:p>
            <a:r>
              <a:rPr lang="en-US" dirty="0">
                <a:solidFill>
                  <a:srgbClr val="0070C0"/>
                </a:solidFill>
              </a:rPr>
              <a:t>Security Management</a:t>
            </a:r>
            <a:endParaRPr lang="en-US" dirty="0"/>
          </a:p>
        </p:txBody>
      </p:sp>
      <p:sp>
        <p:nvSpPr>
          <p:cNvPr id="3" name="Content Placeholder 2"/>
          <p:cNvSpPr>
            <a:spLocks noGrp="1"/>
          </p:cNvSpPr>
          <p:nvPr>
            <p:ph idx="1"/>
          </p:nvPr>
        </p:nvSpPr>
        <p:spPr>
          <a:xfrm>
            <a:off x="1981200" y="944562"/>
            <a:ext cx="8229600" cy="5684838"/>
          </a:xfrm>
        </p:spPr>
        <p:txBody>
          <a:bodyPr>
            <a:normAutofit/>
          </a:bodyPr>
          <a:lstStyle/>
          <a:p>
            <a:pPr algn="just"/>
            <a:r>
              <a:rPr lang="en-US" sz="2400" dirty="0">
                <a:solidFill>
                  <a:srgbClr val="FF0000"/>
                </a:solidFill>
              </a:rPr>
              <a:t>Security at User Level </a:t>
            </a:r>
          </a:p>
          <a:p>
            <a:pPr algn="just"/>
            <a:r>
              <a:rPr lang="en-US" sz="2400" dirty="0"/>
              <a:t>Security at user level is a very important issue.</a:t>
            </a:r>
          </a:p>
          <a:p>
            <a:pPr algn="just"/>
            <a:r>
              <a:rPr lang="en-US" sz="2400" dirty="0"/>
              <a:t>We can classify user level </a:t>
            </a:r>
            <a:r>
              <a:rPr lang="en-US" sz="2400" dirty="0">
                <a:solidFill>
                  <a:srgbClr val="00B050"/>
                </a:solidFill>
              </a:rPr>
              <a:t>security management in three Parts.</a:t>
            </a:r>
          </a:p>
          <a:p>
            <a:pPr algn="just"/>
            <a:r>
              <a:rPr lang="en-US" sz="2400" dirty="0">
                <a:solidFill>
                  <a:srgbClr val="7030A0"/>
                </a:solidFill>
              </a:rPr>
              <a:t>Identity Management </a:t>
            </a:r>
          </a:p>
          <a:p>
            <a:pPr lvl="1" algn="just">
              <a:buFont typeface="Wingdings" panose="05000000000000000000" pitchFamily="2" charset="2"/>
              <a:buChar char="ü"/>
            </a:pPr>
            <a:r>
              <a:rPr lang="en-US" dirty="0"/>
              <a:t>The main purpose of this is to create </a:t>
            </a:r>
            <a:r>
              <a:rPr lang="en-US" dirty="0">
                <a:solidFill>
                  <a:srgbClr val="FF0000"/>
                </a:solidFill>
              </a:rPr>
              <a:t>unique digital identity or credential to all legal users </a:t>
            </a:r>
            <a:r>
              <a:rPr lang="en-US" dirty="0"/>
              <a:t>by providing a unique user name and password, to create and manage ICT systems which ensure that the digital identities are secure. </a:t>
            </a:r>
          </a:p>
          <a:p>
            <a:pPr algn="just"/>
            <a:r>
              <a:rPr lang="en-US" sz="2400" dirty="0">
                <a:solidFill>
                  <a:srgbClr val="7030A0"/>
                </a:solidFill>
              </a:rPr>
              <a:t>Access Management System </a:t>
            </a:r>
          </a:p>
          <a:p>
            <a:pPr lvl="1" algn="just">
              <a:buFont typeface="Wingdings" panose="05000000000000000000" pitchFamily="2" charset="2"/>
              <a:buChar char="ü"/>
            </a:pPr>
            <a:r>
              <a:rPr lang="en-US" dirty="0"/>
              <a:t>In this level the unique credentials which are provided to the user at identity level are matched to identify the user, that he/she is actually the authentic person.</a:t>
            </a:r>
          </a:p>
        </p:txBody>
      </p:sp>
    </p:spTree>
    <p:extLst>
      <p:ext uri="{BB962C8B-B14F-4D97-AF65-F5344CB8AC3E}">
        <p14:creationId xmlns:p14="http://schemas.microsoft.com/office/powerpoint/2010/main" val="171142948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6619" y="76200"/>
            <a:ext cx="8229600" cy="609600"/>
          </a:xfrm>
        </p:spPr>
        <p:txBody>
          <a:bodyPr>
            <a:normAutofit fontScale="90000"/>
          </a:bodyPr>
          <a:lstStyle/>
          <a:p>
            <a:r>
              <a:rPr lang="en-US" dirty="0">
                <a:solidFill>
                  <a:srgbClr val="0070C0"/>
                </a:solidFill>
              </a:rPr>
              <a:t>Security Management</a:t>
            </a:r>
            <a:endParaRPr lang="en-US" dirty="0"/>
          </a:p>
        </p:txBody>
      </p:sp>
      <p:sp>
        <p:nvSpPr>
          <p:cNvPr id="3" name="Content Placeholder 2"/>
          <p:cNvSpPr>
            <a:spLocks noGrp="1"/>
          </p:cNvSpPr>
          <p:nvPr>
            <p:ph idx="1"/>
          </p:nvPr>
        </p:nvSpPr>
        <p:spPr>
          <a:xfrm>
            <a:off x="1956620" y="685801"/>
            <a:ext cx="8477865" cy="4525963"/>
          </a:xfrm>
        </p:spPr>
        <p:txBody>
          <a:bodyPr>
            <a:noAutofit/>
          </a:bodyPr>
          <a:lstStyle/>
          <a:p>
            <a:pPr algn="just"/>
            <a:r>
              <a:rPr lang="en-US" sz="2400" dirty="0">
                <a:solidFill>
                  <a:srgbClr val="7030A0"/>
                </a:solidFill>
              </a:rPr>
              <a:t>Interaction Management System </a:t>
            </a:r>
          </a:p>
          <a:p>
            <a:pPr lvl="1" algn="just">
              <a:buFont typeface="Wingdings" panose="05000000000000000000" pitchFamily="2" charset="2"/>
              <a:buChar char="ü"/>
            </a:pPr>
            <a:r>
              <a:rPr lang="en-US" dirty="0"/>
              <a:t>Interaction management is a most comprehensive and complex phase. </a:t>
            </a:r>
          </a:p>
          <a:p>
            <a:pPr lvl="1" algn="just">
              <a:buFont typeface="Wingdings" panose="05000000000000000000" pitchFamily="2" charset="2"/>
              <a:buChar char="ü"/>
            </a:pPr>
            <a:r>
              <a:rPr lang="en-US" dirty="0"/>
              <a:t>It includes assurance of the Integrity, Confidentiality and Non-repudiation principles of a comprehensive security. </a:t>
            </a:r>
          </a:p>
          <a:p>
            <a:pPr algn="just"/>
            <a:r>
              <a:rPr lang="en-US" sz="2400" dirty="0"/>
              <a:t>In user level, we can use various tools such as </a:t>
            </a:r>
            <a:r>
              <a:rPr lang="en-US" sz="2400" dirty="0">
                <a:solidFill>
                  <a:srgbClr val="FF0000"/>
                </a:solidFill>
              </a:rPr>
              <a:t>digital identity token, public key infrastructure (PKI), digital signature, asymmetric key cryptography </a:t>
            </a:r>
            <a:r>
              <a:rPr lang="en-US" sz="2400" dirty="0"/>
              <a:t>etc. to provide or enhance the security at the user level. </a:t>
            </a:r>
          </a:p>
        </p:txBody>
      </p:sp>
    </p:spTree>
    <p:extLst>
      <p:ext uri="{BB962C8B-B14F-4D97-AF65-F5344CB8AC3E}">
        <p14:creationId xmlns:p14="http://schemas.microsoft.com/office/powerpoint/2010/main" val="386611291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lstStyle/>
          <a:p>
            <a:r>
              <a:rPr lang="en-US" dirty="0">
                <a:solidFill>
                  <a:srgbClr val="0070C0"/>
                </a:solidFill>
              </a:rPr>
              <a:t>Security Management</a:t>
            </a:r>
            <a:endParaRPr lang="en-US" dirty="0"/>
          </a:p>
        </p:txBody>
      </p:sp>
      <p:sp>
        <p:nvSpPr>
          <p:cNvPr id="3" name="Content Placeholder 2"/>
          <p:cNvSpPr>
            <a:spLocks noGrp="1"/>
          </p:cNvSpPr>
          <p:nvPr>
            <p:ph idx="1"/>
          </p:nvPr>
        </p:nvSpPr>
        <p:spPr>
          <a:xfrm>
            <a:off x="1981200" y="1064492"/>
            <a:ext cx="8229600" cy="4525963"/>
          </a:xfrm>
        </p:spPr>
        <p:txBody>
          <a:bodyPr/>
          <a:lstStyle/>
          <a:p>
            <a:pPr algn="just"/>
            <a:r>
              <a:rPr lang="en-US" sz="2400" dirty="0">
                <a:solidFill>
                  <a:srgbClr val="FF0000"/>
                </a:solidFill>
              </a:rPr>
              <a:t>Security at Transport Level </a:t>
            </a:r>
          </a:p>
          <a:p>
            <a:pPr lvl="1" algn="just">
              <a:buFont typeface="Wingdings" panose="05000000000000000000" pitchFamily="2" charset="2"/>
              <a:buChar char="ü"/>
            </a:pPr>
            <a:r>
              <a:rPr lang="en-US" dirty="0"/>
              <a:t>In this level we consider about e-governance security in two aspects which are security within LAN and WAN, and the second one is Security over the Internet. </a:t>
            </a:r>
          </a:p>
          <a:p>
            <a:pPr algn="just"/>
            <a:r>
              <a:rPr lang="en-US" sz="2400" dirty="0"/>
              <a:t>This security level is classified into two systems, i.e. </a:t>
            </a:r>
            <a:r>
              <a:rPr lang="en-US" sz="2400" dirty="0">
                <a:solidFill>
                  <a:srgbClr val="00B050"/>
                </a:solidFill>
              </a:rPr>
              <a:t>Secure Communication System and Cryptographic System.</a:t>
            </a:r>
          </a:p>
          <a:p>
            <a:endParaRPr lang="en-US" dirty="0"/>
          </a:p>
        </p:txBody>
      </p:sp>
      <p:pic>
        <p:nvPicPr>
          <p:cNvPr id="4" name="Picture 3"/>
          <p:cNvPicPr>
            <a:picLocks noChangeAspect="1"/>
          </p:cNvPicPr>
          <p:nvPr/>
        </p:nvPicPr>
        <p:blipFill>
          <a:blip r:embed="rId2"/>
          <a:stretch>
            <a:fillRect/>
          </a:stretch>
        </p:blipFill>
        <p:spPr>
          <a:xfrm>
            <a:off x="3505200" y="3810000"/>
            <a:ext cx="5529648" cy="2286000"/>
          </a:xfrm>
          <a:prstGeom prst="rect">
            <a:avLst/>
          </a:prstGeom>
        </p:spPr>
      </p:pic>
    </p:spTree>
    <p:extLst>
      <p:ext uri="{BB962C8B-B14F-4D97-AF65-F5344CB8AC3E}">
        <p14:creationId xmlns:p14="http://schemas.microsoft.com/office/powerpoint/2010/main" val="23109228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61119"/>
            <a:ext cx="8229600" cy="639762"/>
          </a:xfrm>
        </p:spPr>
        <p:txBody>
          <a:bodyPr>
            <a:normAutofit fontScale="90000"/>
          </a:bodyPr>
          <a:lstStyle/>
          <a:p>
            <a:r>
              <a:rPr lang="en-US" dirty="0">
                <a:solidFill>
                  <a:srgbClr val="0070C0"/>
                </a:solidFill>
              </a:rPr>
              <a:t>Security Management</a:t>
            </a:r>
            <a:endParaRPr lang="en-US" dirty="0"/>
          </a:p>
        </p:txBody>
      </p:sp>
      <p:sp>
        <p:nvSpPr>
          <p:cNvPr id="3" name="Content Placeholder 2"/>
          <p:cNvSpPr>
            <a:spLocks noGrp="1"/>
          </p:cNvSpPr>
          <p:nvPr>
            <p:ph idx="1"/>
          </p:nvPr>
        </p:nvSpPr>
        <p:spPr>
          <a:xfrm>
            <a:off x="1905000" y="700881"/>
            <a:ext cx="8229600" cy="5715000"/>
          </a:xfrm>
        </p:spPr>
        <p:txBody>
          <a:bodyPr>
            <a:noAutofit/>
          </a:bodyPr>
          <a:lstStyle/>
          <a:p>
            <a:pPr algn="just"/>
            <a:r>
              <a:rPr lang="en-US" sz="2000" dirty="0">
                <a:solidFill>
                  <a:srgbClr val="FF0000"/>
                </a:solidFill>
              </a:rPr>
              <a:t>Security at ICT Assets level </a:t>
            </a:r>
          </a:p>
          <a:p>
            <a:pPr lvl="1" algn="just">
              <a:buFont typeface="Wingdings" panose="05000000000000000000" pitchFamily="2" charset="2"/>
              <a:buChar char="ü"/>
            </a:pPr>
            <a:r>
              <a:rPr lang="en-US" sz="2000" dirty="0"/>
              <a:t>ICT assets are the most precious for any organization or institution, so to secure this level we have two broad categories of security treatment i.e. Physical security and Electronic security </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solidFill>
                <a:srgbClr val="00B050"/>
              </a:solidFill>
            </a:endParaRPr>
          </a:p>
          <a:p>
            <a:pPr algn="just"/>
            <a:r>
              <a:rPr lang="en-US" sz="2000" dirty="0">
                <a:solidFill>
                  <a:srgbClr val="00B050"/>
                </a:solidFill>
              </a:rPr>
              <a:t>Physical Security </a:t>
            </a:r>
          </a:p>
          <a:p>
            <a:pPr lvl="1" algn="just">
              <a:buFont typeface="Wingdings" panose="05000000000000000000" pitchFamily="2" charset="2"/>
              <a:buChar char="ü"/>
            </a:pPr>
            <a:r>
              <a:rPr lang="en-US" sz="2000" dirty="0"/>
              <a:t>It is used to </a:t>
            </a:r>
            <a:r>
              <a:rPr lang="en-US" sz="2000" dirty="0">
                <a:solidFill>
                  <a:srgbClr val="7030A0"/>
                </a:solidFill>
              </a:rPr>
              <a:t>protect the data against physical damages</a:t>
            </a:r>
            <a:r>
              <a:rPr lang="en-US" sz="2000" dirty="0"/>
              <a:t> or losses like- natural disasters etc. </a:t>
            </a:r>
          </a:p>
          <a:p>
            <a:pPr lvl="1" algn="just">
              <a:buFont typeface="Wingdings" panose="05000000000000000000" pitchFamily="2" charset="2"/>
              <a:buChar char="ü"/>
            </a:pPr>
            <a:r>
              <a:rPr lang="en-US" sz="2000" dirty="0"/>
              <a:t>To protect data in this security level we take some steps such as security level of data centers are highly secured by using biometric-controlled system, in data centers provision of dust-proof environment, fire protection systems, security alarms, CCTV monitoring of data center, automated backup system</a:t>
            </a:r>
          </a:p>
        </p:txBody>
      </p:sp>
      <p:pic>
        <p:nvPicPr>
          <p:cNvPr id="4" name="Picture 3"/>
          <p:cNvPicPr>
            <a:picLocks noChangeAspect="1"/>
          </p:cNvPicPr>
          <p:nvPr/>
        </p:nvPicPr>
        <p:blipFill>
          <a:blip r:embed="rId2"/>
          <a:stretch>
            <a:fillRect/>
          </a:stretch>
        </p:blipFill>
        <p:spPr>
          <a:xfrm>
            <a:off x="3886200" y="2133600"/>
            <a:ext cx="6087880" cy="2057400"/>
          </a:xfrm>
          <a:prstGeom prst="rect">
            <a:avLst/>
          </a:prstGeom>
        </p:spPr>
      </p:pic>
    </p:spTree>
    <p:extLst>
      <p:ext uri="{BB962C8B-B14F-4D97-AF65-F5344CB8AC3E}">
        <p14:creationId xmlns:p14="http://schemas.microsoft.com/office/powerpoint/2010/main" val="125363289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39762"/>
          </a:xfrm>
        </p:spPr>
        <p:txBody>
          <a:bodyPr>
            <a:normAutofit fontScale="90000"/>
          </a:bodyPr>
          <a:lstStyle/>
          <a:p>
            <a:r>
              <a:rPr lang="en-US" dirty="0">
                <a:solidFill>
                  <a:srgbClr val="0070C0"/>
                </a:solidFill>
              </a:rPr>
              <a:t>Security Management</a:t>
            </a:r>
            <a:endParaRPr lang="en-US" dirty="0"/>
          </a:p>
        </p:txBody>
      </p:sp>
      <p:sp>
        <p:nvSpPr>
          <p:cNvPr id="3" name="Content Placeholder 2"/>
          <p:cNvSpPr>
            <a:spLocks noGrp="1"/>
          </p:cNvSpPr>
          <p:nvPr>
            <p:ph idx="1"/>
          </p:nvPr>
        </p:nvSpPr>
        <p:spPr>
          <a:xfrm>
            <a:off x="1828800" y="914400"/>
            <a:ext cx="8229600" cy="5562600"/>
          </a:xfrm>
        </p:spPr>
        <p:txBody>
          <a:bodyPr>
            <a:noAutofit/>
          </a:bodyPr>
          <a:lstStyle/>
          <a:p>
            <a:pPr algn="just"/>
            <a:r>
              <a:rPr lang="en-US" sz="2200" dirty="0">
                <a:solidFill>
                  <a:srgbClr val="00B050"/>
                </a:solidFill>
              </a:rPr>
              <a:t>Electronic Security</a:t>
            </a:r>
          </a:p>
          <a:p>
            <a:pPr lvl="1" algn="just">
              <a:buFont typeface="Wingdings" panose="05000000000000000000" pitchFamily="2" charset="2"/>
              <a:buChar char="ü"/>
            </a:pPr>
            <a:r>
              <a:rPr lang="en-US" sz="1800" dirty="0"/>
              <a:t>To give the protection against digital threats we  use electronic security. </a:t>
            </a:r>
          </a:p>
          <a:p>
            <a:pPr algn="just"/>
            <a:r>
              <a:rPr lang="en-US" sz="2200" dirty="0"/>
              <a:t>We have various electronic security tools, and we can manage them in two categories </a:t>
            </a:r>
          </a:p>
          <a:p>
            <a:pPr marL="0" indent="0" algn="just">
              <a:buNone/>
            </a:pPr>
            <a:endParaRPr lang="en-US" sz="2200" dirty="0"/>
          </a:p>
          <a:p>
            <a:pPr marL="0" indent="0" algn="just">
              <a:buNone/>
            </a:pPr>
            <a:endParaRPr lang="en-US" sz="2200" dirty="0"/>
          </a:p>
          <a:p>
            <a:pPr marL="0" indent="0" algn="just">
              <a:buNone/>
            </a:pPr>
            <a:endParaRPr lang="en-US" sz="2200" dirty="0"/>
          </a:p>
          <a:p>
            <a:pPr marL="0" indent="0" algn="just">
              <a:buNone/>
            </a:pPr>
            <a:endParaRPr lang="en-US" sz="2200" dirty="0">
              <a:solidFill>
                <a:srgbClr val="FF0000"/>
              </a:solidFill>
            </a:endParaRPr>
          </a:p>
          <a:p>
            <a:pPr algn="just">
              <a:buFont typeface="Wingdings" panose="05000000000000000000" pitchFamily="2" charset="2"/>
              <a:buChar char="Ø"/>
            </a:pPr>
            <a:r>
              <a:rPr lang="en-US" sz="2200" dirty="0">
                <a:solidFill>
                  <a:srgbClr val="FF0000"/>
                </a:solidFill>
              </a:rPr>
              <a:t>Anti-virus System</a:t>
            </a:r>
          </a:p>
          <a:p>
            <a:pPr algn="just"/>
            <a:r>
              <a:rPr lang="en-US" sz="2000" dirty="0"/>
              <a:t>When we discuss about </a:t>
            </a:r>
            <a:r>
              <a:rPr lang="en-US" sz="2000" dirty="0">
                <a:solidFill>
                  <a:srgbClr val="00B050"/>
                </a:solidFill>
              </a:rPr>
              <a:t>digital threats </a:t>
            </a:r>
            <a:r>
              <a:rPr lang="en-US" sz="2000" dirty="0"/>
              <a:t>the first thing in our mind is </a:t>
            </a:r>
            <a:r>
              <a:rPr lang="en-US" sz="2000" dirty="0">
                <a:solidFill>
                  <a:srgbClr val="FF0000"/>
                </a:solidFill>
              </a:rPr>
              <a:t>virus,</a:t>
            </a:r>
            <a:r>
              <a:rPr lang="en-US" sz="2000" dirty="0"/>
              <a:t> which affects our ICT assets in various ways such as slowing down of the system, occupy disk space, corrupt  valuable data or storage medium etc. </a:t>
            </a:r>
          </a:p>
          <a:p>
            <a:pPr algn="just"/>
            <a:r>
              <a:rPr lang="en-US" sz="2000" dirty="0"/>
              <a:t>It is also known as malware, worms and Trojan horses. </a:t>
            </a:r>
          </a:p>
          <a:p>
            <a:pPr algn="just"/>
            <a:r>
              <a:rPr lang="en-US" sz="2000" dirty="0"/>
              <a:t>There are “over 1,122,311 known viruses active in the world as of 2008</a:t>
            </a:r>
          </a:p>
        </p:txBody>
      </p:sp>
      <p:pic>
        <p:nvPicPr>
          <p:cNvPr id="5" name="Picture 4"/>
          <p:cNvPicPr>
            <a:picLocks noChangeAspect="1"/>
          </p:cNvPicPr>
          <p:nvPr/>
        </p:nvPicPr>
        <p:blipFill>
          <a:blip r:embed="rId2"/>
          <a:stretch>
            <a:fillRect/>
          </a:stretch>
        </p:blipFill>
        <p:spPr>
          <a:xfrm>
            <a:off x="4857750" y="2133600"/>
            <a:ext cx="5276850" cy="1908014"/>
          </a:xfrm>
          <a:prstGeom prst="rect">
            <a:avLst/>
          </a:prstGeom>
        </p:spPr>
      </p:pic>
    </p:spTree>
    <p:extLst>
      <p:ext uri="{BB962C8B-B14F-4D97-AF65-F5344CB8AC3E}">
        <p14:creationId xmlns:p14="http://schemas.microsoft.com/office/powerpoint/2010/main" val="130497726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0"/>
            <a:ext cx="8229600" cy="868362"/>
          </a:xfrm>
        </p:spPr>
        <p:txBody>
          <a:bodyPr/>
          <a:lstStyle/>
          <a:p>
            <a:r>
              <a:rPr lang="en-US" dirty="0">
                <a:solidFill>
                  <a:srgbClr val="0070C0"/>
                </a:solidFill>
              </a:rPr>
              <a:t>Security Management</a:t>
            </a:r>
            <a:endParaRPr lang="en-US" dirty="0"/>
          </a:p>
        </p:txBody>
      </p:sp>
      <p:sp>
        <p:nvSpPr>
          <p:cNvPr id="3" name="Content Placeholder 2"/>
          <p:cNvSpPr>
            <a:spLocks noGrp="1"/>
          </p:cNvSpPr>
          <p:nvPr>
            <p:ph idx="1"/>
          </p:nvPr>
        </p:nvSpPr>
        <p:spPr>
          <a:xfrm>
            <a:off x="2071687" y="838200"/>
            <a:ext cx="8229600" cy="2590800"/>
          </a:xfrm>
        </p:spPr>
        <p:txBody>
          <a:bodyPr>
            <a:noAutofit/>
          </a:bodyPr>
          <a:lstStyle/>
          <a:p>
            <a:pPr algn="just"/>
            <a:r>
              <a:rPr lang="en-US" sz="2200" dirty="0"/>
              <a:t>Firewalls “A system designed to prevent unauthorized access to or from a private network”. </a:t>
            </a:r>
          </a:p>
          <a:p>
            <a:pPr algn="just"/>
            <a:r>
              <a:rPr lang="en-US" sz="2200" dirty="0"/>
              <a:t>A firewall </a:t>
            </a:r>
            <a:r>
              <a:rPr lang="en-US" sz="2200" dirty="0">
                <a:solidFill>
                  <a:srgbClr val="00B050"/>
                </a:solidFill>
              </a:rPr>
              <a:t>is a security device that can be hardware or software that is mainly use for to separate a secure area from a less secure area </a:t>
            </a:r>
            <a:r>
              <a:rPr lang="en-US" sz="2200" dirty="0"/>
              <a:t>and to control communications between the two. </a:t>
            </a:r>
          </a:p>
          <a:p>
            <a:pPr algn="just"/>
            <a:r>
              <a:rPr lang="en-US" sz="2200" dirty="0"/>
              <a:t>We have several firewall techniques such as Packet filter, Application gateway, Circuit-level gateway, Proxy server. </a:t>
            </a:r>
          </a:p>
          <a:p>
            <a:pPr algn="just"/>
            <a:r>
              <a:rPr lang="en-US" sz="2200" dirty="0"/>
              <a:t>There are many different brands of software firewalls, some of them </a:t>
            </a:r>
            <a:r>
              <a:rPr lang="en-US" sz="2200" dirty="0" err="1"/>
              <a:t>areZoneAlarm</a:t>
            </a:r>
            <a:r>
              <a:rPr lang="en-US" sz="2200" dirty="0"/>
              <a:t>, </a:t>
            </a:r>
            <a:r>
              <a:rPr lang="en-US" sz="2200" dirty="0" err="1"/>
              <a:t>BlackICE</a:t>
            </a:r>
            <a:r>
              <a:rPr lang="en-US" sz="2200" dirty="0"/>
              <a:t> and </a:t>
            </a:r>
            <a:r>
              <a:rPr lang="en-US" sz="2200" dirty="0" err="1"/>
              <a:t>Kerio</a:t>
            </a:r>
            <a:r>
              <a:rPr lang="en-US" sz="2200" dirty="0"/>
              <a:t> etc.</a:t>
            </a:r>
          </a:p>
        </p:txBody>
      </p:sp>
      <p:pic>
        <p:nvPicPr>
          <p:cNvPr id="4" name="Picture 3"/>
          <p:cNvPicPr>
            <a:picLocks noChangeAspect="1"/>
          </p:cNvPicPr>
          <p:nvPr/>
        </p:nvPicPr>
        <p:blipFill>
          <a:blip r:embed="rId2"/>
          <a:stretch>
            <a:fillRect/>
          </a:stretch>
        </p:blipFill>
        <p:spPr>
          <a:xfrm>
            <a:off x="2743201" y="4267201"/>
            <a:ext cx="7038975" cy="2257425"/>
          </a:xfrm>
          <a:prstGeom prst="rect">
            <a:avLst/>
          </a:prstGeom>
        </p:spPr>
      </p:pic>
    </p:spTree>
    <p:extLst>
      <p:ext uri="{BB962C8B-B14F-4D97-AF65-F5344CB8AC3E}">
        <p14:creationId xmlns:p14="http://schemas.microsoft.com/office/powerpoint/2010/main" val="2569843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ACCESS CONTROL MODEL</a:t>
            </a:r>
            <a:endParaRPr lang="en-US" dirty="0"/>
          </a:p>
        </p:txBody>
      </p:sp>
      <p:sp>
        <p:nvSpPr>
          <p:cNvPr id="3" name="Content Placeholder 2"/>
          <p:cNvSpPr>
            <a:spLocks noGrp="1"/>
          </p:cNvSpPr>
          <p:nvPr>
            <p:ph idx="1"/>
          </p:nvPr>
        </p:nvSpPr>
        <p:spPr/>
        <p:txBody>
          <a:bodyPr/>
          <a:lstStyle/>
          <a:p>
            <a:pPr algn="just"/>
            <a:r>
              <a:rPr lang="en-US" i="1" dirty="0"/>
              <a:t>Access control models for e-government systems are crucial for ensuring that only authorized individuals have access to government resources and </a:t>
            </a:r>
            <a:r>
              <a:rPr lang="en-US" i="1" dirty="0" smtClean="0"/>
              <a:t>information.</a:t>
            </a:r>
          </a:p>
          <a:p>
            <a:pPr lvl="1" algn="just"/>
            <a:r>
              <a:rPr lang="en-US" b="1" dirty="0"/>
              <a:t>Role-Based Access Control (RBAC</a:t>
            </a:r>
            <a:r>
              <a:rPr lang="en-US" b="1" dirty="0" smtClean="0"/>
              <a:t>)</a:t>
            </a:r>
          </a:p>
          <a:p>
            <a:pPr lvl="1" algn="just"/>
            <a:r>
              <a:rPr lang="en-US" b="1" dirty="0"/>
              <a:t>Attribute-Based Access Control (ABAC</a:t>
            </a:r>
            <a:r>
              <a:rPr lang="en-US" b="1" dirty="0" smtClean="0"/>
              <a:t>)</a:t>
            </a:r>
          </a:p>
          <a:p>
            <a:pPr lvl="1" algn="just"/>
            <a:r>
              <a:rPr lang="en-US" b="1" dirty="0" smtClean="0"/>
              <a:t>Mandatory </a:t>
            </a:r>
            <a:r>
              <a:rPr lang="en-US" b="1" dirty="0"/>
              <a:t>Access Control (MAC</a:t>
            </a:r>
            <a:r>
              <a:rPr lang="en-US" b="1" dirty="0" smtClean="0"/>
              <a:t>)</a:t>
            </a:r>
          </a:p>
          <a:p>
            <a:pPr lvl="1" algn="just"/>
            <a:r>
              <a:rPr lang="en-US" b="1" dirty="0"/>
              <a:t>Discretionary Access Control (DAC)</a:t>
            </a:r>
            <a:endParaRPr lang="en-US" b="1" dirty="0" smtClean="0"/>
          </a:p>
          <a:p>
            <a:pPr lvl="1" algn="just"/>
            <a:r>
              <a:rPr lang="en-US" b="1" dirty="0"/>
              <a:t>Rule-Based Access Control (RBAC)</a:t>
            </a:r>
            <a:endParaRPr lang="en-US" i="1" dirty="0"/>
          </a:p>
        </p:txBody>
      </p:sp>
    </p:spTree>
    <p:extLst>
      <p:ext uri="{BB962C8B-B14F-4D97-AF65-F5344CB8AC3E}">
        <p14:creationId xmlns:p14="http://schemas.microsoft.com/office/powerpoint/2010/main" val="16155710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5463" y="304800"/>
            <a:ext cx="11188337" cy="5872163"/>
          </a:xfrm>
        </p:spPr>
        <p:txBody>
          <a:bodyPr>
            <a:normAutofit/>
          </a:bodyPr>
          <a:lstStyle/>
          <a:p>
            <a:pPr algn="just"/>
            <a:r>
              <a:rPr lang="en-US" sz="3200" b="1" dirty="0"/>
              <a:t>Role-Based Access Control (RBAC</a:t>
            </a:r>
            <a:r>
              <a:rPr lang="en-US" sz="3200" b="1" dirty="0" smtClean="0"/>
              <a:t>)</a:t>
            </a:r>
          </a:p>
          <a:p>
            <a:pPr lvl="1" algn="just"/>
            <a:r>
              <a:rPr lang="en-US" sz="2800" dirty="0"/>
              <a:t> RBAC is a widely used access control model that assigns permissions to users </a:t>
            </a:r>
            <a:r>
              <a:rPr lang="en-US" sz="2800" b="1" i="1" dirty="0"/>
              <a:t>based on their roles within an organization.</a:t>
            </a:r>
            <a:endParaRPr lang="en-US" sz="2800" dirty="0"/>
          </a:p>
          <a:p>
            <a:pPr lvl="1" algn="just"/>
            <a:r>
              <a:rPr lang="en-US" sz="2800" dirty="0"/>
              <a:t>In the context of e-government, </a:t>
            </a:r>
            <a:r>
              <a:rPr lang="en-US" sz="2800" b="1" i="1" dirty="0"/>
              <a:t>users are typically assigned roles such as citizen, government employee, administrator,</a:t>
            </a:r>
            <a:r>
              <a:rPr lang="en-US" sz="2800" dirty="0"/>
              <a:t> etc. Permissions are then granted based on these roles, allowing users to access only the resources and information necessary for their designated roles.</a:t>
            </a:r>
          </a:p>
          <a:p>
            <a:pPr algn="just"/>
            <a:r>
              <a:rPr lang="en-US" sz="3200" b="1" dirty="0"/>
              <a:t>Attribute-Based Access Control (ABAC</a:t>
            </a:r>
            <a:r>
              <a:rPr lang="en-US" sz="3200" b="1" dirty="0" smtClean="0"/>
              <a:t>)</a:t>
            </a:r>
          </a:p>
          <a:p>
            <a:pPr lvl="1" algn="just"/>
            <a:r>
              <a:rPr lang="en-US" sz="2800" b="1" dirty="0"/>
              <a:t> </a:t>
            </a:r>
            <a:r>
              <a:rPr lang="en-US" sz="2800" dirty="0"/>
              <a:t>ABAC is a more flexible access control model that considers various attributes of users, resources, and the environment when making access control </a:t>
            </a:r>
            <a:r>
              <a:rPr lang="en-US" sz="2800" dirty="0" smtClean="0"/>
              <a:t>decisions.</a:t>
            </a:r>
          </a:p>
          <a:p>
            <a:pPr lvl="1" algn="just"/>
            <a:r>
              <a:rPr lang="en-US" sz="2800" b="1" i="1" dirty="0" smtClean="0"/>
              <a:t>Attributes </a:t>
            </a:r>
            <a:r>
              <a:rPr lang="en-US" sz="2800" b="1" i="1" dirty="0"/>
              <a:t>such as user roles, department, time of access, location</a:t>
            </a:r>
            <a:r>
              <a:rPr lang="en-US" sz="2800" dirty="0"/>
              <a:t> are taken into account.</a:t>
            </a:r>
          </a:p>
        </p:txBody>
      </p:sp>
    </p:spTree>
    <p:extLst>
      <p:ext uri="{BB962C8B-B14F-4D97-AF65-F5344CB8AC3E}">
        <p14:creationId xmlns:p14="http://schemas.microsoft.com/office/powerpoint/2010/main" val="11689509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8343" y="269966"/>
            <a:ext cx="11005457" cy="5906997"/>
          </a:xfrm>
        </p:spPr>
        <p:txBody>
          <a:bodyPr>
            <a:normAutofit lnSpcReduction="10000"/>
          </a:bodyPr>
          <a:lstStyle/>
          <a:p>
            <a:pPr algn="just"/>
            <a:r>
              <a:rPr lang="en-US" b="1" dirty="0"/>
              <a:t>Mandatory Access Control (MAC</a:t>
            </a:r>
            <a:r>
              <a:rPr lang="en-US" b="1" dirty="0" smtClean="0"/>
              <a:t>):</a:t>
            </a:r>
          </a:p>
          <a:p>
            <a:pPr lvl="1" algn="just"/>
            <a:r>
              <a:rPr lang="en-US" dirty="0" smtClean="0"/>
              <a:t>MAC </a:t>
            </a:r>
            <a:r>
              <a:rPr lang="en-US" dirty="0"/>
              <a:t>is a strict access control model where access decisions are based on security labels assigned to both users and resources. Users and resources are assigned sensitivity labels</a:t>
            </a:r>
            <a:r>
              <a:rPr lang="en-US" b="1" i="1" dirty="0"/>
              <a:t> (e.g., confidential, secret, top secret), </a:t>
            </a:r>
            <a:r>
              <a:rPr lang="en-US" dirty="0"/>
              <a:t>and access is granted or denied based on predefined security policies. MAC is commonly used in government and military settings where data confidentiality is paramount.</a:t>
            </a:r>
          </a:p>
          <a:p>
            <a:pPr algn="just"/>
            <a:r>
              <a:rPr lang="en-US" b="1" dirty="0"/>
              <a:t>Discretionary Access Control (DAC</a:t>
            </a:r>
            <a:r>
              <a:rPr lang="en-US" b="1" dirty="0" smtClean="0"/>
              <a:t>)</a:t>
            </a:r>
          </a:p>
          <a:p>
            <a:pPr lvl="1" algn="just"/>
            <a:r>
              <a:rPr lang="en-US" b="1" dirty="0"/>
              <a:t> </a:t>
            </a:r>
            <a:r>
              <a:rPr lang="en-US" dirty="0"/>
              <a:t>DAC is a more flexible access control model where </a:t>
            </a:r>
            <a:r>
              <a:rPr lang="en-US" i="1" dirty="0"/>
              <a:t>resource owners have the discretion to control access to their resources.</a:t>
            </a:r>
            <a:r>
              <a:rPr lang="en-US" dirty="0"/>
              <a:t> Resource owners can grant or revoke access permissions as needed, providing greater autonomy but also requiring careful management of access rights.</a:t>
            </a:r>
          </a:p>
          <a:p>
            <a:pPr algn="just"/>
            <a:r>
              <a:rPr lang="en-US" b="1" dirty="0"/>
              <a:t>Rule-Based Access Control (RBAC</a:t>
            </a:r>
            <a:r>
              <a:rPr lang="en-US" b="1" dirty="0" smtClean="0"/>
              <a:t>)</a:t>
            </a:r>
          </a:p>
          <a:p>
            <a:pPr lvl="1" algn="just"/>
            <a:r>
              <a:rPr lang="en-US" b="1" dirty="0"/>
              <a:t> </a:t>
            </a:r>
            <a:r>
              <a:rPr lang="en-US" dirty="0"/>
              <a:t>RBAC is an access control model that uses rules or policies to govern access decisions. </a:t>
            </a:r>
            <a:r>
              <a:rPr lang="en-US" b="1" i="1" dirty="0"/>
              <a:t>Rules define conditions under which access is granted or denied, based on factors such as user attributes, resource attributes.</a:t>
            </a:r>
            <a:r>
              <a:rPr lang="en-US" dirty="0"/>
              <a:t> RBAC is suitable for e-government systems with complex access control requirements that cannot be adequately addressed by simpler models.</a:t>
            </a:r>
          </a:p>
          <a:p>
            <a:pPr algn="just"/>
            <a:endParaRPr lang="en-US" dirty="0"/>
          </a:p>
        </p:txBody>
      </p:sp>
    </p:spTree>
    <p:extLst>
      <p:ext uri="{BB962C8B-B14F-4D97-AF65-F5344CB8AC3E}">
        <p14:creationId xmlns:p14="http://schemas.microsoft.com/office/powerpoint/2010/main" val="14206348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NIST CONTROL MODEL</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a:t>The NIST (National Institute of Standards and Technology) Cybersecurity Framework provides a comprehensive set of guidelines, best practices, and controls </a:t>
            </a:r>
            <a:r>
              <a:rPr lang="en-US" b="1" i="1" dirty="0"/>
              <a:t>for managing and improving cybersecurity posture within organizations. </a:t>
            </a:r>
            <a:r>
              <a:rPr lang="en-US" dirty="0"/>
              <a:t>It includes a set of controls and recommendations that organizations can implement </a:t>
            </a:r>
            <a:r>
              <a:rPr lang="en-US" b="1" i="1" dirty="0"/>
              <a:t>to enhance their cybersecurity defenses.</a:t>
            </a:r>
            <a:r>
              <a:rPr lang="en-US" dirty="0"/>
              <a:t> These controls are organized into several categories based on the functions of the framework: Identify, Protect, Detect, Respond, and Recover</a:t>
            </a:r>
            <a:r>
              <a:rPr lang="en-US" dirty="0" smtClean="0"/>
              <a:t>.</a:t>
            </a:r>
          </a:p>
          <a:p>
            <a:r>
              <a:rPr lang="en-US" b="1" dirty="0"/>
              <a:t>Identify:</a:t>
            </a:r>
            <a:endParaRPr lang="en-US" dirty="0"/>
          </a:p>
          <a:p>
            <a:pPr lvl="1"/>
            <a:r>
              <a:rPr lang="en-US" dirty="0"/>
              <a:t>Risk Assessment: Conduct regular risk assessments to identify, prioritize, and mitigate cybersecurity risks to the organization</a:t>
            </a:r>
            <a:r>
              <a:rPr lang="en-US" dirty="0" smtClean="0"/>
              <a:t>.</a:t>
            </a:r>
          </a:p>
          <a:p>
            <a:r>
              <a:rPr lang="en-US" b="1" dirty="0"/>
              <a:t>Protect:</a:t>
            </a:r>
            <a:endParaRPr lang="en-US" dirty="0"/>
          </a:p>
          <a:p>
            <a:pPr lvl="1"/>
            <a:r>
              <a:rPr lang="en-US" dirty="0"/>
              <a:t>Access Control: Implement and enforce access controls to ensure that only authorized users and systems can access sensitive information and resources.</a:t>
            </a:r>
          </a:p>
          <a:p>
            <a:pPr marL="457200" lvl="1" indent="0">
              <a:buNone/>
            </a:pPr>
            <a:endParaRPr lang="en-US" dirty="0"/>
          </a:p>
          <a:p>
            <a:pPr algn="just"/>
            <a:endParaRPr lang="en-US" dirty="0"/>
          </a:p>
        </p:txBody>
      </p:sp>
    </p:spTree>
    <p:extLst>
      <p:ext uri="{BB962C8B-B14F-4D97-AF65-F5344CB8AC3E}">
        <p14:creationId xmlns:p14="http://schemas.microsoft.com/office/powerpoint/2010/main" val="11100442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NIST…</a:t>
            </a:r>
            <a:endParaRPr lang="en-US" dirty="0"/>
          </a:p>
        </p:txBody>
      </p:sp>
      <p:sp>
        <p:nvSpPr>
          <p:cNvPr id="3" name="Content Placeholder 2"/>
          <p:cNvSpPr>
            <a:spLocks noGrp="1"/>
          </p:cNvSpPr>
          <p:nvPr>
            <p:ph idx="1"/>
          </p:nvPr>
        </p:nvSpPr>
        <p:spPr/>
        <p:txBody>
          <a:bodyPr>
            <a:normAutofit lnSpcReduction="10000"/>
          </a:bodyPr>
          <a:lstStyle/>
          <a:p>
            <a:r>
              <a:rPr lang="en-US" b="1" dirty="0"/>
              <a:t>Detect:</a:t>
            </a:r>
            <a:endParaRPr lang="en-US" dirty="0"/>
          </a:p>
          <a:p>
            <a:pPr lvl="1"/>
            <a:r>
              <a:rPr lang="en-US" dirty="0"/>
              <a:t>Anomalies and Events: Implement monitoring and detection mechanisms to identify and respond to cybersecurity incidents and suspicious activities in a timely manner.</a:t>
            </a:r>
          </a:p>
          <a:p>
            <a:r>
              <a:rPr lang="en-US" b="1" dirty="0"/>
              <a:t>Respond:</a:t>
            </a:r>
            <a:endParaRPr lang="en-US" dirty="0"/>
          </a:p>
          <a:p>
            <a:pPr lvl="1"/>
            <a:r>
              <a:rPr lang="en-US" dirty="0"/>
              <a:t>Response Planning: Develop and implement incident response plans and procedures to effectively respond to and recover from cybersecurity incidents.</a:t>
            </a:r>
          </a:p>
          <a:p>
            <a:r>
              <a:rPr lang="en-US" b="1" dirty="0"/>
              <a:t>Recover:</a:t>
            </a:r>
            <a:endParaRPr lang="en-US" dirty="0"/>
          </a:p>
          <a:p>
            <a:pPr lvl="1"/>
            <a:r>
              <a:rPr lang="en-US" dirty="0"/>
              <a:t>Recovery Planning: Develop and maintain continuity of operations and disaster recovery plans to ensure timely recovery of information systems and data following cybersecurity incidents.</a:t>
            </a:r>
          </a:p>
        </p:txBody>
      </p:sp>
    </p:spTree>
    <p:extLst>
      <p:ext uri="{BB962C8B-B14F-4D97-AF65-F5344CB8AC3E}">
        <p14:creationId xmlns:p14="http://schemas.microsoft.com/office/powerpoint/2010/main" val="33541456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TECHNICAL MODEL</a:t>
            </a:r>
            <a:endParaRPr lang="en-US" dirty="0"/>
          </a:p>
        </p:txBody>
      </p:sp>
      <p:sp>
        <p:nvSpPr>
          <p:cNvPr id="3" name="Content Placeholder 2"/>
          <p:cNvSpPr>
            <a:spLocks noGrp="1"/>
          </p:cNvSpPr>
          <p:nvPr>
            <p:ph idx="1"/>
          </p:nvPr>
        </p:nvSpPr>
        <p:spPr/>
        <p:txBody>
          <a:bodyPr/>
          <a:lstStyle/>
          <a:p>
            <a:r>
              <a:rPr lang="en-US" b="1" dirty="0"/>
              <a:t>Bell-</a:t>
            </a:r>
            <a:r>
              <a:rPr lang="en-US" b="1" dirty="0" err="1"/>
              <a:t>LaPadula</a:t>
            </a:r>
            <a:r>
              <a:rPr lang="en-US" b="1" dirty="0"/>
              <a:t> </a:t>
            </a:r>
            <a:r>
              <a:rPr lang="en-US" b="1" dirty="0" smtClean="0"/>
              <a:t>Model</a:t>
            </a:r>
          </a:p>
          <a:p>
            <a:r>
              <a:rPr lang="en-US" b="1" dirty="0" err="1"/>
              <a:t>Biba</a:t>
            </a:r>
            <a:r>
              <a:rPr lang="en-US" b="1" dirty="0"/>
              <a:t> Model</a:t>
            </a:r>
            <a:endParaRPr lang="en-US" dirty="0"/>
          </a:p>
          <a:p>
            <a:r>
              <a:rPr lang="en-US" b="1" dirty="0"/>
              <a:t>Clark- Wilson </a:t>
            </a:r>
            <a:r>
              <a:rPr lang="en-US" b="1" dirty="0" smtClean="0"/>
              <a:t>Model</a:t>
            </a:r>
          </a:p>
          <a:p>
            <a:r>
              <a:rPr lang="en-US" b="1" dirty="0"/>
              <a:t>Chinese Wall Model</a:t>
            </a:r>
            <a:endParaRPr lang="en-US" dirty="0"/>
          </a:p>
          <a:p>
            <a:r>
              <a:rPr lang="en-US" b="1" dirty="0"/>
              <a:t>Graham-Denning Access Control Model</a:t>
            </a:r>
            <a:endParaRPr lang="en-US" dirty="0"/>
          </a:p>
          <a:p>
            <a:endParaRPr lang="en-US" dirty="0"/>
          </a:p>
          <a:p>
            <a:endParaRPr lang="en-US" dirty="0"/>
          </a:p>
        </p:txBody>
      </p:sp>
    </p:spTree>
    <p:extLst>
      <p:ext uri="{BB962C8B-B14F-4D97-AF65-F5344CB8AC3E}">
        <p14:creationId xmlns:p14="http://schemas.microsoft.com/office/powerpoint/2010/main" val="18763888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Bell-</a:t>
            </a:r>
            <a:r>
              <a:rPr lang="en-US" b="1" dirty="0" err="1"/>
              <a:t>LaPadula</a:t>
            </a:r>
            <a:r>
              <a:rPr lang="en-US" b="1" dirty="0"/>
              <a:t> Model</a:t>
            </a:r>
          </a:p>
        </p:txBody>
      </p:sp>
      <p:sp>
        <p:nvSpPr>
          <p:cNvPr id="3" name="Content Placeholder 2"/>
          <p:cNvSpPr>
            <a:spLocks noGrp="1"/>
          </p:cNvSpPr>
          <p:nvPr>
            <p:ph idx="1"/>
          </p:nvPr>
        </p:nvSpPr>
        <p:spPr/>
        <p:txBody>
          <a:bodyPr>
            <a:normAutofit fontScale="85000" lnSpcReduction="20000"/>
          </a:bodyPr>
          <a:lstStyle/>
          <a:p>
            <a:pPr algn="just"/>
            <a:r>
              <a:rPr lang="en-US" dirty="0"/>
              <a:t>The BLP model is primarily </a:t>
            </a:r>
            <a:r>
              <a:rPr lang="en-US" b="1" i="1" dirty="0"/>
              <a:t>concerned with enforcing confidentiality policies</a:t>
            </a:r>
            <a:r>
              <a:rPr lang="en-US" dirty="0"/>
              <a:t>, particularly in multi-level security environments where information is classified into different sensitivity </a:t>
            </a:r>
            <a:r>
              <a:rPr lang="en-US" dirty="0" smtClean="0"/>
              <a:t>levels</a:t>
            </a:r>
          </a:p>
          <a:p>
            <a:r>
              <a:rPr lang="en-US" dirty="0"/>
              <a:t>The BLP model defines security levels for both subjects (users or processes) and objects (resources or data). </a:t>
            </a:r>
          </a:p>
          <a:p>
            <a:r>
              <a:rPr lang="en-US" dirty="0"/>
              <a:t>Security levels are typically hierarchical and consist of a set of ordered sensitivity levels, such as "Top Secret," "Secret," "Confidential," and "Unclassified."</a:t>
            </a:r>
          </a:p>
          <a:p>
            <a:r>
              <a:rPr lang="en-US" dirty="0"/>
              <a:t>The Simple Security Property (no read-up) states that a subject at a certain security level (e.g., "Secret") cannot read data at a higher security level (e.g., "Top Secret").</a:t>
            </a:r>
          </a:p>
          <a:p>
            <a:r>
              <a:rPr lang="en-US" dirty="0"/>
              <a:t>The Star Property (no write-down) states that a subject at a certain security level cannot write data to a lower security level.</a:t>
            </a:r>
          </a:p>
          <a:p>
            <a:r>
              <a:rPr lang="en-US" dirty="0"/>
              <a:t>The BLP model introduces a *-property, which ensures that subjects with the same security level cannot interfere with each other's access to objects.</a:t>
            </a:r>
          </a:p>
          <a:p>
            <a:pPr marL="0" indent="0" algn="just">
              <a:buNone/>
            </a:pPr>
            <a:endParaRPr lang="en-US" b="1" dirty="0"/>
          </a:p>
        </p:txBody>
      </p:sp>
    </p:spTree>
    <p:extLst>
      <p:ext uri="{BB962C8B-B14F-4D97-AF65-F5344CB8AC3E}">
        <p14:creationId xmlns:p14="http://schemas.microsoft.com/office/powerpoint/2010/main" val="27606068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3109"/>
            <a:ext cx="10515600" cy="637985"/>
          </a:xfrm>
        </p:spPr>
        <p:txBody>
          <a:bodyPr>
            <a:normAutofit fontScale="90000"/>
          </a:bodyPr>
          <a:lstStyle/>
          <a:p>
            <a:pPr algn="just"/>
            <a:r>
              <a:rPr lang="en-US" b="1" dirty="0" err="1"/>
              <a:t>Biba</a:t>
            </a:r>
            <a:r>
              <a:rPr lang="en-US" b="1" dirty="0"/>
              <a:t> Model</a:t>
            </a:r>
            <a:endParaRPr lang="en-US" dirty="0"/>
          </a:p>
        </p:txBody>
      </p:sp>
      <p:sp>
        <p:nvSpPr>
          <p:cNvPr id="3" name="Content Placeholder 2"/>
          <p:cNvSpPr>
            <a:spLocks noGrp="1"/>
          </p:cNvSpPr>
          <p:nvPr>
            <p:ph idx="1"/>
          </p:nvPr>
        </p:nvSpPr>
        <p:spPr>
          <a:xfrm>
            <a:off x="838200" y="873457"/>
            <a:ext cx="10515600" cy="5303506"/>
          </a:xfrm>
        </p:spPr>
        <p:txBody>
          <a:bodyPr>
            <a:normAutofit fontScale="85000" lnSpcReduction="20000"/>
          </a:bodyPr>
          <a:lstStyle/>
          <a:p>
            <a:pPr algn="just"/>
            <a:r>
              <a:rPr lang="en-US" dirty="0"/>
              <a:t>It </a:t>
            </a:r>
            <a:r>
              <a:rPr lang="en-US" b="1" i="1" dirty="0"/>
              <a:t>primarily focuses on integrity</a:t>
            </a:r>
            <a:r>
              <a:rPr lang="en-US" dirty="0"/>
              <a:t> rather than confidentiality, although it can be used in conjunction with other models to provide comprehensive security. The </a:t>
            </a:r>
            <a:r>
              <a:rPr lang="en-US" dirty="0" err="1"/>
              <a:t>Biba</a:t>
            </a:r>
            <a:r>
              <a:rPr lang="en-US" dirty="0"/>
              <a:t> model is particularly useful in environments where data integrity is of utmost importance, such as financial systems, critical infrastructure, and healthcare.</a:t>
            </a:r>
          </a:p>
          <a:p>
            <a:pPr algn="just"/>
            <a:r>
              <a:rPr lang="en-US" dirty="0"/>
              <a:t>Similar to the Bell-</a:t>
            </a:r>
            <a:r>
              <a:rPr lang="en-US" dirty="0" err="1"/>
              <a:t>LaPadula</a:t>
            </a:r>
            <a:r>
              <a:rPr lang="en-US" dirty="0"/>
              <a:t> model's security levels, the </a:t>
            </a:r>
            <a:r>
              <a:rPr lang="en-US" dirty="0" err="1"/>
              <a:t>Biba</a:t>
            </a:r>
            <a:r>
              <a:rPr lang="en-US" dirty="0"/>
              <a:t> model defines integrity levels for both subjects (users or processes) and objects (resources or data).</a:t>
            </a:r>
          </a:p>
          <a:p>
            <a:pPr algn="just"/>
            <a:r>
              <a:rPr lang="en-US" dirty="0"/>
              <a:t>Integrity levels are often represented as labels and typically follow a hierarchical structure, such as "Low," "Medium," and "High."</a:t>
            </a:r>
          </a:p>
          <a:p>
            <a:pPr algn="just"/>
            <a:r>
              <a:rPr lang="en-US" dirty="0"/>
              <a:t>The Simple Integrity Property (no read-down) states that a subject at a certain integrity level should not read data from objects at a lower integrity level.</a:t>
            </a:r>
          </a:p>
          <a:p>
            <a:pPr algn="just"/>
            <a:r>
              <a:rPr lang="en-US" dirty="0"/>
              <a:t>The Star Integrity Property (no write-up) states that a subject at a certain integrity level should not write data to objects at a higher integrity level.</a:t>
            </a:r>
          </a:p>
          <a:p>
            <a:pPr algn="just"/>
            <a:r>
              <a:rPr lang="en-US" dirty="0"/>
              <a:t>The </a:t>
            </a:r>
            <a:r>
              <a:rPr lang="en-US" dirty="0" err="1"/>
              <a:t>Biba</a:t>
            </a:r>
            <a:r>
              <a:rPr lang="en-US" dirty="0"/>
              <a:t> model also includes a concurrency property, which ensures that subjects with the same integrity level cannot concurrently modify objects to maintain the integrity of the system.</a:t>
            </a:r>
          </a:p>
        </p:txBody>
      </p:sp>
    </p:spTree>
    <p:extLst>
      <p:ext uri="{BB962C8B-B14F-4D97-AF65-F5344CB8AC3E}">
        <p14:creationId xmlns:p14="http://schemas.microsoft.com/office/powerpoint/2010/main" val="27617228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61869"/>
          </a:xfrm>
        </p:spPr>
        <p:txBody>
          <a:bodyPr>
            <a:normAutofit fontScale="90000"/>
          </a:bodyPr>
          <a:lstStyle/>
          <a:p>
            <a:r>
              <a:rPr lang="en-US" b="1" dirty="0"/>
              <a:t>Clark- Wilson Model</a:t>
            </a:r>
          </a:p>
        </p:txBody>
      </p:sp>
      <p:sp>
        <p:nvSpPr>
          <p:cNvPr id="3" name="Content Placeholder 2"/>
          <p:cNvSpPr>
            <a:spLocks noGrp="1"/>
          </p:cNvSpPr>
          <p:nvPr>
            <p:ph idx="1"/>
          </p:nvPr>
        </p:nvSpPr>
        <p:spPr>
          <a:xfrm>
            <a:off x="531223" y="826994"/>
            <a:ext cx="10822577" cy="5349969"/>
          </a:xfrm>
        </p:spPr>
        <p:txBody>
          <a:bodyPr>
            <a:normAutofit fontScale="92500" lnSpcReduction="10000"/>
          </a:bodyPr>
          <a:lstStyle/>
          <a:p>
            <a:pPr algn="just"/>
            <a:r>
              <a:rPr lang="en-US" dirty="0"/>
              <a:t>The Clark-Wilson model is a formal security model designed to address </a:t>
            </a:r>
            <a:r>
              <a:rPr lang="en-US" b="1" i="1" dirty="0"/>
              <a:t>integrity in information systems,</a:t>
            </a:r>
            <a:r>
              <a:rPr lang="en-US" dirty="0"/>
              <a:t> particularly in commercial environments where data consistency and correctness are critical. It was developed by David D. Clark and David R. Wilson in 1987</a:t>
            </a:r>
            <a:r>
              <a:rPr lang="en-US" dirty="0" smtClean="0"/>
              <a:t>.,</a:t>
            </a:r>
            <a:r>
              <a:rPr lang="en-US" dirty="0"/>
              <a:t> </a:t>
            </a:r>
            <a:r>
              <a:rPr lang="en-US" b="1" i="1" dirty="0"/>
              <a:t>the Clark-Wilson model focuses on ensuring that data remains accurate and consistent throughout its lifecycle.</a:t>
            </a:r>
            <a:endParaRPr lang="en-US" dirty="0"/>
          </a:p>
          <a:p>
            <a:pPr marL="0" indent="0" algn="just">
              <a:buNone/>
            </a:pPr>
            <a:r>
              <a:rPr lang="en-US" b="1" dirty="0"/>
              <a:t>Access Control Triple:</a:t>
            </a:r>
            <a:endParaRPr lang="en-US" dirty="0"/>
          </a:p>
          <a:p>
            <a:pPr algn="just"/>
            <a:r>
              <a:rPr lang="en-US" dirty="0"/>
              <a:t>The Clark-Wilson model uses an access control triple to regulate access to data and operations. This triple consists of:</a:t>
            </a:r>
          </a:p>
          <a:p>
            <a:pPr lvl="1" algn="just"/>
            <a:r>
              <a:rPr lang="en-US" dirty="0"/>
              <a:t>Constrained Data Item (CDI): Data items that are subject to integrity constraints and can only be modified through authorized transactions.</a:t>
            </a:r>
          </a:p>
          <a:p>
            <a:pPr lvl="1" algn="just"/>
            <a:r>
              <a:rPr lang="en-US" dirty="0"/>
              <a:t>Transformation Procedure (TP): Procedures or programs that manipulate CDIs to ensure integrity. </a:t>
            </a:r>
            <a:endParaRPr lang="en-US" dirty="0" smtClean="0"/>
          </a:p>
          <a:p>
            <a:pPr lvl="1" algn="just"/>
            <a:r>
              <a:rPr lang="en-US"/>
              <a:t>Integrity Verification Procedure (IVP): Procedures that verify the integrity of transactions and data manipulations performed by TPs.</a:t>
            </a:r>
          </a:p>
          <a:p>
            <a:pPr lvl="1" algn="just"/>
            <a:endParaRPr lang="en-US" dirty="0"/>
          </a:p>
          <a:p>
            <a:pPr marL="0" indent="0" algn="just">
              <a:buNone/>
            </a:pPr>
            <a:endParaRPr lang="en-US" dirty="0"/>
          </a:p>
        </p:txBody>
      </p:sp>
    </p:spTree>
    <p:extLst>
      <p:ext uri="{BB962C8B-B14F-4D97-AF65-F5344CB8AC3E}">
        <p14:creationId xmlns:p14="http://schemas.microsoft.com/office/powerpoint/2010/main" val="10765587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3806" y="478971"/>
            <a:ext cx="10839994" cy="5697992"/>
          </a:xfrm>
        </p:spPr>
        <p:txBody>
          <a:bodyPr>
            <a:normAutofit/>
          </a:bodyPr>
          <a:lstStyle/>
          <a:p>
            <a:pPr algn="just"/>
            <a:r>
              <a:rPr lang="en-US" dirty="0" smtClean="0"/>
              <a:t>This </a:t>
            </a:r>
            <a:r>
              <a:rPr lang="en-US" dirty="0"/>
              <a:t>separation helps prevent unauthorized or fraudulent activities by requiring multiple parties to collaborate for certain operations.</a:t>
            </a:r>
          </a:p>
          <a:p>
            <a:pPr algn="just"/>
            <a:r>
              <a:rPr lang="en-US" dirty="0"/>
              <a:t>An enforcement mechanism ensures that only certified TPs and IVPs are used in the system, preventing unauthorized or malicious modifications to data.</a:t>
            </a:r>
          </a:p>
          <a:p>
            <a:pPr algn="just"/>
            <a:r>
              <a:rPr lang="en-US" dirty="0"/>
              <a:t> The Clark-Wilson model emphasizes the importance of auditability by maintaining a detailed audit trail of all transactions and data manipulations.</a:t>
            </a:r>
          </a:p>
        </p:txBody>
      </p:sp>
    </p:spTree>
    <p:extLst>
      <p:ext uri="{BB962C8B-B14F-4D97-AF65-F5344CB8AC3E}">
        <p14:creationId xmlns:p14="http://schemas.microsoft.com/office/powerpoint/2010/main" val="8636788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3875" y="190500"/>
            <a:ext cx="10829925" cy="504826"/>
          </a:xfrm>
        </p:spPr>
        <p:txBody>
          <a:bodyPr>
            <a:normAutofit fontScale="90000"/>
          </a:bodyPr>
          <a:lstStyle/>
          <a:p>
            <a:r>
              <a:rPr lang="en-US" b="1" dirty="0"/>
              <a:t>Chinese Wall Model</a:t>
            </a:r>
            <a:endParaRPr lang="en-US" dirty="0"/>
          </a:p>
        </p:txBody>
      </p:sp>
      <p:sp>
        <p:nvSpPr>
          <p:cNvPr id="3" name="Content Placeholder 2"/>
          <p:cNvSpPr>
            <a:spLocks noGrp="1"/>
          </p:cNvSpPr>
          <p:nvPr>
            <p:ph idx="1"/>
          </p:nvPr>
        </p:nvSpPr>
        <p:spPr>
          <a:xfrm>
            <a:off x="276225" y="962025"/>
            <a:ext cx="11077575" cy="5214938"/>
          </a:xfrm>
        </p:spPr>
        <p:txBody>
          <a:bodyPr>
            <a:normAutofit lnSpcReduction="10000"/>
          </a:bodyPr>
          <a:lstStyle/>
          <a:p>
            <a:pPr algn="just"/>
            <a:r>
              <a:rPr lang="en-US" dirty="0"/>
              <a:t>The Chinese Wall model, also known as the Brewer and Nash model, is a security model designed to address </a:t>
            </a:r>
            <a:r>
              <a:rPr lang="en-US" b="1" i="1" dirty="0"/>
              <a:t>conflicts of interest in access control policies, particularly in commercial environments where confidentiality and data segregation are critical.</a:t>
            </a:r>
            <a:r>
              <a:rPr lang="en-US" dirty="0"/>
              <a:t> It was introduced by David D. Clark, David R. Wilson, and Jerome H. </a:t>
            </a:r>
            <a:r>
              <a:rPr lang="en-US" dirty="0" err="1"/>
              <a:t>Saltzer</a:t>
            </a:r>
            <a:r>
              <a:rPr lang="en-US" dirty="0"/>
              <a:t> in 1978. The model is named after the concept of a "Chinese Wall" used in business and legal contexts to prevent conflicts of interest</a:t>
            </a:r>
            <a:r>
              <a:rPr lang="en-US" dirty="0" smtClean="0"/>
              <a:t>.</a:t>
            </a:r>
          </a:p>
          <a:p>
            <a:pPr algn="just"/>
            <a:r>
              <a:rPr lang="en-US" b="1" dirty="0"/>
              <a:t>Conflict of Interest:</a:t>
            </a:r>
            <a:endParaRPr lang="en-US" dirty="0"/>
          </a:p>
          <a:p>
            <a:pPr lvl="1" algn="just"/>
            <a:r>
              <a:rPr lang="en-US" dirty="0"/>
              <a:t>The Chinese Wall model addresses scenarios where individuals or entities may have access to sensitive information from multiple competing organizations or entities. For example, in financial services, a consultant may have access to confidential information from multiple clients, and there could be conflicts of interest if the consultant uses information gained from one client to benefit another</a:t>
            </a:r>
            <a:r>
              <a:rPr lang="en-US" dirty="0" smtClean="0"/>
              <a:t>.</a:t>
            </a:r>
            <a:endParaRPr lang="en-US" dirty="0"/>
          </a:p>
        </p:txBody>
      </p:sp>
    </p:spTree>
    <p:extLst>
      <p:ext uri="{BB962C8B-B14F-4D97-AF65-F5344CB8AC3E}">
        <p14:creationId xmlns:p14="http://schemas.microsoft.com/office/powerpoint/2010/main" val="18916928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3350" y="123826"/>
            <a:ext cx="11877675" cy="6143624"/>
          </a:xfrm>
        </p:spPr>
        <p:txBody>
          <a:bodyPr>
            <a:noAutofit/>
          </a:bodyPr>
          <a:lstStyle/>
          <a:p>
            <a:pPr algn="just"/>
            <a:r>
              <a:rPr lang="en-US" b="1" dirty="0"/>
              <a:t>Data Segregation:</a:t>
            </a:r>
            <a:endParaRPr lang="en-US" dirty="0"/>
          </a:p>
          <a:p>
            <a:pPr lvl="1" algn="just"/>
            <a:r>
              <a:rPr lang="en-US" dirty="0"/>
              <a:t>The model focuses on segregating data into distinct categories or "compartments," where each compartment represents a set of information related to a particular organization or entity.</a:t>
            </a:r>
          </a:p>
          <a:p>
            <a:pPr lvl="1" algn="just"/>
            <a:r>
              <a:rPr lang="en-US" dirty="0"/>
              <a:t>Access to data within each compartment is restricted to authorized users who have not previously accessed data from competing compartments. This restriction aims to prevent conflicts of interest and unauthorized information disclosure</a:t>
            </a:r>
            <a:r>
              <a:rPr lang="en-US" dirty="0" smtClean="0"/>
              <a:t>.</a:t>
            </a:r>
          </a:p>
          <a:p>
            <a:r>
              <a:rPr lang="en-US" b="1" dirty="0"/>
              <a:t>Access Control Policy:</a:t>
            </a:r>
            <a:endParaRPr lang="en-US" dirty="0"/>
          </a:p>
          <a:p>
            <a:pPr lvl="1"/>
            <a:r>
              <a:rPr lang="en-US" dirty="0"/>
              <a:t>The Chinese Wall model employs a dynamic access control policy that dynamically enforces access restrictions based on the user's previous access history.</a:t>
            </a:r>
          </a:p>
          <a:p>
            <a:pPr lvl="1"/>
            <a:r>
              <a:rPr lang="en-US" dirty="0"/>
              <a:t>When a user accesses information from a particular compartment, the model ensures that the user is subsequently restricted from accessing information from competing compartments to prevent conflicts of interest.</a:t>
            </a:r>
          </a:p>
          <a:p>
            <a:pPr marL="0" indent="0">
              <a:buNone/>
            </a:pPr>
            <a:endParaRPr lang="en-US" dirty="0"/>
          </a:p>
          <a:p>
            <a:pPr algn="just"/>
            <a:endParaRPr lang="en-US" dirty="0"/>
          </a:p>
        </p:txBody>
      </p:sp>
    </p:spTree>
    <p:extLst>
      <p:ext uri="{BB962C8B-B14F-4D97-AF65-F5344CB8AC3E}">
        <p14:creationId xmlns:p14="http://schemas.microsoft.com/office/powerpoint/2010/main" val="2396050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20725"/>
          </a:xfrm>
        </p:spPr>
        <p:txBody>
          <a:bodyPr/>
          <a:lstStyle/>
          <a:p>
            <a:r>
              <a:rPr lang="en-US" b="1" dirty="0"/>
              <a:t>Graham-Denning Access Control Model</a:t>
            </a:r>
            <a:endParaRPr lang="en-US" dirty="0"/>
          </a:p>
        </p:txBody>
      </p:sp>
      <p:sp>
        <p:nvSpPr>
          <p:cNvPr id="3" name="Content Placeholder 2"/>
          <p:cNvSpPr>
            <a:spLocks noGrp="1"/>
          </p:cNvSpPr>
          <p:nvPr>
            <p:ph idx="1"/>
          </p:nvPr>
        </p:nvSpPr>
        <p:spPr>
          <a:xfrm>
            <a:off x="495300" y="1181100"/>
            <a:ext cx="10858500" cy="4995863"/>
          </a:xfrm>
        </p:spPr>
        <p:txBody>
          <a:bodyPr>
            <a:normAutofit fontScale="85000" lnSpcReduction="20000"/>
          </a:bodyPr>
          <a:lstStyle/>
          <a:p>
            <a:pPr algn="just"/>
            <a:r>
              <a:rPr lang="en-US" dirty="0"/>
              <a:t>The Graham-Denning Access Control Model is a formal model for specifying and analyzing access control policies in computer systems. It was introduced by R.M. Graham and D.C. Denning in 1972. This model provides a framework for defining access control rules and mechanisms to enforce security policies within a computer system.</a:t>
            </a:r>
          </a:p>
          <a:p>
            <a:pPr algn="just"/>
            <a:r>
              <a:rPr lang="en-US" b="1" dirty="0"/>
              <a:t>Entities:</a:t>
            </a:r>
            <a:endParaRPr lang="en-US" dirty="0"/>
          </a:p>
          <a:p>
            <a:pPr lvl="1" algn="just"/>
            <a:r>
              <a:rPr lang="en-US" dirty="0"/>
              <a:t>The model defines several entities, including subjects (users or processes), objects (resources or data), and rights (permissions or operations).</a:t>
            </a:r>
          </a:p>
          <a:p>
            <a:pPr algn="just"/>
            <a:r>
              <a:rPr lang="en-US" b="1" dirty="0"/>
              <a:t>Protection State:</a:t>
            </a:r>
            <a:endParaRPr lang="en-US" dirty="0"/>
          </a:p>
          <a:p>
            <a:pPr lvl="1" algn="just"/>
            <a:r>
              <a:rPr lang="en-US" dirty="0"/>
              <a:t>The protection state of the system is represented by a set of access control rules that specify the allowable operations that subjects can perform on objects</a:t>
            </a:r>
            <a:r>
              <a:rPr lang="en-US" dirty="0" smtClean="0"/>
              <a:t>.</a:t>
            </a:r>
          </a:p>
          <a:p>
            <a:r>
              <a:rPr lang="en-US" b="1" dirty="0"/>
              <a:t>Access Control Matrix:</a:t>
            </a:r>
            <a:endParaRPr lang="en-US" dirty="0"/>
          </a:p>
          <a:p>
            <a:pPr lvl="1"/>
            <a:r>
              <a:rPr lang="en-US" dirty="0"/>
              <a:t>The access control matrix is a central concept in the Graham-Denning model. It is a two-dimensional matrix that represents the access rights of subjects to objects.</a:t>
            </a:r>
          </a:p>
          <a:p>
            <a:pPr lvl="1"/>
            <a:r>
              <a:rPr lang="en-US" dirty="0"/>
              <a:t>Rows of the matrix correspond to subjects, columns correspond to objects, and each cell contains the rights that a subject has over an object</a:t>
            </a:r>
          </a:p>
          <a:p>
            <a:pPr algn="just"/>
            <a:endParaRPr lang="en-US" dirty="0"/>
          </a:p>
        </p:txBody>
      </p:sp>
    </p:spTree>
    <p:extLst>
      <p:ext uri="{BB962C8B-B14F-4D97-AF65-F5344CB8AC3E}">
        <p14:creationId xmlns:p14="http://schemas.microsoft.com/office/powerpoint/2010/main" val="35072643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428625"/>
            <a:ext cx="11201400" cy="5748338"/>
          </a:xfrm>
        </p:spPr>
        <p:txBody>
          <a:bodyPr>
            <a:normAutofit fontScale="92500" lnSpcReduction="10000"/>
          </a:bodyPr>
          <a:lstStyle/>
          <a:p>
            <a:r>
              <a:rPr lang="en-US" b="1" dirty="0"/>
              <a:t>Access Control </a:t>
            </a:r>
            <a:r>
              <a:rPr lang="en-US" b="1" dirty="0" smtClean="0"/>
              <a:t>Operations:</a:t>
            </a:r>
            <a:endParaRPr lang="en-US" dirty="0"/>
          </a:p>
          <a:p>
            <a:pPr marL="0" indent="0">
              <a:buNone/>
            </a:pPr>
            <a:r>
              <a:rPr lang="en-US" dirty="0" smtClean="0"/>
              <a:t>The </a:t>
            </a:r>
            <a:r>
              <a:rPr lang="en-US" dirty="0"/>
              <a:t>model defines three fundamental operations to manipulate the access control matrix:</a:t>
            </a:r>
          </a:p>
          <a:p>
            <a:pPr lvl="1"/>
            <a:r>
              <a:rPr lang="en-US" dirty="0"/>
              <a:t>Grant: Adds rights to a cell in the access control matrix, allowing a subject to access an object.</a:t>
            </a:r>
          </a:p>
          <a:p>
            <a:pPr lvl="1"/>
            <a:r>
              <a:rPr lang="en-US" dirty="0"/>
              <a:t>Revoke: Removes rights from a cell in the access control matrix, restricting a subject's access to an object.</a:t>
            </a:r>
          </a:p>
          <a:p>
            <a:pPr lvl="1"/>
            <a:r>
              <a:rPr lang="en-US" dirty="0"/>
              <a:t>Create: Establishes new entries in the access control matrix to define access rights for new subjects and objects.</a:t>
            </a:r>
          </a:p>
          <a:p>
            <a:r>
              <a:rPr lang="en-US" b="1" dirty="0"/>
              <a:t>Security </a:t>
            </a:r>
            <a:r>
              <a:rPr lang="en-US" b="1" smtClean="0"/>
              <a:t>Properties:</a:t>
            </a:r>
            <a:endParaRPr lang="en-US" dirty="0"/>
          </a:p>
          <a:p>
            <a:pPr marL="0" indent="0">
              <a:buNone/>
            </a:pPr>
            <a:r>
              <a:rPr lang="en-US" smtClean="0"/>
              <a:t>The </a:t>
            </a:r>
            <a:r>
              <a:rPr lang="en-US" dirty="0"/>
              <a:t>Graham-Denning model defines three security properties:</a:t>
            </a:r>
          </a:p>
          <a:p>
            <a:pPr lvl="1"/>
            <a:r>
              <a:rPr lang="en-US" dirty="0"/>
              <a:t>Simple Security Property: A subject can access an object only if it has been granted access rights to that object.</a:t>
            </a:r>
          </a:p>
          <a:p>
            <a:pPr lvl="1"/>
            <a:r>
              <a:rPr lang="en-US" dirty="0"/>
              <a:t>*-Property (Star Property): A subject can pass access rights to another subject only if it possesses those rights.</a:t>
            </a:r>
          </a:p>
          <a:p>
            <a:pPr lvl="1"/>
            <a:r>
              <a:rPr lang="en-US" dirty="0"/>
              <a:t>Discretionary Security Property: A subject can grant access rights to another subject only if it possesses those rights.</a:t>
            </a:r>
          </a:p>
          <a:p>
            <a:endParaRPr lang="en-US" dirty="0"/>
          </a:p>
        </p:txBody>
      </p:sp>
    </p:spTree>
    <p:extLst>
      <p:ext uri="{BB962C8B-B14F-4D97-AF65-F5344CB8AC3E}">
        <p14:creationId xmlns:p14="http://schemas.microsoft.com/office/powerpoint/2010/main" val="41432720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4739" y="40481"/>
            <a:ext cx="8229600" cy="685800"/>
          </a:xfrm>
        </p:spPr>
        <p:txBody>
          <a:bodyPr>
            <a:normAutofit fontScale="90000"/>
          </a:bodyPr>
          <a:lstStyle/>
          <a:p>
            <a:r>
              <a:rPr lang="en-US" dirty="0">
                <a:solidFill>
                  <a:srgbClr val="0070C0"/>
                </a:solidFill>
              </a:rPr>
              <a:t>Security Architecture</a:t>
            </a:r>
          </a:p>
        </p:txBody>
      </p:sp>
      <p:sp>
        <p:nvSpPr>
          <p:cNvPr id="5" name="Content Placeholder 4"/>
          <p:cNvSpPr>
            <a:spLocks noGrp="1"/>
          </p:cNvSpPr>
          <p:nvPr>
            <p:ph idx="1"/>
          </p:nvPr>
        </p:nvSpPr>
        <p:spPr>
          <a:xfrm>
            <a:off x="1976284" y="730899"/>
            <a:ext cx="8229600" cy="3094038"/>
          </a:xfrm>
        </p:spPr>
        <p:txBody>
          <a:bodyPr>
            <a:normAutofit/>
          </a:bodyPr>
          <a:lstStyle/>
          <a:p>
            <a:pPr algn="just"/>
            <a:r>
              <a:rPr lang="en-US" sz="2400" dirty="0"/>
              <a:t>The security architecture of E-governance is a </a:t>
            </a:r>
            <a:r>
              <a:rPr lang="en-US" sz="2400" dirty="0">
                <a:solidFill>
                  <a:srgbClr val="FF0000"/>
                </a:solidFill>
              </a:rPr>
              <a:t>high level document</a:t>
            </a:r>
            <a:r>
              <a:rPr lang="en-US" sz="2400" dirty="0"/>
              <a:t> that set the security goals of e-governance project and describe the procedure that need to be followed by all the e-governance hierarchy such as users, businesses, operators etc. </a:t>
            </a:r>
          </a:p>
          <a:p>
            <a:pPr algn="just"/>
            <a:r>
              <a:rPr lang="en-US" sz="2400" dirty="0"/>
              <a:t>Appropriate legal framework is absolutely essential for the systematic and sustained growth of e-governance</a:t>
            </a:r>
            <a:endParaRPr lang="en-US" sz="2400" dirty="0">
              <a:solidFill>
                <a:srgbClr val="FF0000"/>
              </a:solidFill>
            </a:endParaRPr>
          </a:p>
        </p:txBody>
      </p:sp>
      <p:pic>
        <p:nvPicPr>
          <p:cNvPr id="3" name="Picture 2"/>
          <p:cNvPicPr>
            <a:picLocks noChangeAspect="1"/>
          </p:cNvPicPr>
          <p:nvPr/>
        </p:nvPicPr>
        <p:blipFill>
          <a:blip r:embed="rId2"/>
          <a:stretch>
            <a:fillRect/>
          </a:stretch>
        </p:blipFill>
        <p:spPr>
          <a:xfrm>
            <a:off x="2895600" y="3657600"/>
            <a:ext cx="6667500" cy="2952750"/>
          </a:xfrm>
          <a:prstGeom prst="rect">
            <a:avLst/>
          </a:prstGeom>
        </p:spPr>
      </p:pic>
    </p:spTree>
    <p:extLst>
      <p:ext uri="{BB962C8B-B14F-4D97-AF65-F5344CB8AC3E}">
        <p14:creationId xmlns:p14="http://schemas.microsoft.com/office/powerpoint/2010/main" val="99667616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18474"/>
            <a:ext cx="8991600" cy="667327"/>
          </a:xfrm>
        </p:spPr>
        <p:txBody>
          <a:bodyPr>
            <a:normAutofit fontScale="90000"/>
          </a:bodyPr>
          <a:lstStyle/>
          <a:p>
            <a:r>
              <a:rPr lang="en-US" dirty="0">
                <a:solidFill>
                  <a:srgbClr val="0070C0"/>
                </a:solidFill>
              </a:rPr>
              <a:t>Protection of Public Order and Decency</a:t>
            </a:r>
          </a:p>
        </p:txBody>
      </p:sp>
      <p:sp>
        <p:nvSpPr>
          <p:cNvPr id="3" name="Content Placeholder 2"/>
          <p:cNvSpPr>
            <a:spLocks noGrp="1"/>
          </p:cNvSpPr>
          <p:nvPr>
            <p:ph idx="1"/>
          </p:nvPr>
        </p:nvSpPr>
        <p:spPr>
          <a:xfrm>
            <a:off x="1981200" y="685800"/>
            <a:ext cx="8382000" cy="5562600"/>
          </a:xfrm>
        </p:spPr>
        <p:txBody>
          <a:bodyPr>
            <a:noAutofit/>
          </a:bodyPr>
          <a:lstStyle/>
          <a:p>
            <a:pPr algn="just"/>
            <a:r>
              <a:rPr lang="en-US" sz="2000" dirty="0"/>
              <a:t>The internet is a highly capable of being </a:t>
            </a:r>
            <a:r>
              <a:rPr lang="en-US" sz="2000" dirty="0">
                <a:solidFill>
                  <a:srgbClr val="FF0000"/>
                </a:solidFill>
              </a:rPr>
              <a:t>saturated and versatile medium at the same time. </a:t>
            </a:r>
          </a:p>
          <a:p>
            <a:pPr lvl="1" algn="just">
              <a:buFont typeface="Wingdings" panose="05000000000000000000" pitchFamily="2" charset="2"/>
              <a:buChar char="ü"/>
            </a:pPr>
            <a:r>
              <a:rPr lang="en-US" sz="1600" dirty="0"/>
              <a:t>Its reach is very vast and due to its multimedia capability its impact can be immediate and profound. </a:t>
            </a:r>
          </a:p>
          <a:p>
            <a:pPr algn="just"/>
            <a:r>
              <a:rPr lang="en-US" sz="2000" dirty="0"/>
              <a:t>So the government has to </a:t>
            </a:r>
            <a:r>
              <a:rPr lang="en-US" sz="2000" dirty="0">
                <a:solidFill>
                  <a:srgbClr val="FF0000"/>
                </a:solidFill>
              </a:rPr>
              <a:t>beware of its potential to create a negative impact on society through promotion of terrorism, pornography, communalism, violence </a:t>
            </a:r>
            <a:r>
              <a:rPr lang="en-US" sz="2000" dirty="0"/>
              <a:t>etc. </a:t>
            </a:r>
          </a:p>
          <a:p>
            <a:pPr algn="just"/>
            <a:r>
              <a:rPr lang="en-US" sz="1800" dirty="0"/>
              <a:t>Section 67 of the IT Act 2000 of India makes it a punishable offence to “publish or transmit or cause to be published in the electronic form, an material which is lascivious or appeals to the prurient interest or if its effect is such as to tend to deprave and corrupt persons who are likely, having regard to all relevant circumstances, to read, see or hear the matter contained or embodied in it”. </a:t>
            </a:r>
          </a:p>
          <a:p>
            <a:pPr algn="just"/>
            <a:r>
              <a:rPr lang="en-US" sz="2000" dirty="0"/>
              <a:t>The </a:t>
            </a:r>
            <a:r>
              <a:rPr lang="en-US" sz="2000" dirty="0">
                <a:solidFill>
                  <a:srgbClr val="FF0000"/>
                </a:solidFill>
              </a:rPr>
              <a:t>enormity of the Internet pornography </a:t>
            </a:r>
            <a:r>
              <a:rPr lang="en-US" sz="2000" dirty="0"/>
              <a:t>and immense responsibility of governments in intervention can be gauged from the following statistics on the subject, taken from Internet Filter Review 2004, on 24 October 2003:</a:t>
            </a:r>
          </a:p>
          <a:p>
            <a:pPr lvl="1" algn="just">
              <a:buFont typeface="Wingdings" panose="05000000000000000000" pitchFamily="2" charset="2"/>
              <a:buChar char="ü"/>
            </a:pPr>
            <a:r>
              <a:rPr lang="en-US" sz="1800" dirty="0"/>
              <a:t>Number of pornographic web sites on the internet: 370 million. </a:t>
            </a:r>
          </a:p>
          <a:p>
            <a:pPr lvl="1" algn="just">
              <a:buFont typeface="Wingdings" panose="05000000000000000000" pitchFamily="2" charset="2"/>
              <a:buChar char="ü"/>
            </a:pPr>
            <a:r>
              <a:rPr lang="en-US" sz="1800" dirty="0"/>
              <a:t>Number of child pornographic web sites on the Internet: 100,000. </a:t>
            </a:r>
          </a:p>
          <a:p>
            <a:pPr lvl="1" algn="just">
              <a:buFont typeface="Wingdings" panose="05000000000000000000" pitchFamily="2" charset="2"/>
              <a:buChar char="ü"/>
            </a:pPr>
            <a:r>
              <a:rPr lang="en-US" sz="1800" dirty="0"/>
              <a:t>Size of pornographic industry world-wide: US$ 57 billion.</a:t>
            </a:r>
          </a:p>
          <a:p>
            <a:pPr lvl="1" algn="just">
              <a:buFont typeface="Wingdings" panose="05000000000000000000" pitchFamily="2" charset="2"/>
              <a:buChar char="ü"/>
            </a:pPr>
            <a:r>
              <a:rPr lang="en-US" sz="1800" dirty="0"/>
              <a:t>Size of Internet pornographic industry: US$ 2.5 billion.</a:t>
            </a:r>
          </a:p>
        </p:txBody>
      </p:sp>
    </p:spTree>
    <p:extLst>
      <p:ext uri="{BB962C8B-B14F-4D97-AF65-F5344CB8AC3E}">
        <p14:creationId xmlns:p14="http://schemas.microsoft.com/office/powerpoint/2010/main" val="265861351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39762"/>
          </a:xfrm>
        </p:spPr>
        <p:txBody>
          <a:bodyPr>
            <a:normAutofit fontScale="90000"/>
          </a:bodyPr>
          <a:lstStyle/>
          <a:p>
            <a:r>
              <a:rPr lang="en-US" dirty="0">
                <a:solidFill>
                  <a:srgbClr val="0070C0"/>
                </a:solidFill>
              </a:rPr>
              <a:t>Protection of Privacy of Individuals</a:t>
            </a:r>
          </a:p>
        </p:txBody>
      </p:sp>
      <p:sp>
        <p:nvSpPr>
          <p:cNvPr id="3" name="Content Placeholder 2"/>
          <p:cNvSpPr>
            <a:spLocks noGrp="1"/>
          </p:cNvSpPr>
          <p:nvPr>
            <p:ph idx="1"/>
          </p:nvPr>
        </p:nvSpPr>
        <p:spPr>
          <a:xfrm>
            <a:off x="1999673" y="1066800"/>
            <a:ext cx="8229600" cy="5410200"/>
          </a:xfrm>
        </p:spPr>
        <p:txBody>
          <a:bodyPr>
            <a:normAutofit/>
          </a:bodyPr>
          <a:lstStyle/>
          <a:p>
            <a:pPr algn="just"/>
            <a:r>
              <a:rPr lang="en-US" sz="2400" dirty="0">
                <a:solidFill>
                  <a:srgbClr val="FF0000"/>
                </a:solidFill>
              </a:rPr>
              <a:t>Disclosure of personal information</a:t>
            </a:r>
            <a:r>
              <a:rPr lang="en-US" sz="2400" dirty="0"/>
              <a:t> over the internet raises questions related to the privacy of individuals. </a:t>
            </a:r>
          </a:p>
          <a:p>
            <a:pPr algn="just"/>
            <a:r>
              <a:rPr lang="en-US" sz="2400" dirty="0"/>
              <a:t>The United States passes an Act which is “</a:t>
            </a:r>
            <a:r>
              <a:rPr lang="en-US" sz="2400" dirty="0">
                <a:solidFill>
                  <a:srgbClr val="FF0000"/>
                </a:solidFill>
              </a:rPr>
              <a:t>The Privacy Act of 1974</a:t>
            </a:r>
            <a:r>
              <a:rPr lang="en-US" sz="2400" dirty="0"/>
              <a:t>”. </a:t>
            </a:r>
          </a:p>
          <a:p>
            <a:pPr algn="just"/>
            <a:r>
              <a:rPr lang="en-US" sz="2400" dirty="0"/>
              <a:t>According to this Act </a:t>
            </a:r>
            <a:r>
              <a:rPr lang="en-US" sz="2400" dirty="0">
                <a:solidFill>
                  <a:srgbClr val="00B050"/>
                </a:solidFill>
              </a:rPr>
              <a:t>any organization should followed some steps when it gathered any personal information </a:t>
            </a:r>
            <a:r>
              <a:rPr lang="en-US" sz="2400" dirty="0"/>
              <a:t>of any individual- Notice, Choice, Onward Transfer and Security</a:t>
            </a:r>
          </a:p>
        </p:txBody>
      </p:sp>
    </p:spTree>
    <p:extLst>
      <p:ext uri="{BB962C8B-B14F-4D97-AF65-F5344CB8AC3E}">
        <p14:creationId xmlns:p14="http://schemas.microsoft.com/office/powerpoint/2010/main" val="396560012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noAutofit/>
          </a:bodyPr>
          <a:lstStyle/>
          <a:p>
            <a:r>
              <a:rPr lang="en-US" sz="3600" dirty="0">
                <a:solidFill>
                  <a:srgbClr val="0070C0"/>
                </a:solidFill>
              </a:rPr>
              <a:t>Providing Legal Status to Digital Identities and Transactions</a:t>
            </a:r>
          </a:p>
        </p:txBody>
      </p:sp>
      <p:sp>
        <p:nvSpPr>
          <p:cNvPr id="3" name="Content Placeholder 2"/>
          <p:cNvSpPr>
            <a:spLocks noGrp="1"/>
          </p:cNvSpPr>
          <p:nvPr>
            <p:ph idx="1"/>
          </p:nvPr>
        </p:nvSpPr>
        <p:spPr>
          <a:xfrm>
            <a:off x="1981200" y="1219200"/>
            <a:ext cx="8229600" cy="5181600"/>
          </a:xfrm>
        </p:spPr>
        <p:txBody>
          <a:bodyPr>
            <a:normAutofit fontScale="85000" lnSpcReduction="20000"/>
          </a:bodyPr>
          <a:lstStyle/>
          <a:p>
            <a:pPr algn="just"/>
            <a:r>
              <a:rPr lang="en-US" sz="3100" dirty="0"/>
              <a:t>One of the </a:t>
            </a:r>
            <a:r>
              <a:rPr lang="en-US" sz="3100" dirty="0">
                <a:solidFill>
                  <a:srgbClr val="00B050"/>
                </a:solidFill>
              </a:rPr>
              <a:t>fundamental requirements </a:t>
            </a:r>
            <a:r>
              <a:rPr lang="en-US" sz="3100" dirty="0"/>
              <a:t>of e-governance projects is </a:t>
            </a:r>
            <a:r>
              <a:rPr lang="en-US" sz="3100" dirty="0">
                <a:solidFill>
                  <a:srgbClr val="FF0000"/>
                </a:solidFill>
              </a:rPr>
              <a:t>its ability to create and sustain the operations of government agencies</a:t>
            </a:r>
            <a:r>
              <a:rPr lang="en-US" sz="3100" dirty="0"/>
              <a:t> as well as private agencies. </a:t>
            </a:r>
          </a:p>
          <a:p>
            <a:pPr algn="just"/>
            <a:r>
              <a:rPr lang="en-US" sz="3100" dirty="0"/>
              <a:t>So it’s very necessary to </a:t>
            </a:r>
            <a:r>
              <a:rPr lang="en-US" sz="3100" dirty="0">
                <a:solidFill>
                  <a:srgbClr val="00B050"/>
                </a:solidFill>
              </a:rPr>
              <a:t>consult legal status of entities and actions</a:t>
            </a:r>
            <a:r>
              <a:rPr lang="en-US" sz="3100" dirty="0"/>
              <a:t> such as ‘</a:t>
            </a:r>
            <a:r>
              <a:rPr lang="en-US" sz="3100" dirty="0">
                <a:solidFill>
                  <a:srgbClr val="FF0000"/>
                </a:solidFill>
              </a:rPr>
              <a:t>legal status </a:t>
            </a:r>
            <a:r>
              <a:rPr lang="en-US" sz="3100" dirty="0"/>
              <a:t>is to be provided to the digital identities’, ‘provide the </a:t>
            </a:r>
            <a:r>
              <a:rPr lang="en-US" sz="3100" dirty="0">
                <a:solidFill>
                  <a:srgbClr val="FF0000"/>
                </a:solidFill>
              </a:rPr>
              <a:t>legal recognition </a:t>
            </a:r>
            <a:r>
              <a:rPr lang="en-US" sz="3100" dirty="0"/>
              <a:t>to digital assets’, ‘ provide a </a:t>
            </a:r>
            <a:r>
              <a:rPr lang="en-US" sz="3100" dirty="0">
                <a:solidFill>
                  <a:srgbClr val="FF0000"/>
                </a:solidFill>
              </a:rPr>
              <a:t>digital authority to digital transactions</a:t>
            </a:r>
            <a:r>
              <a:rPr lang="en-US" sz="3100" dirty="0"/>
              <a:t>, these transactions could be in the areas of G2G, G2B,G2C </a:t>
            </a:r>
            <a:r>
              <a:rPr lang="en-US" sz="3100" dirty="0" err="1"/>
              <a:t>etc</a:t>
            </a:r>
            <a:r>
              <a:rPr lang="en-US" sz="3100" dirty="0"/>
              <a:t>’. ‘</a:t>
            </a:r>
            <a:r>
              <a:rPr lang="en-US" sz="3100" dirty="0">
                <a:solidFill>
                  <a:srgbClr val="00B050"/>
                </a:solidFill>
              </a:rPr>
              <a:t>Agreements and contracts in digital form</a:t>
            </a:r>
            <a:r>
              <a:rPr lang="en-US" sz="3100" dirty="0"/>
              <a:t>’. </a:t>
            </a:r>
          </a:p>
          <a:p>
            <a:pPr algn="just"/>
            <a:r>
              <a:rPr lang="en-US" sz="3100" dirty="0"/>
              <a:t>To providing the authority to any legal digital transaction or deal the Indian government gave ‘</a:t>
            </a:r>
            <a:r>
              <a:rPr lang="en-US" sz="3100" dirty="0">
                <a:solidFill>
                  <a:srgbClr val="FF0000"/>
                </a:solidFill>
              </a:rPr>
              <a:t>Information Technology Act 2000</a:t>
            </a:r>
            <a:r>
              <a:rPr lang="en-US" sz="3100" dirty="0"/>
              <a:t>’ in October 2000. </a:t>
            </a:r>
          </a:p>
          <a:p>
            <a:pPr algn="just"/>
            <a:r>
              <a:rPr lang="en-US" sz="3100" dirty="0"/>
              <a:t>It specifically takes care of all the issues mentioned above. </a:t>
            </a:r>
          </a:p>
          <a:p>
            <a:pPr algn="just"/>
            <a:r>
              <a:rPr lang="en-US" sz="3100" dirty="0"/>
              <a:t>India followed some provisions of ‘</a:t>
            </a:r>
            <a:r>
              <a:rPr lang="en-US" sz="3100" dirty="0">
                <a:solidFill>
                  <a:srgbClr val="FF0000"/>
                </a:solidFill>
              </a:rPr>
              <a:t>Electronic transaction Act 1998</a:t>
            </a:r>
            <a:r>
              <a:rPr lang="en-US" sz="3100" dirty="0"/>
              <a:t> (Singapore)’ closely while drafting the IT Act 2000</a:t>
            </a:r>
            <a:r>
              <a:rPr lang="en-US" dirty="0"/>
              <a:t>.</a:t>
            </a:r>
          </a:p>
        </p:txBody>
      </p:sp>
    </p:spTree>
    <p:extLst>
      <p:ext uri="{BB962C8B-B14F-4D97-AF65-F5344CB8AC3E}">
        <p14:creationId xmlns:p14="http://schemas.microsoft.com/office/powerpoint/2010/main" val="335273377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Security Reference Architecture Framework</a:t>
            </a:r>
            <a:endParaRPr lang="en-US" dirty="0"/>
          </a:p>
        </p:txBody>
      </p:sp>
      <p:sp>
        <p:nvSpPr>
          <p:cNvPr id="3" name="Content Placeholder 2"/>
          <p:cNvSpPr>
            <a:spLocks noGrp="1"/>
          </p:cNvSpPr>
          <p:nvPr>
            <p:ph idx="1"/>
          </p:nvPr>
        </p:nvSpPr>
        <p:spPr/>
        <p:txBody>
          <a:bodyPr/>
          <a:lstStyle/>
          <a:p>
            <a:r>
              <a:rPr lang="en-US" dirty="0" smtClean="0"/>
              <a:t>Is derived and designed to use security measure across the entire government ICT security domain. </a:t>
            </a:r>
            <a:endParaRPr lang="en-US" dirty="0"/>
          </a:p>
        </p:txBody>
      </p:sp>
    </p:spTree>
    <p:extLst>
      <p:ext uri="{BB962C8B-B14F-4D97-AF65-F5344CB8AC3E}">
        <p14:creationId xmlns:p14="http://schemas.microsoft.com/office/powerpoint/2010/main" val="344170123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72736" y="176645"/>
            <a:ext cx="11913589" cy="6421581"/>
          </a:xfrm>
          <a:prstGeom prst="rect">
            <a:avLst/>
          </a:prstGeom>
        </p:spPr>
      </p:pic>
    </p:spTree>
    <p:extLst>
      <p:ext uri="{BB962C8B-B14F-4D97-AF65-F5344CB8AC3E}">
        <p14:creationId xmlns:p14="http://schemas.microsoft.com/office/powerpoint/2010/main" val="56336679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Security layers descriptions</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b="1" dirty="0"/>
              <a:t>Network Security:</a:t>
            </a:r>
            <a:r>
              <a:rPr lang="en-US" dirty="0"/>
              <a:t> (authentication, firewall protection, network intrusion detections,)</a:t>
            </a:r>
          </a:p>
          <a:p>
            <a:pPr algn="just"/>
            <a:r>
              <a:rPr lang="en-US" b="1" dirty="0"/>
              <a:t>Application Security:</a:t>
            </a:r>
            <a:r>
              <a:rPr lang="en-US" dirty="0"/>
              <a:t> use of software, hardware, and procedural methods to protect applications from external threats. </a:t>
            </a:r>
          </a:p>
          <a:p>
            <a:pPr algn="just"/>
            <a:r>
              <a:rPr lang="en-US" b="1" dirty="0"/>
              <a:t>Personnel/User Security:</a:t>
            </a:r>
            <a:r>
              <a:rPr lang="en-US" dirty="0"/>
              <a:t> various authentication mechanisms for verification of user identify such as two-factor authentication, biometrics </a:t>
            </a:r>
          </a:p>
          <a:p>
            <a:pPr algn="just"/>
            <a:r>
              <a:rPr lang="en-US" b="1" dirty="0"/>
              <a:t>Data Security:</a:t>
            </a:r>
            <a:r>
              <a:rPr lang="en-US" dirty="0"/>
              <a:t> deals with security mechanism adopted for keeping data protected from corruption and unauthorized access to ensure data privacy </a:t>
            </a:r>
          </a:p>
          <a:p>
            <a:pPr algn="just"/>
            <a:r>
              <a:rPr lang="en-US" b="1" dirty="0"/>
              <a:t>Platform /Host Security:</a:t>
            </a:r>
            <a:r>
              <a:rPr lang="en-US" dirty="0"/>
              <a:t> Platform security deals with the security mechanisms adopted on servers, workstations and operating systems. </a:t>
            </a:r>
          </a:p>
          <a:p>
            <a:pPr algn="just"/>
            <a:r>
              <a:rPr lang="en-US" b="1" dirty="0"/>
              <a:t>Physical Security:</a:t>
            </a:r>
            <a:r>
              <a:rPr lang="en-US" dirty="0"/>
              <a:t> Physical security refers to the security characteristics concerned with restricting physical access by unauthorized personnel</a:t>
            </a:r>
          </a:p>
        </p:txBody>
      </p:sp>
    </p:spTree>
    <p:extLst>
      <p:ext uri="{BB962C8B-B14F-4D97-AF65-F5344CB8AC3E}">
        <p14:creationId xmlns:p14="http://schemas.microsoft.com/office/powerpoint/2010/main" val="123425438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Cross pillar</a:t>
            </a:r>
            <a:endParaRPr lang="en-US" dirty="0"/>
          </a:p>
        </p:txBody>
      </p:sp>
      <p:sp>
        <p:nvSpPr>
          <p:cNvPr id="3" name="Content Placeholder 2"/>
          <p:cNvSpPr>
            <a:spLocks noGrp="1"/>
          </p:cNvSpPr>
          <p:nvPr>
            <p:ph idx="1"/>
          </p:nvPr>
        </p:nvSpPr>
        <p:spPr/>
        <p:txBody>
          <a:bodyPr>
            <a:normAutofit fontScale="92500"/>
          </a:bodyPr>
          <a:lstStyle/>
          <a:p>
            <a:pPr algn="just"/>
            <a:r>
              <a:rPr lang="en-US" b="1" dirty="0"/>
              <a:t>Incident Response:</a:t>
            </a:r>
            <a:r>
              <a:rPr lang="en-US" dirty="0"/>
              <a:t> to address and manage any security breach or attack. </a:t>
            </a:r>
          </a:p>
          <a:p>
            <a:pPr algn="just"/>
            <a:r>
              <a:rPr lang="en-US" b="1" dirty="0"/>
              <a:t>Business Continuity and ICT Disaster Recovery:</a:t>
            </a:r>
            <a:r>
              <a:rPr lang="en-US" dirty="0"/>
              <a:t>  ensure that essential business functions and ICT operations can continue during and after a disaster. </a:t>
            </a:r>
          </a:p>
          <a:p>
            <a:pPr algn="just"/>
            <a:r>
              <a:rPr lang="en-US" b="1" dirty="0"/>
              <a:t>Threat and Vulnerability Management:</a:t>
            </a:r>
            <a:r>
              <a:rPr lang="en-US" dirty="0"/>
              <a:t> to identify risks and mitigation control in the ICT environment.</a:t>
            </a:r>
          </a:p>
          <a:p>
            <a:pPr algn="just"/>
            <a:r>
              <a:rPr lang="en-US" b="1" dirty="0"/>
              <a:t>ICT Asset Management:</a:t>
            </a:r>
            <a:r>
              <a:rPr lang="en-US" dirty="0"/>
              <a:t> to manage ICT assets throughout their lifecycle</a:t>
            </a:r>
          </a:p>
          <a:p>
            <a:pPr algn="just"/>
            <a:r>
              <a:rPr lang="en-US" b="1" dirty="0"/>
              <a:t>Measurement and Reporting:</a:t>
            </a:r>
            <a:r>
              <a:rPr lang="en-US" dirty="0"/>
              <a:t> provides information on the health check of the ICT appliances and Systems.</a:t>
            </a:r>
          </a:p>
        </p:txBody>
      </p:sp>
    </p:spTree>
    <p:extLst>
      <p:ext uri="{BB962C8B-B14F-4D97-AF65-F5344CB8AC3E}">
        <p14:creationId xmlns:p14="http://schemas.microsoft.com/office/powerpoint/2010/main" val="35314830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Security Standard</a:t>
            </a:r>
            <a:endParaRPr lang="en-US" dirty="0"/>
          </a:p>
        </p:txBody>
      </p:sp>
      <p:sp>
        <p:nvSpPr>
          <p:cNvPr id="3" name="Content Placeholder 2"/>
          <p:cNvSpPr>
            <a:spLocks noGrp="1"/>
          </p:cNvSpPr>
          <p:nvPr>
            <p:ph idx="1"/>
          </p:nvPr>
        </p:nvSpPr>
        <p:spPr/>
        <p:txBody>
          <a:bodyPr/>
          <a:lstStyle/>
          <a:p>
            <a:pPr algn="just"/>
            <a:r>
              <a:rPr lang="en-US" dirty="0"/>
              <a:t>Security standards are guidelines and best practices established to ensure the confidentiality, integrity, and availability of information, systems, and processes within an organization. </a:t>
            </a:r>
            <a:endParaRPr lang="en-US" dirty="0" smtClean="0"/>
          </a:p>
          <a:p>
            <a:pPr algn="just"/>
            <a:r>
              <a:rPr lang="en-US" dirty="0" smtClean="0"/>
              <a:t>These </a:t>
            </a:r>
            <a:r>
              <a:rPr lang="en-US" dirty="0"/>
              <a:t>standards help organizations protect their assets from various threats, including cyber attacks, unauthorized access, and data breaches. </a:t>
            </a:r>
            <a:endParaRPr lang="en-US" dirty="0" smtClean="0"/>
          </a:p>
          <a:p>
            <a:pPr algn="just"/>
            <a:r>
              <a:rPr lang="en-US" dirty="0" smtClean="0"/>
              <a:t>Different </a:t>
            </a:r>
            <a:r>
              <a:rPr lang="en-US" dirty="0"/>
              <a:t>industries and regions may have specific security standards, and compliance with these standards is often essential for regulatory and legal reasons.</a:t>
            </a:r>
          </a:p>
        </p:txBody>
      </p:sp>
    </p:spTree>
    <p:extLst>
      <p:ext uri="{BB962C8B-B14F-4D97-AF65-F5344CB8AC3E}">
        <p14:creationId xmlns:p14="http://schemas.microsoft.com/office/powerpoint/2010/main" val="40415579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3645"/>
          </a:xfrm>
        </p:spPr>
        <p:txBody>
          <a:bodyPr/>
          <a:lstStyle/>
          <a:p>
            <a:r>
              <a:rPr lang="en-US" b="1" dirty="0"/>
              <a:t>Some Security Standards</a:t>
            </a:r>
            <a:endParaRPr lang="en-US" dirty="0"/>
          </a:p>
        </p:txBody>
      </p:sp>
      <p:sp>
        <p:nvSpPr>
          <p:cNvPr id="3" name="Content Placeholder 2"/>
          <p:cNvSpPr>
            <a:spLocks noGrp="1"/>
          </p:cNvSpPr>
          <p:nvPr>
            <p:ph idx="1"/>
          </p:nvPr>
        </p:nvSpPr>
        <p:spPr>
          <a:xfrm>
            <a:off x="838200" y="1303361"/>
            <a:ext cx="10515600" cy="4873602"/>
          </a:xfrm>
        </p:spPr>
        <p:txBody>
          <a:bodyPr>
            <a:normAutofit fontScale="85000" lnSpcReduction="20000"/>
          </a:bodyPr>
          <a:lstStyle/>
          <a:p>
            <a:pPr algn="just"/>
            <a:r>
              <a:rPr lang="en-US" b="1" dirty="0"/>
              <a:t>ISO/IEC 27001:</a:t>
            </a:r>
            <a:r>
              <a:rPr lang="en-US" dirty="0"/>
              <a:t> This is an international standard for information security management systems (ISMS). It provides a systematic approach to managing sensitive company information and ensuring its confidentiality, integrity, and availability.</a:t>
            </a:r>
          </a:p>
          <a:p>
            <a:pPr algn="just"/>
            <a:r>
              <a:rPr lang="en-US" b="1" dirty="0"/>
              <a:t>NIST Framework for Improving Critical Infrastructure Cybersecurity: </a:t>
            </a:r>
            <a:r>
              <a:rPr lang="en-US" dirty="0"/>
              <a:t>Developed by the National Institute of Standards and Technology (NIST) in the United States, this framework provides a set of standards, guidelines, and best practices for improving the cybersecurity posture of critical infrastructure organizations.</a:t>
            </a:r>
          </a:p>
          <a:p>
            <a:pPr algn="just"/>
            <a:r>
              <a:rPr lang="en-US" b="1" dirty="0"/>
              <a:t>PCI DSS (Payment Card Industry Data Security Standard): </a:t>
            </a:r>
            <a:r>
              <a:rPr lang="en-US" dirty="0"/>
              <a:t>Specifically designed for organizations that handle credit card transactions, PCI DSS outlines security requirements to protect cardholder data. Compliance is mandatory for businesses that process credit card payments.</a:t>
            </a:r>
          </a:p>
          <a:p>
            <a:pPr algn="just"/>
            <a:r>
              <a:rPr lang="en-US" b="1" dirty="0"/>
              <a:t>HIPAA (Health Insurance Portability and Accountability Act):</a:t>
            </a:r>
            <a:r>
              <a:rPr lang="en-US" dirty="0"/>
              <a:t> This U.S. standard is focused on protecting the privacy and security of patient information in the healthcare industry. It sets standards for the electronic exchange of health information.</a:t>
            </a:r>
          </a:p>
        </p:txBody>
      </p:sp>
    </p:spTree>
    <p:extLst>
      <p:ext uri="{BB962C8B-B14F-4D97-AF65-F5344CB8AC3E}">
        <p14:creationId xmlns:p14="http://schemas.microsoft.com/office/powerpoint/2010/main" val="16522812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3427" y="300251"/>
            <a:ext cx="11060373" cy="5876712"/>
          </a:xfrm>
        </p:spPr>
        <p:txBody>
          <a:bodyPr>
            <a:normAutofit fontScale="92500" lnSpcReduction="20000"/>
          </a:bodyPr>
          <a:lstStyle/>
          <a:p>
            <a:pPr algn="just"/>
            <a:r>
              <a:rPr lang="en-US" b="1" dirty="0"/>
              <a:t>GDPR (General Data Protection Regulation): </a:t>
            </a:r>
            <a:r>
              <a:rPr lang="en-US" dirty="0"/>
              <a:t>Applicable to organizations operating within the European Union (EU), GDPR outlines rules and regulations concerning the protection of personal data of EU citizens. It applies to any organization, regardless of its location, that processes the personal data of EU residents.</a:t>
            </a:r>
          </a:p>
          <a:p>
            <a:pPr algn="just"/>
            <a:r>
              <a:rPr lang="en-US" b="1" dirty="0"/>
              <a:t>CIS Controls (Center for Internet Security Controls):</a:t>
            </a:r>
            <a:r>
              <a:rPr lang="en-US" dirty="0"/>
              <a:t> Developed by the Center for Internet Security, these controls provide a set of best practices to help organizations improve their cybersecurity posture and protect against common cyber threats.</a:t>
            </a:r>
          </a:p>
          <a:p>
            <a:pPr algn="just"/>
            <a:r>
              <a:rPr lang="en-US" b="1" dirty="0"/>
              <a:t>FISMA (Federal Information Security Management Act): </a:t>
            </a:r>
            <a:r>
              <a:rPr lang="en-US" dirty="0"/>
              <a:t>In the United States, FISMA sets guidelines and standards for securing federal government information systems. It requires federal agencies to develop, document, and implement information security programs.</a:t>
            </a:r>
          </a:p>
          <a:p>
            <a:pPr algn="just"/>
            <a:r>
              <a:rPr lang="en-US" b="1" dirty="0"/>
              <a:t>SOC 2 (Service Organization Control 2):</a:t>
            </a:r>
            <a:r>
              <a:rPr lang="en-US" dirty="0"/>
              <a:t> Developed by the American Institute of Certified Public Accountants</a:t>
            </a:r>
            <a:r>
              <a:rPr lang="en-US" dirty="0" smtClean="0"/>
              <a:t> </a:t>
            </a:r>
            <a:r>
              <a:rPr lang="en-US" dirty="0"/>
              <a:t>(AICPA), SOC 2 defines criteria for managing and securing sensitive data stored in the cloud. It is often used by technology and cloud service providers to demonstrate their commitment to security.</a:t>
            </a:r>
          </a:p>
          <a:p>
            <a:pPr algn="just"/>
            <a:r>
              <a:rPr lang="en-US" dirty="0"/>
              <a:t> </a:t>
            </a:r>
          </a:p>
        </p:txBody>
      </p:sp>
    </p:spTree>
    <p:extLst>
      <p:ext uri="{BB962C8B-B14F-4D97-AF65-F5344CB8AC3E}">
        <p14:creationId xmlns:p14="http://schemas.microsoft.com/office/powerpoint/2010/main" val="6369229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Need of e-governance security standard</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t>Security standards are crucial for e-governance to protect sensitive citizen data, ensure service delivery, and maintain public trust. Without robust security measures, e-government systems are vulnerable to cyber threats, data breaches, and privacy violations, potentially undermining the entire system and eroding public confidence. </a:t>
            </a:r>
            <a:endParaRPr lang="en-US" dirty="0" smtClean="0"/>
          </a:p>
          <a:p>
            <a:pPr marL="0" indent="0" algn="just">
              <a:buNone/>
            </a:pPr>
            <a:r>
              <a:rPr lang="en-US" sz="3000" b="1" dirty="0" smtClean="0"/>
              <a:t>Security standard is needed for</a:t>
            </a:r>
          </a:p>
          <a:p>
            <a:pPr marL="514350" indent="-514350" fontAlgn="ctr">
              <a:buFont typeface="+mj-lt"/>
              <a:buAutoNum type="alphaLcParenR"/>
            </a:pPr>
            <a:r>
              <a:rPr lang="en-US" dirty="0"/>
              <a:t>Protecting Sensitive Data: </a:t>
            </a:r>
          </a:p>
          <a:p>
            <a:pPr lvl="1" algn="just"/>
            <a:r>
              <a:rPr lang="en-US" dirty="0"/>
              <a:t>E-government systems handle vast amounts of personal and confidential information, including financial details, health records, and other sensitive data.</a:t>
            </a:r>
          </a:p>
          <a:p>
            <a:pPr lvl="1" algn="just"/>
            <a:r>
              <a:rPr lang="en-US" dirty="0"/>
              <a:t>Security standards help safeguard this information from unauthorized access, modification, or disclosure, preventing identity theft, fraud, and other malicious activities.</a:t>
            </a:r>
          </a:p>
          <a:p>
            <a:pPr algn="just"/>
            <a:endParaRPr lang="en-US" dirty="0"/>
          </a:p>
        </p:txBody>
      </p:sp>
    </p:spTree>
    <p:extLst>
      <p:ext uri="{BB962C8B-B14F-4D97-AF65-F5344CB8AC3E}">
        <p14:creationId xmlns:p14="http://schemas.microsoft.com/office/powerpoint/2010/main" val="16311529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34462"/>
            <a:ext cx="10515600" cy="5942501"/>
          </a:xfrm>
        </p:spPr>
        <p:txBody>
          <a:bodyPr>
            <a:normAutofit fontScale="92500"/>
          </a:bodyPr>
          <a:lstStyle/>
          <a:p>
            <a:pPr marL="0" indent="0" fontAlgn="ctr">
              <a:buNone/>
            </a:pPr>
            <a:r>
              <a:rPr lang="en-US" dirty="0" smtClean="0"/>
              <a:t>b) Ensuring </a:t>
            </a:r>
            <a:r>
              <a:rPr lang="en-US" dirty="0"/>
              <a:t>Service Delivery: </a:t>
            </a:r>
          </a:p>
          <a:p>
            <a:pPr lvl="1"/>
            <a:r>
              <a:rPr lang="en-US" dirty="0"/>
              <a:t>E-governance aims to provide efficient and reliable public services online.</a:t>
            </a:r>
          </a:p>
          <a:p>
            <a:pPr lvl="1"/>
            <a:r>
              <a:rPr lang="en-US" dirty="0"/>
              <a:t>Security standards ensure the availability and integrity of these services, preventing disruptions caused by cyberattacks, malware, or other security </a:t>
            </a:r>
            <a:r>
              <a:rPr lang="en-US" dirty="0" smtClean="0"/>
              <a:t>breaches.</a:t>
            </a:r>
          </a:p>
          <a:p>
            <a:pPr marL="0" indent="0" fontAlgn="ctr">
              <a:buNone/>
            </a:pPr>
            <a:r>
              <a:rPr lang="en-US" dirty="0" smtClean="0"/>
              <a:t>c)  Maintaining Public Trust: </a:t>
            </a:r>
          </a:p>
          <a:p>
            <a:pPr lvl="1"/>
            <a:r>
              <a:rPr lang="en-US" dirty="0" smtClean="0"/>
              <a:t>Public </a:t>
            </a:r>
            <a:r>
              <a:rPr lang="en-US" dirty="0"/>
              <a:t>trust is essential for the success of e-governance initiatives.</a:t>
            </a:r>
          </a:p>
          <a:p>
            <a:pPr lvl="1"/>
            <a:r>
              <a:rPr lang="en-US" dirty="0"/>
              <a:t>When citizens feel confident that their data is secure and their transactions are protected, they are more likely to adopt and utilize e-government services.</a:t>
            </a:r>
          </a:p>
          <a:p>
            <a:pPr lvl="1"/>
            <a:r>
              <a:rPr lang="en-US" dirty="0"/>
              <a:t>Security breaches can severely damage public trust, leading to reluctance in using online services and potentially undermining the entire e-governance project.</a:t>
            </a:r>
          </a:p>
          <a:p>
            <a:pPr marL="0" indent="0" fontAlgn="ctr">
              <a:buNone/>
            </a:pPr>
            <a:r>
              <a:rPr lang="en-US" dirty="0" smtClean="0"/>
              <a:t>d) </a:t>
            </a:r>
            <a:r>
              <a:rPr lang="en-US" dirty="0"/>
              <a:t>Preventing Financial Losses: </a:t>
            </a:r>
          </a:p>
          <a:p>
            <a:pPr lvl="1"/>
            <a:r>
              <a:rPr lang="en-US" dirty="0"/>
              <a:t>Cyberattacks on e-government systems can result in significant financial losses for both the government and citizens.</a:t>
            </a:r>
          </a:p>
          <a:p>
            <a:pPr lvl="1"/>
            <a:r>
              <a:rPr lang="en-US" dirty="0"/>
              <a:t>Security standards help mitigate these risks by preventing financial fraud, data breaches, and other malicious activities that could lead to financial losses</a:t>
            </a:r>
            <a:r>
              <a:rPr lang="en-US" dirty="0" smtClean="0"/>
              <a:t>.</a:t>
            </a:r>
            <a:endParaRPr lang="en-US" dirty="0"/>
          </a:p>
        </p:txBody>
      </p:sp>
    </p:spTree>
    <p:extLst>
      <p:ext uri="{BB962C8B-B14F-4D97-AF65-F5344CB8AC3E}">
        <p14:creationId xmlns:p14="http://schemas.microsoft.com/office/powerpoint/2010/main" val="8283584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fontAlgn="ctr">
              <a:buNone/>
            </a:pPr>
            <a:r>
              <a:rPr lang="en-US" dirty="0" smtClean="0"/>
              <a:t>e)  </a:t>
            </a:r>
            <a:r>
              <a:rPr lang="en-US" dirty="0"/>
              <a:t>Compliance with Regulations: </a:t>
            </a:r>
          </a:p>
          <a:p>
            <a:pPr lvl="1"/>
            <a:r>
              <a:rPr lang="en-US" dirty="0"/>
              <a:t>Many countries have regulations and standards for data protection and cybersecurity.</a:t>
            </a:r>
          </a:p>
          <a:p>
            <a:pPr lvl="1"/>
            <a:r>
              <a:rPr lang="en-US" dirty="0"/>
              <a:t>E-government systems need to comply with these regulations to avoid legal </a:t>
            </a:r>
            <a:r>
              <a:rPr lang="en-US" dirty="0" smtClean="0"/>
              <a:t>consequences </a:t>
            </a:r>
            <a:r>
              <a:rPr lang="en-US" dirty="0"/>
              <a:t>and penalties.</a:t>
            </a:r>
          </a:p>
          <a:p>
            <a:pPr marL="0" indent="0" fontAlgn="ctr">
              <a:buNone/>
            </a:pPr>
            <a:r>
              <a:rPr lang="en-US" dirty="0" smtClean="0"/>
              <a:t>f)  Addressing </a:t>
            </a:r>
            <a:r>
              <a:rPr lang="en-US" dirty="0"/>
              <a:t>Complexity of Systems: </a:t>
            </a:r>
          </a:p>
          <a:p>
            <a:pPr lvl="1"/>
            <a:r>
              <a:rPr lang="en-US" dirty="0"/>
              <a:t>E-government systems often involve complex networks and interconnected systems.</a:t>
            </a:r>
          </a:p>
          <a:p>
            <a:pPr lvl="1"/>
            <a:r>
              <a:rPr lang="en-US" dirty="0"/>
              <a:t>Security standards help address this complexity by providing a framework for managing security risks across different systems and platforms.</a:t>
            </a:r>
          </a:p>
        </p:txBody>
      </p:sp>
    </p:spTree>
    <p:extLst>
      <p:ext uri="{BB962C8B-B14F-4D97-AF65-F5344CB8AC3E}">
        <p14:creationId xmlns:p14="http://schemas.microsoft.com/office/powerpoint/2010/main" val="29594165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1697</TotalTime>
  <Words>2691</Words>
  <Application>Microsoft Office PowerPoint</Application>
  <PresentationFormat>Widescreen</PresentationFormat>
  <Paragraphs>283</Paragraphs>
  <Slides>47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Calibri</vt:lpstr>
      <vt:lpstr>Calibri Light</vt:lpstr>
      <vt:lpstr>Poppins</vt:lpstr>
      <vt:lpstr>Wingdings</vt:lpstr>
      <vt:lpstr>Office Theme</vt:lpstr>
      <vt:lpstr>Security for E-Government </vt:lpstr>
      <vt:lpstr>Introduction</vt:lpstr>
      <vt:lpstr>Introduction</vt:lpstr>
      <vt:lpstr>Security of e-governance</vt:lpstr>
      <vt:lpstr>Security of e-governance</vt:lpstr>
      <vt:lpstr>Security of e-governance</vt:lpstr>
      <vt:lpstr> Domains of Security </vt:lpstr>
      <vt:lpstr>E-government security challenges</vt:lpstr>
      <vt:lpstr>Challenges</vt:lpstr>
      <vt:lpstr>Security Approaches</vt:lpstr>
      <vt:lpstr>E-GOVERNMENT PRESENT SECURITY APPROACH</vt:lpstr>
      <vt:lpstr>PowerPoint Presentation</vt:lpstr>
      <vt:lpstr>Security Management Model</vt:lpstr>
      <vt:lpstr>Security Management</vt:lpstr>
      <vt:lpstr>Security Management</vt:lpstr>
      <vt:lpstr>Security Management</vt:lpstr>
      <vt:lpstr>Security Management</vt:lpstr>
      <vt:lpstr>Security Management</vt:lpstr>
      <vt:lpstr>Security Management</vt:lpstr>
      <vt:lpstr>ACCESS CONTROL MODEL</vt:lpstr>
      <vt:lpstr>PowerPoint Presentation</vt:lpstr>
      <vt:lpstr>PowerPoint Presentation</vt:lpstr>
      <vt:lpstr>NIST CONTROL MODEL</vt:lpstr>
      <vt:lpstr>NIST…</vt:lpstr>
      <vt:lpstr>TECHNICAL MODEL</vt:lpstr>
      <vt:lpstr>Bell-LaPadula Model</vt:lpstr>
      <vt:lpstr>Biba Model</vt:lpstr>
      <vt:lpstr>Clark- Wilson Model</vt:lpstr>
      <vt:lpstr>PowerPoint Presentation</vt:lpstr>
      <vt:lpstr>Chinese Wall Model</vt:lpstr>
      <vt:lpstr>PowerPoint Presentation</vt:lpstr>
      <vt:lpstr>Graham-Denning Access Control Model</vt:lpstr>
      <vt:lpstr>PowerPoint Presentation</vt:lpstr>
      <vt:lpstr>Security Architecture</vt:lpstr>
      <vt:lpstr>Protection of Public Order and Decency</vt:lpstr>
      <vt:lpstr>Protection of Privacy of Individuals</vt:lpstr>
      <vt:lpstr>Providing Legal Status to Digital Identities and Transactions</vt:lpstr>
      <vt:lpstr>Security Reference Architecture Framework</vt:lpstr>
      <vt:lpstr>PowerPoint Presentation</vt:lpstr>
      <vt:lpstr>Security layers descriptions</vt:lpstr>
      <vt:lpstr>Cross pillar</vt:lpstr>
      <vt:lpstr>Security Standard</vt:lpstr>
      <vt:lpstr>Some Security Standards</vt:lpstr>
      <vt:lpstr>PowerPoint Presentation</vt:lpstr>
      <vt:lpstr>Need of e-governance security standard</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E-government Security</dc:title>
  <dc:creator>acer</dc:creator>
  <cp:lastModifiedBy>acer</cp:lastModifiedBy>
  <cp:revision>84</cp:revision>
  <dcterms:created xsi:type="dcterms:W3CDTF">2025-07-28T07:53:08Z</dcterms:created>
  <dcterms:modified xsi:type="dcterms:W3CDTF">2026-08-24T08:33:54Z</dcterms:modified>
</cp:coreProperties>
</file>