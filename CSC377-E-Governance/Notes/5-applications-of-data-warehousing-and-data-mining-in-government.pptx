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1" r:id="rId3"/>
    <p:sldId id="257" r:id="rId4"/>
    <p:sldId id="327" r:id="rId5"/>
    <p:sldId id="258" r:id="rId6"/>
    <p:sldId id="259" r:id="rId7"/>
    <p:sldId id="262" r:id="rId8"/>
    <p:sldId id="328" r:id="rId9"/>
    <p:sldId id="263" r:id="rId10"/>
    <p:sldId id="264" r:id="rId11"/>
    <p:sldId id="329" r:id="rId12"/>
    <p:sldId id="312" r:id="rId13"/>
    <p:sldId id="313" r:id="rId14"/>
    <p:sldId id="314" r:id="rId15"/>
    <p:sldId id="315" r:id="rId16"/>
    <p:sldId id="316" r:id="rId17"/>
    <p:sldId id="317" r:id="rId18"/>
    <p:sldId id="331" r:id="rId19"/>
    <p:sldId id="318" r:id="rId20"/>
    <p:sldId id="319" r:id="rId21"/>
    <p:sldId id="332" r:id="rId22"/>
    <p:sldId id="320" r:id="rId23"/>
    <p:sldId id="321" r:id="rId24"/>
    <p:sldId id="333" r:id="rId25"/>
    <p:sldId id="322" r:id="rId26"/>
    <p:sldId id="323" r:id="rId27"/>
    <p:sldId id="324" r:id="rId28"/>
    <p:sldId id="325" r:id="rId29"/>
    <p:sldId id="32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148"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ru-RU" dirty="0" smtClean="0">
                <a:solidFill>
                  <a:srgbClr val="FF0000"/>
                </a:solidFill>
              </a:rPr>
              <a:t>Unit </a:t>
            </a:r>
            <a:r>
              <a:rPr lang="en-US" dirty="0">
                <a:solidFill>
                  <a:srgbClr val="FF0000"/>
                </a:solidFill>
              </a:rPr>
              <a:t>5</a:t>
            </a:r>
            <a:r>
              <a:rPr lang="en-US" dirty="0" smtClean="0"/>
              <a:t/>
            </a:r>
            <a:br>
              <a:rPr lang="en-US" dirty="0" smtClean="0"/>
            </a:br>
            <a:r>
              <a:rPr lang="en-US" dirty="0" smtClean="0">
                <a:solidFill>
                  <a:srgbClr val="0070C0"/>
                </a:solidFill>
              </a:rPr>
              <a:t>Application of Data Warehousing and Data Mining in Government</a:t>
            </a:r>
            <a:r>
              <a:rPr lang="en-US" dirty="0" smtClean="0"/>
              <a:t/>
            </a:r>
            <a:br>
              <a:rPr lang="en-US" dirty="0" smtClean="0"/>
            </a:br>
            <a:endParaRPr lang="en-US" dirty="0"/>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solidFill>
                  <a:srgbClr val="0070C0"/>
                </a:solidFill>
              </a:rPr>
              <a:t>Introduction</a:t>
            </a:r>
            <a:endParaRPr lang="en-US" dirty="0">
              <a:solidFill>
                <a:srgbClr val="0070C0"/>
              </a:solidFill>
            </a:endParaRPr>
          </a:p>
        </p:txBody>
      </p:sp>
      <p:sp>
        <p:nvSpPr>
          <p:cNvPr id="3" name="Content Placeholder 2"/>
          <p:cNvSpPr>
            <a:spLocks noGrp="1"/>
          </p:cNvSpPr>
          <p:nvPr>
            <p:ph idx="1"/>
          </p:nvPr>
        </p:nvSpPr>
        <p:spPr>
          <a:xfrm>
            <a:off x="457200" y="1197077"/>
            <a:ext cx="8229600" cy="4525963"/>
          </a:xfrm>
        </p:spPr>
        <p:txBody>
          <a:bodyPr>
            <a:noAutofit/>
          </a:bodyPr>
          <a:lstStyle/>
          <a:p>
            <a:pPr algn="just"/>
            <a:r>
              <a:rPr lang="en-US" sz="2200" dirty="0" smtClean="0"/>
              <a:t>Data warehousing and data mining are the important means of preparing the government to face the challenges of the new millennium.</a:t>
            </a:r>
          </a:p>
          <a:p>
            <a:pPr algn="just"/>
            <a:r>
              <a:rPr lang="en-US" sz="2200" dirty="0" smtClean="0"/>
              <a:t>Data warehousing and data mining technologies have extensive potential applications in the government in various Central Government Sectors such as Agriculture, Rural Development, Health and Energy and also in state Government activities.</a:t>
            </a:r>
          </a:p>
          <a:p>
            <a:pPr algn="just"/>
            <a:r>
              <a:rPr lang="en-US" sz="2200" dirty="0"/>
              <a:t>D</a:t>
            </a:r>
            <a:r>
              <a:rPr lang="en-US" sz="2200" dirty="0" smtClean="0"/>
              <a:t>ata </a:t>
            </a:r>
            <a:r>
              <a:rPr lang="en-US" sz="2200" dirty="0"/>
              <a:t>warehousing and data mining are best suited for number of applications based on e-Governance in G2B (Government to Business), G2C (Government to Citizen) and G2G (Government to Government) environment</a:t>
            </a:r>
            <a:r>
              <a:rPr lang="en-US" sz="2200"/>
              <a:t>. </a:t>
            </a:r>
            <a:endParaRPr lang="en-US" sz="2200" smtClean="0"/>
          </a:p>
          <a:p>
            <a:pPr algn="just"/>
            <a:r>
              <a:rPr lang="en-US" sz="2200" smtClean="0"/>
              <a:t>In </a:t>
            </a:r>
            <a:r>
              <a:rPr lang="en-US" sz="2200" dirty="0"/>
              <a:t>order to have effective implementation there should be solid Data Warehouse on data collected from heterogeneous reliable sources </a:t>
            </a:r>
            <a:endParaRPr lang="en-US" sz="2200" dirty="0" smtClean="0"/>
          </a:p>
          <a:p>
            <a:pPr algn="just"/>
            <a:r>
              <a:rPr lang="en-US" sz="2200" dirty="0" smtClean="0"/>
              <a:t>These technologies can and should therefore be implemented.</a:t>
            </a:r>
            <a:endParaRPr lang="en-US" sz="2200" dirty="0"/>
          </a:p>
        </p:txBody>
      </p:sp>
    </p:spTree>
    <p:extLst>
      <p:ext uri="{BB962C8B-B14F-4D97-AF65-F5344CB8AC3E}">
        <p14:creationId xmlns:p14="http://schemas.microsoft.com/office/powerpoint/2010/main" val="3724338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en-US" dirty="0" smtClean="0"/>
              <a:t/>
            </a:r>
            <a:br>
              <a:rPr lang="en-US" dirty="0" smtClean="0"/>
            </a:br>
            <a:r>
              <a:rPr lang="ru-RU" sz="4000" dirty="0" smtClean="0">
                <a:solidFill>
                  <a:srgbClr val="0070C0"/>
                </a:solidFill>
              </a:rPr>
              <a:t>DATA WAREHOUSE </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609600" y="1143000"/>
            <a:ext cx="8153400" cy="5029200"/>
          </a:xfrm>
        </p:spPr>
        <p:txBody>
          <a:bodyPr>
            <a:normAutofit fontScale="25000" lnSpcReduction="20000"/>
          </a:bodyPr>
          <a:lstStyle/>
          <a:p>
            <a:pPr algn="just"/>
            <a:r>
              <a:rPr lang="ru-RU" sz="8000" dirty="0" smtClean="0"/>
              <a:t>Data   warehouse    </a:t>
            </a:r>
            <a:r>
              <a:rPr lang="ru-RU" sz="8000" dirty="0" smtClean="0">
                <a:solidFill>
                  <a:srgbClr val="C00000"/>
                </a:solidFill>
              </a:rPr>
              <a:t>is   a   repository   of   an   organization's electronically  stored   data  </a:t>
            </a:r>
            <a:r>
              <a:rPr lang="ru-RU" sz="8000" dirty="0" smtClean="0"/>
              <a:t>and  are   designed  to  </a:t>
            </a:r>
            <a:r>
              <a:rPr lang="ru-RU" sz="8000" dirty="0" smtClean="0">
                <a:solidFill>
                  <a:srgbClr val="C00000"/>
                </a:solidFill>
              </a:rPr>
              <a:t>facilitate reporting and analysis</a:t>
            </a:r>
            <a:r>
              <a:rPr lang="en-US" sz="8000" dirty="0" smtClean="0">
                <a:solidFill>
                  <a:srgbClr val="C00000"/>
                </a:solidFill>
              </a:rPr>
              <a:t>.</a:t>
            </a:r>
            <a:r>
              <a:rPr lang="ru-RU" sz="8000" dirty="0" smtClean="0">
                <a:solidFill>
                  <a:srgbClr val="C00000"/>
                </a:solidFill>
              </a:rPr>
              <a:t> </a:t>
            </a:r>
            <a:endParaRPr lang="en-US" sz="8000" dirty="0" smtClean="0">
              <a:solidFill>
                <a:srgbClr val="C00000"/>
              </a:solidFill>
            </a:endParaRPr>
          </a:p>
          <a:p>
            <a:pPr algn="just"/>
            <a:r>
              <a:rPr lang="ru-RU" sz="8000" dirty="0" smtClean="0"/>
              <a:t>Also emphasizes on the </a:t>
            </a:r>
            <a:r>
              <a:rPr lang="ru-RU" sz="8000" dirty="0" smtClean="0">
                <a:solidFill>
                  <a:srgbClr val="00B050"/>
                </a:solidFill>
              </a:rPr>
              <a:t>means to retrieve and analyze data, to extract, transform and load data, and to manage the data dictionary. </a:t>
            </a:r>
            <a:endParaRPr lang="en-US" sz="8000" dirty="0" smtClean="0">
              <a:solidFill>
                <a:srgbClr val="00B050"/>
              </a:solidFill>
            </a:endParaRPr>
          </a:p>
          <a:p>
            <a:pPr algn="just"/>
            <a:r>
              <a:rPr lang="ru-RU" sz="8000" dirty="0" smtClean="0"/>
              <a:t>An   expanded   definition   for   data  warehousing   </a:t>
            </a:r>
            <a:r>
              <a:rPr lang="ru-RU" sz="8000" dirty="0" smtClean="0">
                <a:solidFill>
                  <a:srgbClr val="7030A0"/>
                </a:solidFill>
              </a:rPr>
              <a:t>includes business  intelligence  tools,  tools  to  extract,  transform,  and load  data  into  the  repository,  and  tools  to  manage  and retrieve metadata </a:t>
            </a:r>
            <a:r>
              <a:rPr lang="ru-RU" sz="8000" dirty="0" smtClean="0"/>
              <a:t>(data about data). </a:t>
            </a:r>
            <a:endParaRPr lang="en-US" sz="8000" dirty="0" smtClean="0"/>
          </a:p>
          <a:p>
            <a:pPr algn="just"/>
            <a:r>
              <a:rPr lang="ru-RU" sz="8000" smtClean="0"/>
              <a:t>A   </a:t>
            </a:r>
            <a:r>
              <a:rPr lang="ru-RU" sz="8000" dirty="0" smtClean="0"/>
              <a:t>data   warehouse is   a   </a:t>
            </a:r>
            <a:r>
              <a:rPr lang="ru-RU" sz="8000" dirty="0" smtClean="0">
                <a:solidFill>
                  <a:srgbClr val="00B050"/>
                </a:solidFill>
              </a:rPr>
              <a:t>collection   of   computer-based information   that   is   critical   to   successful   execution   of enterprise initiatives</a:t>
            </a:r>
            <a:r>
              <a:rPr lang="en-US" sz="8000" dirty="0" smtClean="0">
                <a:solidFill>
                  <a:srgbClr val="00B050"/>
                </a:solidFill>
              </a:rPr>
              <a:t>.</a:t>
            </a:r>
          </a:p>
          <a:p>
            <a:pPr algn="just"/>
            <a:r>
              <a:rPr lang="ru-RU" sz="8000" dirty="0" smtClean="0"/>
              <a:t>It  provides  </a:t>
            </a:r>
            <a:r>
              <a:rPr lang="ru-RU" sz="8000" dirty="0" smtClean="0">
                <a:solidFill>
                  <a:srgbClr val="00B050"/>
                </a:solidFill>
              </a:rPr>
              <a:t>a  tool  to  satisfy  the  information  needs  of  the employee’s at all organizational levels</a:t>
            </a:r>
            <a:r>
              <a:rPr lang="en-US" sz="8000" dirty="0" smtClean="0">
                <a:solidFill>
                  <a:srgbClr val="00B050"/>
                </a:solidFill>
              </a:rPr>
              <a:t> </a:t>
            </a:r>
            <a:r>
              <a:rPr lang="ru-RU" sz="8000" dirty="0" smtClean="0">
                <a:solidFill>
                  <a:srgbClr val="C00000"/>
                </a:solidFill>
              </a:rPr>
              <a:t>not just for complex data  queries  but  as   a  general  facility  for  getting   quick, accurate and often insightful information. </a:t>
            </a:r>
            <a:endParaRPr lang="en-US" sz="8000" dirty="0" smtClean="0">
              <a:solidFill>
                <a:srgbClr val="C00000"/>
              </a:solidFill>
            </a:endParaRPr>
          </a:p>
          <a:p>
            <a:pPr algn="just"/>
            <a:r>
              <a:rPr lang="ru-RU" sz="8000" dirty="0" smtClean="0"/>
              <a:t>It is </a:t>
            </a:r>
            <a:r>
              <a:rPr lang="ru-RU" sz="8000" dirty="0" smtClean="0">
                <a:solidFill>
                  <a:srgbClr val="C00000"/>
                </a:solidFill>
              </a:rPr>
              <a:t>designed so that its users can recognize the information they want and access that information using simple tools. </a:t>
            </a:r>
            <a:endParaRPr lang="en-US" sz="8000" dirty="0" smtClean="0">
              <a:solidFill>
                <a:srgbClr val="C00000"/>
              </a:solidFill>
            </a:endParaRPr>
          </a:p>
          <a:p>
            <a:endParaRPr lang="en-US" dirty="0" smtClean="0"/>
          </a:p>
          <a:p>
            <a:endParaRPr lang="en-US" dirty="0" smtClean="0"/>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ru-RU" dirty="0">
                <a:solidFill>
                  <a:srgbClr val="0070C0"/>
                </a:solidFill>
              </a:rPr>
              <a:t>DATA WAREHOUSE </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491289" y="1600200"/>
            <a:ext cx="8161422" cy="4525963"/>
          </a:xfrm>
          <a:prstGeom prst="rect">
            <a:avLst/>
          </a:prstGeom>
        </p:spPr>
      </p:pic>
    </p:spTree>
    <p:extLst>
      <p:ext uri="{BB962C8B-B14F-4D97-AF65-F5344CB8AC3E}">
        <p14:creationId xmlns:p14="http://schemas.microsoft.com/office/powerpoint/2010/main" val="884891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en-US" dirty="0" smtClean="0"/>
              <a:t/>
            </a:r>
            <a:br>
              <a:rPr lang="en-US" dirty="0" smtClean="0"/>
            </a:br>
            <a:r>
              <a:rPr lang="ru-RU" sz="4000" dirty="0" smtClean="0">
                <a:solidFill>
                  <a:srgbClr val="0070C0"/>
                </a:solidFill>
              </a:rPr>
              <a:t>DATA WAREHOUSE </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381000" y="990600"/>
            <a:ext cx="8229600" cy="5562600"/>
          </a:xfrm>
        </p:spPr>
        <p:txBody>
          <a:bodyPr>
            <a:normAutofit fontScale="77500" lnSpcReduction="20000"/>
          </a:bodyPr>
          <a:lstStyle/>
          <a:p>
            <a:pPr algn="just"/>
            <a:r>
              <a:rPr lang="ru-RU" dirty="0" smtClean="0"/>
              <a:t>One   of   the   principal   reasons  for   developing   a   Data Warehouse  is  </a:t>
            </a:r>
            <a:r>
              <a:rPr lang="ru-RU" dirty="0" smtClean="0">
                <a:solidFill>
                  <a:srgbClr val="C00000"/>
                </a:solidFill>
              </a:rPr>
              <a:t>to  integrate  operational  data  from  various sources into a single and consistent architecture that supports analysis and decision making with the enterprise. </a:t>
            </a:r>
            <a:endParaRPr lang="en-US" dirty="0" smtClean="0">
              <a:solidFill>
                <a:srgbClr val="C00000"/>
              </a:solidFill>
            </a:endParaRPr>
          </a:p>
          <a:p>
            <a:pPr algn="just"/>
            <a:r>
              <a:rPr lang="ru-RU" dirty="0" smtClean="0"/>
              <a:t>Some of the applications data warehousing can be used for are: </a:t>
            </a:r>
            <a:endParaRPr lang="en-US" dirty="0" smtClean="0"/>
          </a:p>
          <a:p>
            <a:pPr lvl="1" algn="just">
              <a:buFont typeface="Courier New" pitchFamily="49" charset="0"/>
              <a:buChar char="o"/>
            </a:pPr>
            <a:r>
              <a:rPr lang="ru-RU" dirty="0" smtClean="0"/>
              <a:t>Credit card churn analysis  </a:t>
            </a:r>
            <a:endParaRPr lang="en-US" dirty="0" smtClean="0"/>
          </a:p>
          <a:p>
            <a:pPr lvl="1" algn="just">
              <a:buFont typeface="Courier New" pitchFamily="49" charset="0"/>
              <a:buChar char="o"/>
            </a:pPr>
            <a:r>
              <a:rPr lang="ru-RU" dirty="0" smtClean="0"/>
              <a:t>Insurance fraud analysis  </a:t>
            </a:r>
            <a:endParaRPr lang="en-US" dirty="0" smtClean="0"/>
          </a:p>
          <a:p>
            <a:pPr lvl="1" algn="just">
              <a:buFont typeface="Courier New" pitchFamily="49" charset="0"/>
              <a:buChar char="o"/>
            </a:pPr>
            <a:r>
              <a:rPr lang="ru-RU" dirty="0" smtClean="0"/>
              <a:t>Call record analysis  </a:t>
            </a:r>
            <a:endParaRPr lang="en-US" dirty="0" smtClean="0"/>
          </a:p>
          <a:p>
            <a:pPr lvl="1" algn="just">
              <a:buFont typeface="Courier New" pitchFamily="49" charset="0"/>
              <a:buChar char="o"/>
            </a:pPr>
            <a:r>
              <a:rPr lang="ru-RU" dirty="0" smtClean="0"/>
              <a:t>Logistics    management    (part    of   Supply    Chain </a:t>
            </a:r>
            <a:r>
              <a:rPr lang="en-US" dirty="0" smtClean="0"/>
              <a:t>   </a:t>
            </a:r>
            <a:r>
              <a:rPr lang="ru-RU" dirty="0" smtClean="0"/>
              <a:t>Management that </a:t>
            </a:r>
            <a:r>
              <a:rPr lang="ru-RU" dirty="0" smtClean="0">
                <a:solidFill>
                  <a:srgbClr val="00B050"/>
                </a:solidFill>
              </a:rPr>
              <a:t>plans, implements, and controls the efficient,  effective,   forward,  and  reverse   flow  and storage  of  goods,  services,  and  related  information between   the   point   of   origin  and   the   point   of consumption     in    order     to     meet     customers’ requirements</a:t>
            </a:r>
            <a:r>
              <a:rPr lang="ru-RU" dirty="0" smtClean="0"/>
              <a:t>) </a:t>
            </a:r>
            <a:endParaRPr lang="en-US" dirty="0" smtClean="0"/>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DATA WAREHOUSE</a:t>
            </a:r>
            <a:r>
              <a:rPr lang="en-US" sz="3600" dirty="0" smtClean="0">
                <a:solidFill>
                  <a:srgbClr val="0070C0"/>
                </a:solidFill>
              </a:rPr>
              <a:t> ADVANTAGES</a:t>
            </a:r>
            <a:endParaRPr lang="en-US" sz="3600" dirty="0">
              <a:solidFill>
                <a:srgbClr val="0070C0"/>
              </a:solidFill>
            </a:endParaRPr>
          </a:p>
        </p:txBody>
      </p:sp>
      <p:sp>
        <p:nvSpPr>
          <p:cNvPr id="3" name="Content Placeholder 2"/>
          <p:cNvSpPr>
            <a:spLocks noGrp="1"/>
          </p:cNvSpPr>
          <p:nvPr>
            <p:ph idx="1"/>
          </p:nvPr>
        </p:nvSpPr>
        <p:spPr>
          <a:xfrm>
            <a:off x="457200" y="914400"/>
            <a:ext cx="8153400" cy="5257800"/>
          </a:xfrm>
        </p:spPr>
        <p:txBody>
          <a:bodyPr>
            <a:noAutofit/>
          </a:bodyPr>
          <a:lstStyle/>
          <a:p>
            <a:r>
              <a:rPr lang="ru-RU" sz="2000" dirty="0" smtClean="0">
                <a:solidFill>
                  <a:srgbClr val="FF0000"/>
                </a:solidFill>
              </a:rPr>
              <a:t>More  cost  effective  decision  making</a:t>
            </a:r>
            <a:r>
              <a:rPr lang="ru-RU" sz="2000" dirty="0" smtClean="0"/>
              <a:t>: A  data  warehouse </a:t>
            </a:r>
            <a:r>
              <a:rPr lang="ru-RU" sz="2000" dirty="0" smtClean="0">
                <a:solidFill>
                  <a:srgbClr val="00B050"/>
                </a:solidFill>
              </a:rPr>
              <a:t>allows reduction of staff and computer resources</a:t>
            </a:r>
            <a:r>
              <a:rPr lang="ru-RU" sz="2000" dirty="0" smtClean="0"/>
              <a:t> required to </a:t>
            </a:r>
            <a:r>
              <a:rPr lang="ru-RU" sz="2000" dirty="0" smtClean="0">
                <a:solidFill>
                  <a:srgbClr val="00B050"/>
                </a:solidFill>
              </a:rPr>
              <a:t>support queries   and  reports against   operational  and production database</a:t>
            </a:r>
            <a:r>
              <a:rPr lang="ru-RU" sz="2000" dirty="0" smtClean="0"/>
              <a:t>. This typically offers significant savings. </a:t>
            </a:r>
            <a:endParaRPr lang="en-US" sz="2000" dirty="0" smtClean="0"/>
          </a:p>
          <a:p>
            <a:r>
              <a:rPr lang="ru-RU" sz="2000" dirty="0" smtClean="0">
                <a:solidFill>
                  <a:srgbClr val="FF0000"/>
                </a:solidFill>
              </a:rPr>
              <a:t>Better enterprise intelligence</a:t>
            </a:r>
            <a:r>
              <a:rPr lang="ru-RU" sz="2000" dirty="0" smtClean="0"/>
              <a:t>: </a:t>
            </a:r>
            <a:r>
              <a:rPr lang="ru-RU" sz="2000" dirty="0" smtClean="0">
                <a:solidFill>
                  <a:srgbClr val="7030A0"/>
                </a:solidFill>
              </a:rPr>
              <a:t>Increased quality and flexibility of enterprise   analysis </a:t>
            </a:r>
            <a:r>
              <a:rPr lang="ru-RU" sz="2000" dirty="0" smtClean="0"/>
              <a:t> arises   from  </a:t>
            </a:r>
            <a:r>
              <a:rPr lang="ru-RU" sz="2000" dirty="0" smtClean="0">
                <a:solidFill>
                  <a:srgbClr val="00B050"/>
                </a:solidFill>
              </a:rPr>
              <a:t>the  multi-level data structure which   guarantees data  accuracy   and  reliability ensuring that a Data Warehouse  contains  only  “trusted” data. </a:t>
            </a:r>
            <a:endParaRPr lang="en-US" sz="2000" dirty="0" smtClean="0">
              <a:solidFill>
                <a:srgbClr val="00B050"/>
              </a:solidFill>
            </a:endParaRPr>
          </a:p>
          <a:p>
            <a:r>
              <a:rPr lang="ru-RU" sz="2000" dirty="0" smtClean="0">
                <a:solidFill>
                  <a:srgbClr val="FF0000"/>
                </a:solidFill>
              </a:rPr>
              <a:t>Enhanced  customer  service</a:t>
            </a:r>
            <a:r>
              <a:rPr lang="ru-RU" sz="2000" dirty="0" smtClean="0"/>
              <a:t>:  An  enterprise  can  </a:t>
            </a:r>
            <a:r>
              <a:rPr lang="ru-RU" sz="2000" dirty="0" smtClean="0">
                <a:solidFill>
                  <a:srgbClr val="00B050"/>
                </a:solidFill>
              </a:rPr>
              <a:t>maintain better customer relationships by correlating all customer data</a:t>
            </a:r>
            <a:r>
              <a:rPr lang="ru-RU" sz="2000" dirty="0" smtClean="0"/>
              <a:t> via a single Data Warehouse Architecture.  </a:t>
            </a:r>
            <a:endParaRPr lang="en-US" sz="2000" dirty="0" smtClean="0"/>
          </a:p>
          <a:p>
            <a:r>
              <a:rPr lang="ru-RU" sz="2000" dirty="0" smtClean="0">
                <a:solidFill>
                  <a:srgbClr val="FF0000"/>
                </a:solidFill>
              </a:rPr>
              <a:t>Business  reengineering</a:t>
            </a:r>
            <a:r>
              <a:rPr lang="ru-RU" sz="2000" dirty="0" smtClean="0"/>
              <a:t>: Allowing   </a:t>
            </a:r>
            <a:r>
              <a:rPr lang="ru-RU" sz="2000" dirty="0" smtClean="0">
                <a:solidFill>
                  <a:srgbClr val="7030A0"/>
                </a:solidFill>
              </a:rPr>
              <a:t>unlimited   analysis  of enterprise  information  often  provides  insights  to  enterprise processes that may yield breakthrough ideas for engineering those  processes.</a:t>
            </a:r>
            <a:r>
              <a:rPr lang="ru-RU" sz="2000" dirty="0" smtClean="0"/>
              <a:t>Knowing what  information  is  important  to an   enterprise will  provide  direction  and   priority   for reengineering efforts. </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sz="3600" dirty="0" smtClean="0">
                <a:solidFill>
                  <a:srgbClr val="0070C0"/>
                </a:solidFill>
              </a:rPr>
              <a:t/>
            </a:r>
            <a:br>
              <a:rPr lang="en-US" sz="3600" dirty="0" smtClean="0">
                <a:solidFill>
                  <a:srgbClr val="0070C0"/>
                </a:solidFill>
              </a:rPr>
            </a:br>
            <a:r>
              <a:rPr lang="ru-RU" sz="3600" dirty="0" smtClean="0">
                <a:solidFill>
                  <a:srgbClr val="0070C0"/>
                </a:solidFill>
              </a:rPr>
              <a:t>DATA MINING </a:t>
            </a:r>
            <a:r>
              <a:rPr lang="en-US" sz="3600" dirty="0" smtClean="0"/>
              <a:t/>
            </a:r>
            <a:br>
              <a:rPr lang="en-US" sz="3600" dirty="0" smtClean="0"/>
            </a:br>
            <a:endParaRPr lang="en-US" sz="3600" dirty="0"/>
          </a:p>
        </p:txBody>
      </p:sp>
      <p:sp>
        <p:nvSpPr>
          <p:cNvPr id="3" name="Content Placeholder 2"/>
          <p:cNvSpPr>
            <a:spLocks noGrp="1"/>
          </p:cNvSpPr>
          <p:nvPr>
            <p:ph idx="1"/>
          </p:nvPr>
        </p:nvSpPr>
        <p:spPr>
          <a:xfrm>
            <a:off x="462116" y="990600"/>
            <a:ext cx="8229600" cy="5181600"/>
          </a:xfrm>
        </p:spPr>
        <p:txBody>
          <a:bodyPr>
            <a:normAutofit fontScale="25000" lnSpcReduction="20000"/>
          </a:bodyPr>
          <a:lstStyle/>
          <a:p>
            <a:pPr algn="just">
              <a:buFont typeface="Wingdings" pitchFamily="2" charset="2"/>
              <a:buChar char="§"/>
            </a:pPr>
            <a:r>
              <a:rPr lang="ru-RU" sz="8000" dirty="0" smtClean="0"/>
              <a:t>Data  mining  is  the  </a:t>
            </a:r>
            <a:r>
              <a:rPr lang="ru-RU" sz="8000" dirty="0" smtClean="0">
                <a:solidFill>
                  <a:srgbClr val="C00000"/>
                </a:solidFill>
              </a:rPr>
              <a:t>process  of  extracting  hidden  predictive information  from   a  large   database</a:t>
            </a:r>
            <a:r>
              <a:rPr lang="ru-RU" sz="8000" dirty="0" smtClean="0"/>
              <a:t>.  </a:t>
            </a:r>
            <a:endParaRPr lang="en-US" sz="8000" dirty="0" smtClean="0"/>
          </a:p>
          <a:p>
            <a:pPr lvl="1" algn="just">
              <a:buFont typeface="Wingdings" panose="05000000000000000000" pitchFamily="2" charset="2"/>
              <a:buChar char="ü"/>
            </a:pPr>
            <a:r>
              <a:rPr lang="ru-RU" sz="7600" dirty="0" smtClean="0"/>
              <a:t>As   more  data   are gathered, with the amount of data doubling every year, </a:t>
            </a:r>
            <a:r>
              <a:rPr lang="ru-RU" sz="7600" dirty="0" smtClean="0">
                <a:solidFill>
                  <a:srgbClr val="00B050"/>
                </a:solidFill>
              </a:rPr>
              <a:t>data mining   is  becoming   an   increasingly   important   tool  to transform this data into information</a:t>
            </a:r>
            <a:r>
              <a:rPr lang="ru-RU" sz="7600" dirty="0" smtClean="0"/>
              <a:t>.</a:t>
            </a:r>
            <a:endParaRPr lang="en-US" sz="7600" dirty="0" smtClean="0"/>
          </a:p>
          <a:p>
            <a:pPr algn="just">
              <a:buFont typeface="Wingdings" pitchFamily="2" charset="2"/>
              <a:buChar char="§"/>
            </a:pPr>
            <a:r>
              <a:rPr lang="ru-RU" sz="8000" dirty="0" smtClean="0"/>
              <a:t>It is </a:t>
            </a:r>
            <a:r>
              <a:rPr lang="ru-RU" sz="8000" dirty="0" smtClean="0">
                <a:solidFill>
                  <a:srgbClr val="C00000"/>
                </a:solidFill>
              </a:rPr>
              <a:t>commonly used in a wide range of profiling practices, such as marketing, fraud detection and scientific discovery</a:t>
            </a:r>
            <a:r>
              <a:rPr lang="ru-RU" sz="8000" dirty="0" smtClean="0"/>
              <a:t>. Data mining can be applied to data sets of any size. </a:t>
            </a:r>
            <a:endParaRPr lang="en-US" sz="8000" dirty="0" smtClean="0"/>
          </a:p>
          <a:p>
            <a:pPr algn="just">
              <a:buFont typeface="Wingdings" pitchFamily="2" charset="2"/>
              <a:buChar char="§"/>
            </a:pPr>
            <a:r>
              <a:rPr lang="ru-RU" sz="8000" dirty="0" smtClean="0"/>
              <a:t>Data   mining   </a:t>
            </a:r>
            <a:r>
              <a:rPr lang="ru-RU" sz="8000" dirty="0" smtClean="0">
                <a:solidFill>
                  <a:srgbClr val="00B050"/>
                </a:solidFill>
              </a:rPr>
              <a:t>tools  predict   future   tends  and   behaviors, allowing  businesses  to  make  proactive,  knowledge  driven decisions</a:t>
            </a:r>
            <a:r>
              <a:rPr lang="ru-RU" sz="8000" dirty="0" smtClean="0"/>
              <a:t>.</a:t>
            </a:r>
            <a:endParaRPr lang="en-US" sz="8000" dirty="0" smtClean="0"/>
          </a:p>
          <a:p>
            <a:pPr algn="just">
              <a:buFont typeface="Wingdings" pitchFamily="2" charset="2"/>
              <a:buChar char="§"/>
            </a:pPr>
            <a:r>
              <a:rPr lang="ru-RU" sz="8000" dirty="0" smtClean="0"/>
              <a:t>Data mining sometimes called </a:t>
            </a:r>
            <a:r>
              <a:rPr lang="ru-RU" sz="8000" dirty="0" smtClean="0">
                <a:solidFill>
                  <a:srgbClr val="FF0000"/>
                </a:solidFill>
              </a:rPr>
              <a:t>data or knowledge discovery </a:t>
            </a:r>
            <a:r>
              <a:rPr lang="ru-RU" sz="8000" dirty="0" smtClean="0"/>
              <a:t>is the process of </a:t>
            </a:r>
            <a:r>
              <a:rPr lang="ru-RU" sz="8000" dirty="0" smtClean="0">
                <a:solidFill>
                  <a:srgbClr val="7030A0"/>
                </a:solidFill>
              </a:rPr>
              <a:t>analyzing data from different perspectives and summarizing it into useful information.</a:t>
            </a:r>
            <a:endParaRPr lang="en-US" sz="8000" dirty="0" smtClean="0">
              <a:solidFill>
                <a:srgbClr val="7030A0"/>
              </a:solidFill>
            </a:endParaRPr>
          </a:p>
          <a:p>
            <a:pPr algn="just">
              <a:buFont typeface="Wingdings" pitchFamily="2" charset="2"/>
              <a:buChar char="§"/>
            </a:pPr>
            <a:r>
              <a:rPr lang="ru-RU" sz="8000" dirty="0" smtClean="0"/>
              <a:t>Data mining software is an analytical tool for analyzing data. </a:t>
            </a:r>
            <a:endParaRPr lang="en-US" sz="8000" dirty="0" smtClean="0"/>
          </a:p>
          <a:p>
            <a:pPr lvl="1" algn="just">
              <a:buFont typeface="Wingdings" panose="05000000000000000000" pitchFamily="2" charset="2"/>
              <a:buChar char="ü"/>
            </a:pPr>
            <a:r>
              <a:rPr lang="ru-RU" sz="7600" dirty="0" smtClean="0"/>
              <a:t>It  </a:t>
            </a:r>
            <a:r>
              <a:rPr lang="ru-RU" sz="7600" dirty="0" smtClean="0">
                <a:solidFill>
                  <a:srgbClr val="00B050"/>
                </a:solidFill>
              </a:rPr>
              <a:t>allows   users   to   analyze   data   from   many   different dimensions,categorize it,  and  summarize  the  relationships identified. </a:t>
            </a:r>
            <a:endParaRPr lang="en-US" sz="7600" dirty="0" smtClean="0">
              <a:solidFill>
                <a:srgbClr val="00B050"/>
              </a:solidFill>
            </a:endParaRPr>
          </a:p>
          <a:p>
            <a:pPr algn="just">
              <a:buFont typeface="Wingdings" pitchFamily="2" charset="2"/>
              <a:buChar char="§"/>
            </a:pPr>
            <a:r>
              <a:rPr lang="ru-RU" sz="8000" dirty="0" smtClean="0"/>
              <a:t>Technically, data mining is the </a:t>
            </a:r>
            <a:r>
              <a:rPr lang="ru-RU" sz="8000" dirty="0" smtClean="0">
                <a:solidFill>
                  <a:srgbClr val="FF0000"/>
                </a:solidFill>
              </a:rPr>
              <a:t>process of finding correlations or  patterns   among  dozens   of  fields   in  large   relational databases.</a:t>
            </a:r>
            <a:r>
              <a:rPr lang="ru-RU" sz="8000" dirty="0" smtClean="0"/>
              <a:t> </a:t>
            </a:r>
            <a:endParaRPr lang="en-US" sz="8000" dirty="0" smtClean="0"/>
          </a:p>
          <a:p>
            <a:endParaRPr lang="en-US" dirty="0" smtClean="0"/>
          </a:p>
          <a:p>
            <a:pPr>
              <a:buNone/>
            </a:pPr>
            <a:r>
              <a:rPr lang="ru-RU" dirty="0" smtClean="0"/>
              <a:t>  </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
            </a:r>
            <a:br>
              <a:rPr lang="en-US" dirty="0">
                <a:solidFill>
                  <a:srgbClr val="0070C0"/>
                </a:solidFill>
              </a:rPr>
            </a:br>
            <a:r>
              <a:rPr lang="ru-RU" dirty="0">
                <a:solidFill>
                  <a:srgbClr val="0070C0"/>
                </a:solidFill>
              </a:rPr>
              <a:t>DATA MINING </a:t>
            </a:r>
            <a:r>
              <a:rPr lang="en-US" dirty="0"/>
              <a:t/>
            </a:r>
            <a:br>
              <a:rPr lang="en-US" dirty="0"/>
            </a:br>
            <a:endParaRPr lang="en-US" dirty="0"/>
          </a:p>
        </p:txBody>
      </p:sp>
      <p:sp>
        <p:nvSpPr>
          <p:cNvPr id="3" name="Content Placeholder 2"/>
          <p:cNvSpPr>
            <a:spLocks noGrp="1"/>
          </p:cNvSpPr>
          <p:nvPr>
            <p:ph idx="1"/>
          </p:nvPr>
        </p:nvSpPr>
        <p:spPr>
          <a:xfrm>
            <a:off x="457200" y="1219201"/>
            <a:ext cx="8229600" cy="1676400"/>
          </a:xfrm>
        </p:spPr>
        <p:txBody>
          <a:bodyPr>
            <a:normAutofit/>
          </a:bodyPr>
          <a:lstStyle/>
          <a:p>
            <a:pPr algn="just"/>
            <a:r>
              <a:rPr lang="en-US" sz="2400" dirty="0"/>
              <a:t>It is the process of finding patterns and correlations within large data sets to identify relationships between data</a:t>
            </a:r>
          </a:p>
        </p:txBody>
      </p:sp>
      <p:pic>
        <p:nvPicPr>
          <p:cNvPr id="4" name="Picture 3"/>
          <p:cNvPicPr>
            <a:picLocks noChangeAspect="1"/>
          </p:cNvPicPr>
          <p:nvPr/>
        </p:nvPicPr>
        <p:blipFill>
          <a:blip r:embed="rId2"/>
          <a:stretch>
            <a:fillRect/>
          </a:stretch>
        </p:blipFill>
        <p:spPr>
          <a:xfrm>
            <a:off x="1714500" y="2209800"/>
            <a:ext cx="5715000" cy="4281487"/>
          </a:xfrm>
          <a:prstGeom prst="rect">
            <a:avLst/>
          </a:prstGeom>
        </p:spPr>
      </p:pic>
    </p:spTree>
    <p:extLst>
      <p:ext uri="{BB962C8B-B14F-4D97-AF65-F5344CB8AC3E}">
        <p14:creationId xmlns:p14="http://schemas.microsoft.com/office/powerpoint/2010/main" val="171386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DATA MINING </a:t>
            </a:r>
            <a:endParaRPr lang="en-US" sz="3600" dirty="0"/>
          </a:p>
        </p:txBody>
      </p:sp>
      <p:sp>
        <p:nvSpPr>
          <p:cNvPr id="3" name="Content Placeholder 2"/>
          <p:cNvSpPr>
            <a:spLocks noGrp="1"/>
          </p:cNvSpPr>
          <p:nvPr>
            <p:ph idx="1"/>
          </p:nvPr>
        </p:nvSpPr>
        <p:spPr>
          <a:xfrm>
            <a:off x="457200" y="1600200"/>
            <a:ext cx="8229600" cy="4038600"/>
          </a:xfrm>
        </p:spPr>
        <p:txBody>
          <a:bodyPr>
            <a:normAutofit/>
          </a:bodyPr>
          <a:lstStyle/>
          <a:p>
            <a:pPr algn="just">
              <a:buFont typeface="Wingdings" pitchFamily="2" charset="2"/>
              <a:buChar char="ü"/>
            </a:pPr>
            <a:r>
              <a:rPr lang="ru-RU" sz="2400" dirty="0" smtClean="0">
                <a:solidFill>
                  <a:srgbClr val="00B050"/>
                </a:solidFill>
              </a:rPr>
              <a:t>Extract, transform, and load transaction </a:t>
            </a:r>
            <a:r>
              <a:rPr lang="ru-RU" sz="2400" dirty="0" smtClean="0"/>
              <a:t>data onto the data warehouse system. </a:t>
            </a:r>
            <a:endParaRPr lang="en-US" sz="2400" dirty="0" smtClean="0"/>
          </a:p>
          <a:p>
            <a:pPr algn="just">
              <a:buFont typeface="Wingdings" pitchFamily="2" charset="2"/>
              <a:buChar char="ü"/>
            </a:pPr>
            <a:r>
              <a:rPr lang="ru-RU" sz="2400" dirty="0" smtClean="0"/>
              <a:t>Store and manage the data in a </a:t>
            </a:r>
            <a:r>
              <a:rPr lang="ru-RU" sz="2400" dirty="0" smtClean="0">
                <a:solidFill>
                  <a:srgbClr val="00B050"/>
                </a:solidFill>
              </a:rPr>
              <a:t>multidimensional database system.  </a:t>
            </a:r>
            <a:endParaRPr lang="en-US" sz="2400" dirty="0" smtClean="0">
              <a:solidFill>
                <a:srgbClr val="00B050"/>
              </a:solidFill>
            </a:endParaRPr>
          </a:p>
          <a:p>
            <a:pPr algn="just">
              <a:buFont typeface="Wingdings" pitchFamily="2" charset="2"/>
              <a:buChar char="ü"/>
            </a:pPr>
            <a:r>
              <a:rPr lang="ru-RU" sz="2400" dirty="0" smtClean="0"/>
              <a:t>Provide  </a:t>
            </a:r>
            <a:r>
              <a:rPr lang="ru-RU" sz="2400" dirty="0" smtClean="0">
                <a:solidFill>
                  <a:srgbClr val="00B050"/>
                </a:solidFill>
              </a:rPr>
              <a:t>data  access  to  business  analysts  and  information technology professionals.</a:t>
            </a:r>
            <a:endParaRPr lang="en-US" sz="2400" dirty="0" smtClean="0">
              <a:solidFill>
                <a:srgbClr val="00B050"/>
              </a:solidFill>
            </a:endParaRPr>
          </a:p>
          <a:p>
            <a:pPr algn="just">
              <a:buFont typeface="Wingdings" pitchFamily="2" charset="2"/>
              <a:buChar char="ü"/>
            </a:pPr>
            <a:r>
              <a:rPr lang="ru-RU" sz="2400" dirty="0" smtClean="0"/>
              <a:t>Analyze the data by </a:t>
            </a:r>
            <a:r>
              <a:rPr lang="ru-RU" sz="2400" dirty="0" smtClean="0">
                <a:solidFill>
                  <a:srgbClr val="7030A0"/>
                </a:solidFill>
              </a:rPr>
              <a:t>application software.</a:t>
            </a:r>
            <a:endParaRPr lang="en-US" sz="2400" dirty="0" smtClean="0">
              <a:solidFill>
                <a:srgbClr val="7030A0"/>
              </a:solidFill>
            </a:endParaRPr>
          </a:p>
          <a:p>
            <a:pPr algn="just">
              <a:buFont typeface="Wingdings" pitchFamily="2" charset="2"/>
              <a:buChar char="ü"/>
            </a:pPr>
            <a:r>
              <a:rPr lang="ru-RU" sz="2400" dirty="0" smtClean="0"/>
              <a:t>Present the data in a </a:t>
            </a:r>
            <a:r>
              <a:rPr lang="ru-RU" sz="2400" dirty="0" smtClean="0">
                <a:solidFill>
                  <a:srgbClr val="7030A0"/>
                </a:solidFill>
              </a:rPr>
              <a:t>useful format, such as a graph or table. </a:t>
            </a:r>
            <a:endParaRPr lang="en-US" sz="2400" dirty="0" smtClean="0">
              <a:solidFill>
                <a:srgbClr val="7030A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830529330"/>
              </p:ext>
            </p:extLst>
          </p:nvPr>
        </p:nvGraphicFramePr>
        <p:xfrm>
          <a:off x="533400" y="1016000"/>
          <a:ext cx="6553200" cy="431800"/>
        </p:xfrm>
        <a:graphic>
          <a:graphicData uri="http://schemas.openxmlformats.org/drawingml/2006/table">
            <a:tbl>
              <a:tblPr/>
              <a:tblGrid>
                <a:gridCol w="6553200">
                  <a:extLst>
                    <a:ext uri="{9D8B030D-6E8A-4147-A177-3AD203B41FA5}">
                      <a16:colId xmlns:a16="http://schemas.microsoft.com/office/drawing/2014/main" val="20000"/>
                    </a:ext>
                  </a:extLst>
                </a:gridCol>
              </a:tblGrid>
              <a:tr h="0">
                <a:tc>
                  <a:txBody>
                    <a:bodyPr/>
                    <a:lstStyle/>
                    <a:p>
                      <a:pPr marL="0" marR="0" algn="l">
                        <a:lnSpc>
                          <a:spcPts val="3360"/>
                        </a:lnSpc>
                        <a:spcBef>
                          <a:spcPts val="0"/>
                        </a:spcBef>
                        <a:spcAft>
                          <a:spcPts val="0"/>
                        </a:spcAft>
                      </a:pPr>
                      <a:r>
                        <a:rPr lang="ru-RU" sz="2800" dirty="0" smtClean="0">
                          <a:solidFill>
                            <a:srgbClr val="FF0000"/>
                          </a:solidFill>
                          <a:latin typeface="RLBHGC+FuturaBT-Light"/>
                          <a:ea typeface="Calibri"/>
                          <a:cs typeface="Times New Roman"/>
                        </a:rPr>
                        <a:t> </a:t>
                      </a:r>
                      <a:r>
                        <a:rPr lang="ru-RU" sz="2800" dirty="0" smtClean="0">
                          <a:solidFill>
                            <a:srgbClr val="FF0000"/>
                          </a:solidFill>
                        </a:rPr>
                        <a:t>Data mining consists of five major elements</a:t>
                      </a:r>
                      <a:endParaRPr lang="en-US" sz="28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sz="3600" dirty="0" smtClean="0"/>
              <a:t/>
            </a:r>
            <a:br>
              <a:rPr lang="en-US" sz="3600" dirty="0" smtClean="0"/>
            </a:br>
            <a:r>
              <a:rPr lang="en-US" sz="3600" dirty="0" smtClean="0"/>
              <a:t/>
            </a:r>
            <a:br>
              <a:rPr lang="en-US" sz="3600" dirty="0" smtClean="0"/>
            </a:br>
            <a:r>
              <a:rPr lang="ru-RU" sz="4000" dirty="0" smtClean="0">
                <a:solidFill>
                  <a:srgbClr val="0070C0"/>
                </a:solidFill>
              </a:rPr>
              <a:t>ADVANTAGES OF DATA MINING</a:t>
            </a:r>
            <a:r>
              <a:rPr lang="en-US" sz="3600" dirty="0" smtClean="0"/>
              <a:t/>
            </a:r>
            <a:br>
              <a:rPr lang="en-US" sz="3600" dirty="0" smtClean="0"/>
            </a:br>
            <a:r>
              <a:rPr lang="ru-RU" sz="4000" dirty="0" smtClean="0">
                <a:solidFill>
                  <a:srgbClr val="0070C0"/>
                </a:solidFill>
              </a:rPr>
              <a:t> </a:t>
            </a:r>
            <a:r>
              <a:rPr lang="en-US" dirty="0" smtClean="0"/>
              <a:t/>
            </a:r>
            <a:br>
              <a:rPr lang="en-US" dirty="0" smtClean="0"/>
            </a:br>
            <a:endParaRPr lang="en-US" dirty="0"/>
          </a:p>
        </p:txBody>
      </p:sp>
      <p:sp>
        <p:nvSpPr>
          <p:cNvPr id="3" name="Content Placeholder 2"/>
          <p:cNvSpPr>
            <a:spLocks noGrp="1"/>
          </p:cNvSpPr>
          <p:nvPr>
            <p:ph idx="1"/>
          </p:nvPr>
        </p:nvSpPr>
        <p:spPr>
          <a:xfrm>
            <a:off x="481781" y="762000"/>
            <a:ext cx="8229600" cy="5638800"/>
          </a:xfrm>
        </p:spPr>
        <p:txBody>
          <a:bodyPr>
            <a:normAutofit fontScale="25000" lnSpcReduction="20000"/>
          </a:bodyPr>
          <a:lstStyle/>
          <a:p>
            <a:pPr algn="just">
              <a:buFont typeface="Wingdings" pitchFamily="2" charset="2"/>
              <a:buChar char="ü"/>
            </a:pPr>
            <a:r>
              <a:rPr lang="ru-RU" sz="8400" dirty="0" smtClean="0"/>
              <a:t>Automated prediction of  trends and behaviors : </a:t>
            </a:r>
            <a:endParaRPr lang="en-US" sz="8400" dirty="0" smtClean="0"/>
          </a:p>
          <a:p>
            <a:pPr lvl="1" algn="just">
              <a:buFont typeface="Courier New" pitchFamily="49" charset="0"/>
              <a:buChar char="o"/>
            </a:pPr>
            <a:r>
              <a:rPr lang="ru-RU" sz="8400" dirty="0" smtClean="0"/>
              <a:t>Data   mining   </a:t>
            </a:r>
            <a:r>
              <a:rPr lang="ru-RU" sz="8400" dirty="0" smtClean="0">
                <a:solidFill>
                  <a:srgbClr val="C00000"/>
                </a:solidFill>
              </a:rPr>
              <a:t>automates   the   process   of   finding predictive</a:t>
            </a:r>
            <a:r>
              <a:rPr lang="en-US" sz="8400" dirty="0" smtClean="0">
                <a:solidFill>
                  <a:srgbClr val="C00000"/>
                </a:solidFill>
              </a:rPr>
              <a:t> </a:t>
            </a:r>
            <a:r>
              <a:rPr lang="ru-RU" sz="8400" dirty="0" smtClean="0">
                <a:solidFill>
                  <a:srgbClr val="C00000"/>
                </a:solidFill>
              </a:rPr>
              <a:t>information in large databases</a:t>
            </a:r>
            <a:r>
              <a:rPr lang="ru-RU" sz="8400" dirty="0" smtClean="0"/>
              <a:t>. </a:t>
            </a:r>
            <a:endParaRPr lang="en-US" sz="8400" dirty="0" smtClean="0"/>
          </a:p>
          <a:p>
            <a:pPr lvl="1" algn="just">
              <a:buFont typeface="Courier New" pitchFamily="49" charset="0"/>
              <a:buChar char="o"/>
            </a:pPr>
            <a:r>
              <a:rPr lang="ru-RU" sz="8400" dirty="0" smtClean="0"/>
              <a:t>Questions that traditionally required extensive hands-on analysis can now be answered directly from the data, quickly.  </a:t>
            </a:r>
            <a:endParaRPr lang="en-US" sz="8400" dirty="0" smtClean="0"/>
          </a:p>
          <a:p>
            <a:pPr algn="just">
              <a:buFont typeface="Wingdings" pitchFamily="2" charset="2"/>
              <a:buChar char="ü"/>
            </a:pPr>
            <a:r>
              <a:rPr lang="ru-RU" sz="8400" dirty="0" smtClean="0"/>
              <a:t> Automated Discovery of previously unknown patterns: </a:t>
            </a:r>
            <a:endParaRPr lang="en-US" sz="8400" dirty="0" smtClean="0"/>
          </a:p>
          <a:p>
            <a:pPr lvl="1" algn="just">
              <a:buFont typeface="Courier New" pitchFamily="49" charset="0"/>
              <a:buChar char="o"/>
            </a:pPr>
            <a:r>
              <a:rPr lang="ru-RU" sz="8400" dirty="0" smtClean="0"/>
              <a:t>Data  mining   tools  </a:t>
            </a:r>
            <a:r>
              <a:rPr lang="ru-RU" sz="8400" dirty="0" smtClean="0">
                <a:solidFill>
                  <a:srgbClr val="C00000"/>
                </a:solidFill>
              </a:rPr>
              <a:t>sweep  through   databases  and </a:t>
            </a:r>
            <a:r>
              <a:rPr lang="en-US" sz="8400" dirty="0" smtClean="0">
                <a:solidFill>
                  <a:srgbClr val="C00000"/>
                </a:solidFill>
              </a:rPr>
              <a:t> </a:t>
            </a:r>
            <a:r>
              <a:rPr lang="ru-RU" sz="8400" dirty="0" smtClean="0">
                <a:solidFill>
                  <a:srgbClr val="C00000"/>
                </a:solidFill>
              </a:rPr>
              <a:t>identify previously hidden patterns in one step.</a:t>
            </a:r>
            <a:endParaRPr lang="en-US" sz="8400" dirty="0" smtClean="0">
              <a:solidFill>
                <a:srgbClr val="C00000"/>
              </a:solidFill>
            </a:endParaRPr>
          </a:p>
          <a:p>
            <a:pPr lvl="1" algn="just">
              <a:buFont typeface="Courier New" pitchFamily="49" charset="0"/>
              <a:buChar char="o"/>
            </a:pPr>
            <a:r>
              <a:rPr lang="ru-RU" sz="8400" dirty="0" smtClean="0"/>
              <a:t> E.g.  </a:t>
            </a:r>
            <a:r>
              <a:rPr lang="ru-RU" sz="8400" dirty="0" smtClean="0">
                <a:solidFill>
                  <a:srgbClr val="00B050"/>
                </a:solidFill>
              </a:rPr>
              <a:t>analysis   of   retail  sales   data   to   identify apparently    unrelated    products    </a:t>
            </a:r>
            <a:r>
              <a:rPr lang="ru-RU" sz="8400" dirty="0" smtClean="0"/>
              <a:t>that    are    often purchased together. </a:t>
            </a:r>
            <a:endParaRPr lang="en-US" sz="8400" dirty="0" smtClean="0"/>
          </a:p>
          <a:p>
            <a:pPr algn="just">
              <a:buFont typeface="Wingdings" pitchFamily="2" charset="2"/>
              <a:buChar char="ü"/>
            </a:pPr>
            <a:r>
              <a:rPr lang="ru-RU" sz="8400" dirty="0" smtClean="0"/>
              <a:t>Database can be larger in both depth and breadth: </a:t>
            </a:r>
            <a:endParaRPr lang="en-US" sz="8400" dirty="0" smtClean="0"/>
          </a:p>
          <a:p>
            <a:pPr lvl="1" algn="just">
              <a:buFont typeface="Courier New" pitchFamily="49" charset="0"/>
              <a:buChar char="o"/>
            </a:pPr>
            <a:r>
              <a:rPr lang="ru-RU" sz="8400" dirty="0" smtClean="0"/>
              <a:t>The  databases  can  have  </a:t>
            </a:r>
            <a:r>
              <a:rPr lang="ru-RU" sz="8400" dirty="0" smtClean="0">
                <a:solidFill>
                  <a:srgbClr val="00B050"/>
                </a:solidFill>
              </a:rPr>
              <a:t>more  columns  and  rows. </a:t>
            </a:r>
            <a:endParaRPr lang="en-US" sz="8400" dirty="0" smtClean="0">
              <a:solidFill>
                <a:srgbClr val="00B050"/>
              </a:solidFill>
            </a:endParaRPr>
          </a:p>
          <a:p>
            <a:pPr lvl="1" algn="just">
              <a:buFont typeface="Courier New" pitchFamily="49" charset="0"/>
              <a:buChar char="o"/>
            </a:pPr>
            <a:r>
              <a:rPr lang="ru-RU" sz="8400" dirty="0" smtClean="0"/>
              <a:t>High   performance   data   mining   allows  users   to </a:t>
            </a:r>
            <a:r>
              <a:rPr lang="ru-RU" sz="8400" dirty="0" smtClean="0">
                <a:solidFill>
                  <a:srgbClr val="C00000"/>
                </a:solidFill>
              </a:rPr>
              <a:t>explore full depth of a database</a:t>
            </a:r>
            <a:r>
              <a:rPr lang="ru-RU" sz="8400" dirty="0" smtClean="0"/>
              <a:t>, without pre-selecting a  subset  of   variables.</a:t>
            </a:r>
            <a:endParaRPr lang="en-US" sz="8400" dirty="0" smtClean="0"/>
          </a:p>
          <a:p>
            <a:pPr lvl="1" algn="just">
              <a:buFont typeface="Courier New" pitchFamily="49" charset="0"/>
              <a:buChar char="o"/>
            </a:pPr>
            <a:r>
              <a:rPr lang="ru-RU" sz="8400" dirty="0" smtClean="0"/>
              <a:t>The  data  mining   database </a:t>
            </a:r>
            <a:r>
              <a:rPr lang="ru-RU" sz="8400" dirty="0" smtClean="0">
                <a:solidFill>
                  <a:srgbClr val="C00000"/>
                </a:solidFill>
              </a:rPr>
              <a:t>contain  larger  samples (more  rows)  as  they   yield lower estimation errors and variance</a:t>
            </a:r>
            <a:r>
              <a:rPr lang="ru-RU" sz="8400" dirty="0" smtClean="0"/>
              <a:t>, and allow users </a:t>
            </a:r>
            <a:r>
              <a:rPr lang="en-US" sz="8400" dirty="0" smtClean="0"/>
              <a:t> </a:t>
            </a:r>
            <a:r>
              <a:rPr lang="ru-RU" sz="8400" dirty="0" smtClean="0"/>
              <a:t>to make   conclusion   about   small   but  important segments of a population. </a:t>
            </a:r>
            <a:endParaRPr lang="en-US" sz="8400" dirty="0" smtClean="0"/>
          </a:p>
          <a:p>
            <a:endParaRPr lang="en-US" sz="2000" dirty="0" smtClean="0"/>
          </a:p>
          <a:p>
            <a:pPr algn="just">
              <a:buNone/>
            </a:pPr>
            <a:r>
              <a:rPr lang="en-US" sz="8000" dirty="0" smtClean="0"/>
              <a:t>   </a:t>
            </a:r>
            <a:r>
              <a:rPr lang="ru-RU" sz="8000" dirty="0" smtClean="0"/>
              <a:t> </a:t>
            </a:r>
            <a:endParaRPr lang="en-US" sz="8000" dirty="0" smtClean="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70C0"/>
                </a:solidFill>
              </a:rPr>
              <a:t>Difference between Data Warehousing and Data Mining</a:t>
            </a:r>
            <a:endParaRPr lang="en-US" dirty="0">
              <a:solidFill>
                <a:srgbClr val="0070C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42419447"/>
              </p:ext>
            </p:extLst>
          </p:nvPr>
        </p:nvGraphicFramePr>
        <p:xfrm>
          <a:off x="457200" y="1417640"/>
          <a:ext cx="8229600" cy="51355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730913710"/>
                    </a:ext>
                  </a:extLst>
                </a:gridCol>
                <a:gridCol w="4114800">
                  <a:extLst>
                    <a:ext uri="{9D8B030D-6E8A-4147-A177-3AD203B41FA5}">
                      <a16:colId xmlns:a16="http://schemas.microsoft.com/office/drawing/2014/main" val="2017887308"/>
                    </a:ext>
                  </a:extLst>
                </a:gridCol>
              </a:tblGrid>
              <a:tr h="495894">
                <a:tc>
                  <a:txBody>
                    <a:bodyPr/>
                    <a:lstStyle/>
                    <a:p>
                      <a:pPr algn="ctr" fontAlgn="base"/>
                      <a:r>
                        <a:rPr lang="en-US" b="1" cap="all" dirty="0">
                          <a:solidFill>
                            <a:srgbClr val="000000"/>
                          </a:solidFill>
                          <a:effectLst/>
                        </a:rPr>
                        <a:t>DATA WAREHOUSING</a:t>
                      </a:r>
                    </a:p>
                  </a:txBody>
                  <a:tcPr marL="50800" marR="50800" marT="50800" marB="50800" anchor="ctr"/>
                </a:tc>
                <a:tc>
                  <a:txBody>
                    <a:bodyPr/>
                    <a:lstStyle/>
                    <a:p>
                      <a:pPr algn="ctr" fontAlgn="base"/>
                      <a:r>
                        <a:rPr lang="en-US" b="1" cap="all" dirty="0">
                          <a:solidFill>
                            <a:srgbClr val="000000"/>
                          </a:solidFill>
                          <a:effectLst/>
                        </a:rPr>
                        <a:t>DATA MINING</a:t>
                      </a:r>
                    </a:p>
                  </a:txBody>
                  <a:tcPr marL="50800" marR="50800" marT="50800" marB="50800" anchor="ctr"/>
                </a:tc>
                <a:extLst>
                  <a:ext uri="{0D108BD9-81ED-4DB2-BD59-A6C34878D82A}">
                    <a16:rowId xmlns:a16="http://schemas.microsoft.com/office/drawing/2014/main" val="809129340"/>
                  </a:ext>
                </a:extLst>
              </a:tr>
              <a:tr h="1219356">
                <a:tc>
                  <a:txBody>
                    <a:bodyPr/>
                    <a:lstStyle/>
                    <a:p>
                      <a:pPr algn="l" fontAlgn="base"/>
                      <a:r>
                        <a:rPr lang="en-US" b="0" dirty="0">
                          <a:effectLst/>
                        </a:rPr>
                        <a:t>A data warehouse is database system which is designed for analytical analysis instead of transactional work.</a:t>
                      </a:r>
                    </a:p>
                  </a:txBody>
                  <a:tcPr marL="88900" marR="88900" marT="44450" marB="44450" anchor="ctr"/>
                </a:tc>
                <a:tc>
                  <a:txBody>
                    <a:bodyPr/>
                    <a:lstStyle/>
                    <a:p>
                      <a:pPr algn="l" fontAlgn="base"/>
                      <a:r>
                        <a:rPr lang="en-US" b="0">
                          <a:effectLst/>
                        </a:rPr>
                        <a:t>Data mining is the process of analyzing data patterns.</a:t>
                      </a:r>
                    </a:p>
                  </a:txBody>
                  <a:tcPr marL="88900" marR="88900" marT="44450" marB="44450" anchor="ctr"/>
                </a:tc>
                <a:extLst>
                  <a:ext uri="{0D108BD9-81ED-4DB2-BD59-A6C34878D82A}">
                    <a16:rowId xmlns:a16="http://schemas.microsoft.com/office/drawing/2014/main" val="2517265592"/>
                  </a:ext>
                </a:extLst>
              </a:tr>
              <a:tr h="495894">
                <a:tc>
                  <a:txBody>
                    <a:bodyPr/>
                    <a:lstStyle/>
                    <a:p>
                      <a:pPr algn="l" fontAlgn="base"/>
                      <a:r>
                        <a:rPr lang="en-US" b="0">
                          <a:effectLst/>
                        </a:rPr>
                        <a:t>Data is stored periodically.</a:t>
                      </a:r>
                    </a:p>
                  </a:txBody>
                  <a:tcPr marL="88900" marR="88900" marT="44450" marB="44450" anchor="ctr"/>
                </a:tc>
                <a:tc>
                  <a:txBody>
                    <a:bodyPr/>
                    <a:lstStyle/>
                    <a:p>
                      <a:pPr algn="l" fontAlgn="base"/>
                      <a:r>
                        <a:rPr lang="en-US" b="0">
                          <a:effectLst/>
                        </a:rPr>
                        <a:t>Data is analyzed regularly.</a:t>
                      </a:r>
                    </a:p>
                  </a:txBody>
                  <a:tcPr marL="88900" marR="88900" marT="44450" marB="44450" anchor="ctr"/>
                </a:tc>
                <a:extLst>
                  <a:ext uri="{0D108BD9-81ED-4DB2-BD59-A6C34878D82A}">
                    <a16:rowId xmlns:a16="http://schemas.microsoft.com/office/drawing/2014/main" val="3776189797"/>
                  </a:ext>
                </a:extLst>
              </a:tr>
              <a:tr h="1219356">
                <a:tc>
                  <a:txBody>
                    <a:bodyPr/>
                    <a:lstStyle/>
                    <a:p>
                      <a:pPr algn="l" fontAlgn="base"/>
                      <a:r>
                        <a:rPr lang="en-US" b="0" dirty="0">
                          <a:effectLst/>
                        </a:rPr>
                        <a:t>Data warehousing is the process of extracting and storing data to allow easier reporting.</a:t>
                      </a:r>
                    </a:p>
                  </a:txBody>
                  <a:tcPr marL="88900" marR="88900" marT="44450" marB="44450" anchor="ctr"/>
                </a:tc>
                <a:tc>
                  <a:txBody>
                    <a:bodyPr/>
                    <a:lstStyle/>
                    <a:p>
                      <a:pPr algn="l" fontAlgn="base"/>
                      <a:r>
                        <a:rPr lang="en-US" b="0">
                          <a:effectLst/>
                        </a:rPr>
                        <a:t>Data mining is the use of pattern recognition logic to identify patterns</a:t>
                      </a:r>
                    </a:p>
                  </a:txBody>
                  <a:tcPr marL="88900" marR="88900" marT="44450" marB="44450" anchor="ctr"/>
                </a:tc>
                <a:extLst>
                  <a:ext uri="{0D108BD9-81ED-4DB2-BD59-A6C34878D82A}">
                    <a16:rowId xmlns:a16="http://schemas.microsoft.com/office/drawing/2014/main" val="3669615623"/>
                  </a:ext>
                </a:extLst>
              </a:tr>
              <a:tr h="852530">
                <a:tc>
                  <a:txBody>
                    <a:bodyPr/>
                    <a:lstStyle/>
                    <a:p>
                      <a:pPr algn="l" fontAlgn="base"/>
                      <a:r>
                        <a:rPr lang="en-US" b="0">
                          <a:effectLst/>
                        </a:rPr>
                        <a:t>Data warehousing is solely carried out by engineers.</a:t>
                      </a:r>
                    </a:p>
                  </a:txBody>
                  <a:tcPr marL="88900" marR="88900" marT="44450" marB="44450" anchor="ctr"/>
                </a:tc>
                <a:tc>
                  <a:txBody>
                    <a:bodyPr/>
                    <a:lstStyle/>
                    <a:p>
                      <a:pPr algn="l" fontAlgn="base"/>
                      <a:r>
                        <a:rPr lang="en-US" b="0">
                          <a:effectLst/>
                        </a:rPr>
                        <a:t>Data mining is carried by business users with the help of engineers.</a:t>
                      </a:r>
                    </a:p>
                  </a:txBody>
                  <a:tcPr marL="88900" marR="88900" marT="44450" marB="44450" anchor="ctr"/>
                </a:tc>
                <a:extLst>
                  <a:ext uri="{0D108BD9-81ED-4DB2-BD59-A6C34878D82A}">
                    <a16:rowId xmlns:a16="http://schemas.microsoft.com/office/drawing/2014/main" val="3909846384"/>
                  </a:ext>
                </a:extLst>
              </a:tr>
              <a:tr h="852530">
                <a:tc>
                  <a:txBody>
                    <a:bodyPr/>
                    <a:lstStyle/>
                    <a:p>
                      <a:pPr algn="l" fontAlgn="base"/>
                      <a:r>
                        <a:rPr lang="en-US" b="0">
                          <a:effectLst/>
                        </a:rPr>
                        <a:t>Data warehousing is the process of pooling all relevant data together.</a:t>
                      </a:r>
                    </a:p>
                  </a:txBody>
                  <a:tcPr marL="88900" marR="88900" marT="44450" marB="44450" anchor="ctr"/>
                </a:tc>
                <a:tc>
                  <a:txBody>
                    <a:bodyPr/>
                    <a:lstStyle/>
                    <a:p>
                      <a:pPr algn="l" fontAlgn="base"/>
                      <a:r>
                        <a:rPr lang="en-US" b="0" dirty="0">
                          <a:effectLst/>
                        </a:rPr>
                        <a:t>Data mining is considered as a process of extracting data from large data sets.</a:t>
                      </a:r>
                    </a:p>
                  </a:txBody>
                  <a:tcPr marL="88900" marR="88900" marT="44450" marB="44450" anchor="ctr"/>
                </a:tc>
                <a:extLst>
                  <a:ext uri="{0D108BD9-81ED-4DB2-BD59-A6C34878D82A}">
                    <a16:rowId xmlns:a16="http://schemas.microsoft.com/office/drawing/2014/main" val="2008055109"/>
                  </a:ext>
                </a:extLst>
              </a:tr>
            </a:tbl>
          </a:graphicData>
        </a:graphic>
      </p:graphicFrame>
    </p:spTree>
    <p:extLst>
      <p:ext uri="{BB962C8B-B14F-4D97-AF65-F5344CB8AC3E}">
        <p14:creationId xmlns:p14="http://schemas.microsoft.com/office/powerpoint/2010/main" val="2934631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rgbClr val="0070C0"/>
                </a:solidFill>
              </a:rPr>
              <a:t>N</a:t>
            </a:r>
            <a:r>
              <a:rPr lang="en-US" dirty="0" smtClean="0">
                <a:solidFill>
                  <a:srgbClr val="0070C0"/>
                </a:solidFill>
              </a:rPr>
              <a:t>ational </a:t>
            </a:r>
            <a:r>
              <a:rPr lang="en-US" dirty="0">
                <a:solidFill>
                  <a:srgbClr val="0070C0"/>
                </a:solidFill>
              </a:rPr>
              <a:t>D</a:t>
            </a:r>
            <a:r>
              <a:rPr lang="en-US" dirty="0" smtClean="0">
                <a:solidFill>
                  <a:srgbClr val="0070C0"/>
                </a:solidFill>
              </a:rPr>
              <a:t>ata </a:t>
            </a:r>
            <a:r>
              <a:rPr lang="en-US" dirty="0">
                <a:solidFill>
                  <a:srgbClr val="0070C0"/>
                </a:solidFill>
              </a:rPr>
              <a:t>W</a:t>
            </a:r>
            <a:r>
              <a:rPr lang="en-US" dirty="0" smtClean="0">
                <a:solidFill>
                  <a:srgbClr val="0070C0"/>
                </a:solidFill>
              </a:rPr>
              <a:t>arehouses</a:t>
            </a:r>
            <a:endParaRPr lang="en-US" dirty="0">
              <a:solidFill>
                <a:srgbClr val="0070C0"/>
              </a:solidFill>
            </a:endParaRPr>
          </a:p>
        </p:txBody>
      </p:sp>
      <p:sp>
        <p:nvSpPr>
          <p:cNvPr id="3" name="Content Placeholder 2"/>
          <p:cNvSpPr>
            <a:spLocks noGrp="1"/>
          </p:cNvSpPr>
          <p:nvPr>
            <p:ph idx="1"/>
          </p:nvPr>
        </p:nvSpPr>
        <p:spPr>
          <a:xfrm>
            <a:off x="457200" y="1295400"/>
            <a:ext cx="8229600" cy="5257800"/>
          </a:xfrm>
        </p:spPr>
        <p:txBody>
          <a:bodyPr>
            <a:normAutofit lnSpcReduction="10000"/>
          </a:bodyPr>
          <a:lstStyle/>
          <a:p>
            <a:pPr algn="just"/>
            <a:r>
              <a:rPr lang="en-US" sz="2000" dirty="0"/>
              <a:t>The desire of the e-governance is to empower citizens through the access use of information. </a:t>
            </a:r>
            <a:endParaRPr lang="en-US" sz="2000" dirty="0" smtClean="0"/>
          </a:p>
          <a:p>
            <a:pPr algn="just"/>
            <a:r>
              <a:rPr lang="en-US" sz="2000" dirty="0" smtClean="0"/>
              <a:t>Government </a:t>
            </a:r>
            <a:r>
              <a:rPr lang="en-US" sz="2000" dirty="0"/>
              <a:t>always required enamors amount of data. </a:t>
            </a:r>
            <a:endParaRPr lang="en-US" sz="2000" dirty="0" smtClean="0"/>
          </a:p>
          <a:p>
            <a:pPr lvl="1" algn="just">
              <a:buFont typeface="Wingdings" panose="05000000000000000000" pitchFamily="2" charset="2"/>
              <a:buChar char="ü"/>
            </a:pPr>
            <a:r>
              <a:rPr lang="en-US" sz="1600" dirty="0" smtClean="0"/>
              <a:t>Data </a:t>
            </a:r>
            <a:r>
              <a:rPr lang="en-US" sz="1600" dirty="0"/>
              <a:t>is put to an effective use in facilitating decision-making.</a:t>
            </a:r>
            <a:endParaRPr lang="en-US" sz="1600" dirty="0" smtClean="0"/>
          </a:p>
          <a:p>
            <a:pPr algn="just"/>
            <a:r>
              <a:rPr lang="en-US" sz="2000" dirty="0" smtClean="0"/>
              <a:t>A </a:t>
            </a:r>
            <a:r>
              <a:rPr lang="en-US" sz="2000" dirty="0"/>
              <a:t>large number of </a:t>
            </a:r>
            <a:r>
              <a:rPr lang="en-US" sz="2000" dirty="0">
                <a:solidFill>
                  <a:srgbClr val="FF0000"/>
                </a:solidFill>
              </a:rPr>
              <a:t>national data warehouses can be identified from the </a:t>
            </a:r>
            <a:r>
              <a:rPr lang="en-US" sz="2000" dirty="0" smtClean="0">
                <a:solidFill>
                  <a:srgbClr val="FF0000"/>
                </a:solidFill>
              </a:rPr>
              <a:t>existing data </a:t>
            </a:r>
            <a:r>
              <a:rPr lang="en-US" sz="2000" dirty="0">
                <a:solidFill>
                  <a:srgbClr val="FF0000"/>
                </a:solidFill>
              </a:rPr>
              <a:t>resources </a:t>
            </a:r>
            <a:r>
              <a:rPr lang="en-US" sz="2000" dirty="0"/>
              <a:t>within the Central Government Ministries. </a:t>
            </a:r>
            <a:endParaRPr lang="en-US" sz="2000" dirty="0" smtClean="0"/>
          </a:p>
          <a:p>
            <a:pPr algn="just"/>
            <a:r>
              <a:rPr lang="en-US" sz="2000" dirty="0"/>
              <a:t>The National Data Warehouse of Official Statistics (NDWOS) is a central repository of the statistical data gathered by India’s central ministries, state governments and union territories</a:t>
            </a:r>
            <a:r>
              <a:rPr lang="en-US" sz="2000" dirty="0" smtClean="0"/>
              <a:t>.</a:t>
            </a:r>
          </a:p>
          <a:p>
            <a:pPr algn="just"/>
            <a:r>
              <a:rPr lang="en-US" sz="2000" dirty="0"/>
              <a:t>By </a:t>
            </a:r>
            <a:r>
              <a:rPr lang="en-US" sz="2000" dirty="0" smtClean="0"/>
              <a:t>integrating </a:t>
            </a:r>
            <a:r>
              <a:rPr lang="en-US" sz="2000" dirty="0"/>
              <a:t>disparate data sets, the National data warehouse allows researchers and policy makers to view historical data sets the same way and extract data across different groups. </a:t>
            </a:r>
            <a:endParaRPr lang="en-US" sz="2000" dirty="0" smtClean="0"/>
          </a:p>
          <a:p>
            <a:pPr algn="just"/>
            <a:r>
              <a:rPr lang="en-US" sz="2000" dirty="0" smtClean="0"/>
              <a:t>Let </a:t>
            </a:r>
            <a:r>
              <a:rPr lang="en-US" sz="2000" dirty="0"/>
              <a:t>us examine </a:t>
            </a:r>
            <a:r>
              <a:rPr lang="en-US" sz="2000" dirty="0" smtClean="0"/>
              <a:t>these </a:t>
            </a:r>
            <a:r>
              <a:rPr lang="en-US" sz="2000" dirty="0" smtClean="0">
                <a:solidFill>
                  <a:srgbClr val="00B050"/>
                </a:solidFill>
              </a:rPr>
              <a:t>potential </a:t>
            </a:r>
            <a:r>
              <a:rPr lang="en-US" sz="2000" dirty="0">
                <a:solidFill>
                  <a:srgbClr val="00B050"/>
                </a:solidFill>
              </a:rPr>
              <a:t>subject areas on which data warehouses may be developed at </a:t>
            </a:r>
            <a:r>
              <a:rPr lang="en-US" sz="2000" dirty="0" smtClean="0">
                <a:solidFill>
                  <a:srgbClr val="00B050"/>
                </a:solidFill>
              </a:rPr>
              <a:t>present and </a:t>
            </a:r>
            <a:r>
              <a:rPr lang="en-US" sz="2000" dirty="0">
                <a:solidFill>
                  <a:srgbClr val="00B050"/>
                </a:solidFill>
              </a:rPr>
              <a:t>also in future</a:t>
            </a:r>
            <a:r>
              <a:rPr lang="en-US" sz="2000" dirty="0" smtClean="0"/>
              <a:t>.</a:t>
            </a:r>
          </a:p>
          <a:p>
            <a:pPr algn="just"/>
            <a:r>
              <a:rPr lang="en-US" sz="2000" dirty="0"/>
              <a:t>In 1999 the Government of India mandated the creation of the National Data Warehouse to hold all of the country’s statistical data</a:t>
            </a:r>
          </a:p>
        </p:txBody>
      </p:sp>
    </p:spTree>
    <p:extLst>
      <p:ext uri="{BB962C8B-B14F-4D97-AF65-F5344CB8AC3E}">
        <p14:creationId xmlns:p14="http://schemas.microsoft.com/office/powerpoint/2010/main" val="362911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368" y="152400"/>
            <a:ext cx="8229600" cy="792162"/>
          </a:xfrm>
        </p:spPr>
        <p:txBody>
          <a:bodyPr/>
          <a:lstStyle/>
          <a:p>
            <a:r>
              <a:rPr lang="en-US" b="1" dirty="0">
                <a:solidFill>
                  <a:schemeClr val="accent1"/>
                </a:solidFill>
              </a:rPr>
              <a:t>Census Data</a:t>
            </a:r>
            <a:endParaRPr lang="en-US" dirty="0">
              <a:solidFill>
                <a:schemeClr val="accent1"/>
              </a:solidFill>
            </a:endParaRPr>
          </a:p>
        </p:txBody>
      </p:sp>
      <p:sp>
        <p:nvSpPr>
          <p:cNvPr id="3" name="Content Placeholder 2"/>
          <p:cNvSpPr>
            <a:spLocks noGrp="1"/>
          </p:cNvSpPr>
          <p:nvPr>
            <p:ph idx="1"/>
          </p:nvPr>
        </p:nvSpPr>
        <p:spPr>
          <a:xfrm>
            <a:off x="422787" y="838200"/>
            <a:ext cx="8382000" cy="5562600"/>
          </a:xfrm>
        </p:spPr>
        <p:txBody>
          <a:bodyPr>
            <a:noAutofit/>
          </a:bodyPr>
          <a:lstStyle/>
          <a:p>
            <a:pPr algn="just"/>
            <a:r>
              <a:rPr lang="en-US" sz="2200" dirty="0"/>
              <a:t>The Registrar General and Census Commissioner of India decennially </a:t>
            </a:r>
            <a:r>
              <a:rPr lang="en-US" sz="2200" dirty="0" smtClean="0"/>
              <a:t>compiles information of all </a:t>
            </a:r>
            <a:r>
              <a:rPr lang="en-US" sz="2200" dirty="0" smtClean="0">
                <a:solidFill>
                  <a:srgbClr val="FF0000"/>
                </a:solidFill>
              </a:rPr>
              <a:t>individuals, villages, population groups</a:t>
            </a:r>
            <a:r>
              <a:rPr lang="en-US" sz="2200" dirty="0" smtClean="0"/>
              <a:t> etc. </a:t>
            </a:r>
          </a:p>
          <a:p>
            <a:pPr algn="just"/>
            <a:r>
              <a:rPr lang="en-US" sz="2200" dirty="0" smtClean="0"/>
              <a:t>This information is </a:t>
            </a:r>
            <a:r>
              <a:rPr lang="en-US" sz="2200" dirty="0">
                <a:solidFill>
                  <a:srgbClr val="FF0000"/>
                </a:solidFill>
              </a:rPr>
              <a:t>wide ranging such as the individual-slip, a compilation of information </a:t>
            </a:r>
            <a:r>
              <a:rPr lang="en-US" sz="2200" dirty="0" smtClean="0">
                <a:solidFill>
                  <a:srgbClr val="FF0000"/>
                </a:solidFill>
              </a:rPr>
              <a:t>of individual </a:t>
            </a:r>
            <a:r>
              <a:rPr lang="en-US" sz="2200" dirty="0">
                <a:solidFill>
                  <a:srgbClr val="FF0000"/>
                </a:solidFill>
              </a:rPr>
              <a:t>households</a:t>
            </a:r>
            <a:r>
              <a:rPr lang="en-US" sz="2200" dirty="0"/>
              <a:t>, of which a </a:t>
            </a:r>
            <a:r>
              <a:rPr lang="en-US" sz="2200" dirty="0">
                <a:solidFill>
                  <a:srgbClr val="00B050"/>
                </a:solidFill>
              </a:rPr>
              <a:t>database of 5% sample is maintained </a:t>
            </a:r>
            <a:r>
              <a:rPr lang="en-US" sz="2200" dirty="0" smtClean="0">
                <a:solidFill>
                  <a:srgbClr val="00B050"/>
                </a:solidFill>
              </a:rPr>
              <a:t>for analysis</a:t>
            </a:r>
            <a:r>
              <a:rPr lang="en-US" sz="2200" dirty="0">
                <a:solidFill>
                  <a:srgbClr val="00B050"/>
                </a:solidFill>
              </a:rPr>
              <a:t>. </a:t>
            </a:r>
            <a:endParaRPr lang="en-US" sz="2200" dirty="0" smtClean="0">
              <a:solidFill>
                <a:srgbClr val="00B050"/>
              </a:solidFill>
            </a:endParaRPr>
          </a:p>
          <a:p>
            <a:pPr algn="just"/>
            <a:r>
              <a:rPr lang="en-US" sz="2200" dirty="0" smtClean="0"/>
              <a:t>A </a:t>
            </a:r>
            <a:r>
              <a:rPr lang="en-US" sz="2200" dirty="0"/>
              <a:t>data </a:t>
            </a:r>
            <a:r>
              <a:rPr lang="en-US" sz="2200" dirty="0">
                <a:solidFill>
                  <a:srgbClr val="00B050"/>
                </a:solidFill>
              </a:rPr>
              <a:t>warehouse can be built from this database </a:t>
            </a:r>
            <a:r>
              <a:rPr lang="en-US" sz="2200" dirty="0"/>
              <a:t>upon which Online Analytical Processing Server (</a:t>
            </a:r>
            <a:r>
              <a:rPr lang="en-US" sz="2200" b="1" dirty="0" smtClean="0"/>
              <a:t>OLAP</a:t>
            </a:r>
            <a:r>
              <a:rPr lang="en-US" sz="2200" dirty="0" smtClean="0"/>
              <a:t>) techniques </a:t>
            </a:r>
            <a:r>
              <a:rPr lang="en-US" sz="2200" dirty="0"/>
              <a:t>can be applied. </a:t>
            </a:r>
            <a:endParaRPr lang="en-US" sz="2200" dirty="0" smtClean="0"/>
          </a:p>
          <a:p>
            <a:pPr algn="just"/>
            <a:r>
              <a:rPr lang="en-US" sz="2200" dirty="0" smtClean="0"/>
              <a:t>Data </a:t>
            </a:r>
            <a:r>
              <a:rPr lang="en-US" sz="2200" dirty="0"/>
              <a:t>mining also can be performed for </a:t>
            </a:r>
            <a:r>
              <a:rPr lang="en-US" sz="2200" dirty="0">
                <a:solidFill>
                  <a:srgbClr val="00B050"/>
                </a:solidFill>
              </a:rPr>
              <a:t>analysis </a:t>
            </a:r>
            <a:r>
              <a:rPr lang="en-US" sz="2200" dirty="0" smtClean="0">
                <a:solidFill>
                  <a:srgbClr val="00B050"/>
                </a:solidFill>
              </a:rPr>
              <a:t>and knowledge </a:t>
            </a:r>
            <a:r>
              <a:rPr lang="en-US" sz="2200" dirty="0">
                <a:solidFill>
                  <a:srgbClr val="00B050"/>
                </a:solidFill>
              </a:rPr>
              <a:t>discovery</a:t>
            </a:r>
            <a:r>
              <a:rPr lang="en-US" sz="2200" dirty="0" smtClean="0">
                <a:solidFill>
                  <a:srgbClr val="00B050"/>
                </a:solidFill>
              </a:rPr>
              <a:t>.</a:t>
            </a:r>
          </a:p>
          <a:p>
            <a:pPr algn="just"/>
            <a:r>
              <a:rPr lang="en-US" sz="2200" dirty="0"/>
              <a:t>A </a:t>
            </a:r>
            <a:r>
              <a:rPr lang="en-US" sz="2200" dirty="0">
                <a:solidFill>
                  <a:srgbClr val="FF0000"/>
                </a:solidFill>
              </a:rPr>
              <a:t>village-level database </a:t>
            </a:r>
            <a:r>
              <a:rPr lang="en-US" sz="2200" dirty="0"/>
              <a:t>was originally developed by National </a:t>
            </a:r>
            <a:r>
              <a:rPr lang="en-US" sz="2200" dirty="0" smtClean="0"/>
              <a:t>Informatics Centre </a:t>
            </a:r>
            <a:r>
              <a:rPr lang="en-US" sz="2200" dirty="0"/>
              <a:t>at Hyderabad under General Information Services Terminal of </a:t>
            </a:r>
            <a:r>
              <a:rPr lang="en-US" sz="2200" dirty="0" smtClean="0"/>
              <a:t>National Informatics </a:t>
            </a:r>
            <a:r>
              <a:rPr lang="en-US" sz="2200" dirty="0"/>
              <a:t>Centre (GISTNIC) for the 1991 Census. </a:t>
            </a:r>
            <a:endParaRPr lang="en-US" sz="2200" dirty="0" smtClean="0"/>
          </a:p>
          <a:p>
            <a:pPr algn="just"/>
            <a:r>
              <a:rPr lang="en-US" sz="2200" dirty="0" smtClean="0"/>
              <a:t>This </a:t>
            </a:r>
            <a:r>
              <a:rPr lang="en-US" sz="2200" dirty="0"/>
              <a:t>consists of two </a:t>
            </a:r>
            <a:r>
              <a:rPr lang="en-US" sz="2200" dirty="0" smtClean="0"/>
              <a:t>parts: </a:t>
            </a:r>
            <a:r>
              <a:rPr lang="en-US" sz="2200" dirty="0" smtClean="0">
                <a:solidFill>
                  <a:srgbClr val="FF0000"/>
                </a:solidFill>
              </a:rPr>
              <a:t>primary </a:t>
            </a:r>
            <a:r>
              <a:rPr lang="en-US" sz="2200" dirty="0">
                <a:solidFill>
                  <a:srgbClr val="FF0000"/>
                </a:solidFill>
              </a:rPr>
              <a:t>census abstract and village </a:t>
            </a:r>
            <a:r>
              <a:rPr lang="en-US" sz="2200" dirty="0" smtClean="0">
                <a:solidFill>
                  <a:srgbClr val="FF0000"/>
                </a:solidFill>
              </a:rPr>
              <a:t>amenities.</a:t>
            </a:r>
          </a:p>
        </p:txBody>
      </p:sp>
    </p:spTree>
    <p:extLst>
      <p:ext uri="{BB962C8B-B14F-4D97-AF65-F5344CB8AC3E}">
        <p14:creationId xmlns:p14="http://schemas.microsoft.com/office/powerpoint/2010/main" val="1889847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Census Data</a:t>
            </a:r>
            <a:endParaRPr lang="en-US" dirty="0"/>
          </a:p>
        </p:txBody>
      </p:sp>
      <p:sp>
        <p:nvSpPr>
          <p:cNvPr id="3" name="Content Placeholder 2"/>
          <p:cNvSpPr>
            <a:spLocks noGrp="1"/>
          </p:cNvSpPr>
          <p:nvPr>
            <p:ph idx="1"/>
          </p:nvPr>
        </p:nvSpPr>
        <p:spPr>
          <a:xfrm>
            <a:off x="489155" y="1143000"/>
            <a:ext cx="8229600" cy="5257800"/>
          </a:xfrm>
        </p:spPr>
        <p:txBody>
          <a:bodyPr>
            <a:normAutofit fontScale="70000" lnSpcReduction="20000"/>
          </a:bodyPr>
          <a:lstStyle/>
          <a:p>
            <a:pPr algn="just"/>
            <a:r>
              <a:rPr lang="en-US" dirty="0"/>
              <a:t>Subsequently, a </a:t>
            </a:r>
            <a:r>
              <a:rPr lang="en-US" dirty="0">
                <a:solidFill>
                  <a:srgbClr val="FF0000"/>
                </a:solidFill>
              </a:rPr>
              <a:t>data warehouse was also developed for village amenities </a:t>
            </a:r>
            <a:r>
              <a:rPr lang="en-US" dirty="0"/>
              <a:t>for Tamil Nadu. </a:t>
            </a:r>
          </a:p>
          <a:p>
            <a:pPr algn="just"/>
            <a:r>
              <a:rPr lang="en-US" dirty="0"/>
              <a:t>This enables </a:t>
            </a:r>
            <a:r>
              <a:rPr lang="en-US" dirty="0">
                <a:solidFill>
                  <a:srgbClr val="FF0000"/>
                </a:solidFill>
              </a:rPr>
              <a:t>multidimensional analysis of the village level data </a:t>
            </a:r>
            <a:r>
              <a:rPr lang="en-US" dirty="0"/>
              <a:t>in such sectors as Education, Health and Infrastructure. </a:t>
            </a:r>
            <a:endParaRPr lang="en-US" dirty="0" smtClean="0"/>
          </a:p>
          <a:p>
            <a:pPr algn="just"/>
            <a:r>
              <a:rPr lang="en-US" dirty="0" smtClean="0"/>
              <a:t>As </a:t>
            </a:r>
            <a:r>
              <a:rPr lang="en-US" dirty="0"/>
              <a:t>the </a:t>
            </a:r>
            <a:r>
              <a:rPr lang="en-US" dirty="0">
                <a:solidFill>
                  <a:srgbClr val="FF0000"/>
                </a:solidFill>
              </a:rPr>
              <a:t>census compilation is performed once in ten years</a:t>
            </a:r>
            <a:r>
              <a:rPr lang="en-US" dirty="0"/>
              <a:t>, the </a:t>
            </a:r>
            <a:r>
              <a:rPr lang="en-US" dirty="0">
                <a:solidFill>
                  <a:srgbClr val="00B050"/>
                </a:solidFill>
              </a:rPr>
              <a:t>data </a:t>
            </a:r>
            <a:r>
              <a:rPr lang="en-US" dirty="0" smtClean="0">
                <a:solidFill>
                  <a:srgbClr val="00B050"/>
                </a:solidFill>
              </a:rPr>
              <a:t>is quasi-static </a:t>
            </a:r>
            <a:r>
              <a:rPr lang="en-US" dirty="0">
                <a:solidFill>
                  <a:srgbClr val="00B050"/>
                </a:solidFill>
              </a:rPr>
              <a:t>and, therefore, no refreshing of the warehouse needs to be done </a:t>
            </a:r>
            <a:r>
              <a:rPr lang="en-US" dirty="0" smtClean="0">
                <a:solidFill>
                  <a:srgbClr val="00B050"/>
                </a:solidFill>
              </a:rPr>
              <a:t>on a </a:t>
            </a:r>
            <a:r>
              <a:rPr lang="en-US" dirty="0">
                <a:solidFill>
                  <a:srgbClr val="00B050"/>
                </a:solidFill>
              </a:rPr>
              <a:t>periodic basis</a:t>
            </a:r>
            <a:r>
              <a:rPr lang="en-US" dirty="0"/>
              <a:t>. </a:t>
            </a:r>
            <a:endParaRPr lang="en-US" dirty="0" smtClean="0"/>
          </a:p>
          <a:p>
            <a:pPr algn="just"/>
            <a:r>
              <a:rPr lang="en-US" dirty="0" smtClean="0"/>
              <a:t>Only </a:t>
            </a:r>
            <a:r>
              <a:rPr lang="en-US" dirty="0"/>
              <a:t>the </a:t>
            </a:r>
            <a:r>
              <a:rPr lang="en-US" dirty="0">
                <a:solidFill>
                  <a:srgbClr val="00B050"/>
                </a:solidFill>
              </a:rPr>
              <a:t>new data needs to be either appended to the </a:t>
            </a:r>
            <a:r>
              <a:rPr lang="en-US" dirty="0" smtClean="0">
                <a:solidFill>
                  <a:srgbClr val="00B050"/>
                </a:solidFill>
              </a:rPr>
              <a:t>data warehouse </a:t>
            </a:r>
            <a:r>
              <a:rPr lang="en-US" dirty="0"/>
              <a:t>or alternatively a new data warehouse can be built.</a:t>
            </a:r>
          </a:p>
          <a:p>
            <a:pPr algn="just"/>
            <a:r>
              <a:rPr lang="en-US" dirty="0"/>
              <a:t>There exist </a:t>
            </a:r>
            <a:r>
              <a:rPr lang="en-US" dirty="0">
                <a:solidFill>
                  <a:srgbClr val="00B050"/>
                </a:solidFill>
              </a:rPr>
              <a:t>many other subject areas (e.g. migration tables) within </a:t>
            </a:r>
            <a:r>
              <a:rPr lang="en-US" dirty="0" smtClean="0">
                <a:solidFill>
                  <a:srgbClr val="00B050"/>
                </a:solidFill>
              </a:rPr>
              <a:t>the census purview(scope of influence) </a:t>
            </a:r>
            <a:r>
              <a:rPr lang="en-US" dirty="0"/>
              <a:t>which may be amenable and appropriate for data </a:t>
            </a:r>
            <a:r>
              <a:rPr lang="en-US" dirty="0" smtClean="0"/>
              <a:t>warehouse development</a:t>
            </a:r>
            <a:r>
              <a:rPr lang="en-US" dirty="0"/>
              <a:t>, OLAP and data mining applications on which work can be </a:t>
            </a:r>
            <a:r>
              <a:rPr lang="en-US" dirty="0" smtClean="0"/>
              <a:t>taken up </a:t>
            </a:r>
            <a:r>
              <a:rPr lang="en-US" dirty="0"/>
              <a:t>in future.</a:t>
            </a:r>
          </a:p>
        </p:txBody>
      </p:sp>
    </p:spTree>
    <p:extLst>
      <p:ext uri="{BB962C8B-B14F-4D97-AF65-F5344CB8AC3E}">
        <p14:creationId xmlns:p14="http://schemas.microsoft.com/office/powerpoint/2010/main" val="2767609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chemeClr val="accent1"/>
                </a:solidFill>
              </a:rPr>
              <a:t>Prices of Essential Commodities</a:t>
            </a:r>
            <a:endParaRPr lang="en-US" dirty="0">
              <a:solidFill>
                <a:schemeClr val="accent1"/>
              </a:solidFill>
            </a:endParaRPr>
          </a:p>
        </p:txBody>
      </p:sp>
      <p:sp>
        <p:nvSpPr>
          <p:cNvPr id="3" name="Content Placeholder 2"/>
          <p:cNvSpPr>
            <a:spLocks noGrp="1"/>
          </p:cNvSpPr>
          <p:nvPr>
            <p:ph idx="1"/>
          </p:nvPr>
        </p:nvSpPr>
        <p:spPr>
          <a:xfrm>
            <a:off x="457200" y="1143000"/>
            <a:ext cx="8229600" cy="5211762"/>
          </a:xfrm>
        </p:spPr>
        <p:txBody>
          <a:bodyPr>
            <a:normAutofit fontScale="70000" lnSpcReduction="20000"/>
          </a:bodyPr>
          <a:lstStyle/>
          <a:p>
            <a:pPr algn="just"/>
            <a:r>
              <a:rPr lang="en-US" dirty="0"/>
              <a:t>The Ministry of Food and Civil Supplies, </a:t>
            </a:r>
            <a:r>
              <a:rPr lang="en-US" dirty="0">
                <a:solidFill>
                  <a:srgbClr val="00B050"/>
                </a:solidFill>
              </a:rPr>
              <a:t>Government of India, compiles </a:t>
            </a:r>
            <a:r>
              <a:rPr lang="en-US" dirty="0" smtClean="0">
                <a:solidFill>
                  <a:srgbClr val="00B050"/>
                </a:solidFill>
              </a:rPr>
              <a:t>daily data </a:t>
            </a:r>
            <a:r>
              <a:rPr lang="en-US" dirty="0">
                <a:solidFill>
                  <a:srgbClr val="00B050"/>
                </a:solidFill>
              </a:rPr>
              <a:t>(on weekly basis) </a:t>
            </a:r>
            <a:r>
              <a:rPr lang="en-US" dirty="0"/>
              <a:t>for about 300 observation </a:t>
            </a:r>
            <a:r>
              <a:rPr lang="en-US" dirty="0" smtClean="0"/>
              <a:t>centers </a:t>
            </a:r>
            <a:r>
              <a:rPr lang="en-US" dirty="0"/>
              <a:t>in the entire </a:t>
            </a:r>
            <a:r>
              <a:rPr lang="en-US" dirty="0" smtClean="0"/>
              <a:t>country on </a:t>
            </a:r>
            <a:r>
              <a:rPr lang="en-US" dirty="0"/>
              <a:t>the </a:t>
            </a:r>
            <a:r>
              <a:rPr lang="en-US" dirty="0">
                <a:solidFill>
                  <a:srgbClr val="00B050"/>
                </a:solidFill>
              </a:rPr>
              <a:t>prices of essential commodities such as rice, edible oils, etc. </a:t>
            </a:r>
            <a:endParaRPr lang="en-US" dirty="0" smtClean="0">
              <a:solidFill>
                <a:srgbClr val="00B050"/>
              </a:solidFill>
            </a:endParaRPr>
          </a:p>
          <a:p>
            <a:pPr algn="just"/>
            <a:r>
              <a:rPr lang="en-US" dirty="0" smtClean="0"/>
              <a:t>This </a:t>
            </a:r>
            <a:r>
              <a:rPr lang="en-US" dirty="0"/>
              <a:t>data </a:t>
            </a:r>
            <a:r>
              <a:rPr lang="en-US" dirty="0" smtClean="0"/>
              <a:t>is compiled </a:t>
            </a:r>
            <a:r>
              <a:rPr lang="en-US" dirty="0"/>
              <a:t>at the district level by the respective State Government agencies </a:t>
            </a:r>
            <a:r>
              <a:rPr lang="en-US" dirty="0" smtClean="0"/>
              <a:t>and transmitted </a:t>
            </a:r>
            <a:r>
              <a:rPr lang="en-US" dirty="0"/>
              <a:t>online to Delhi </a:t>
            </a:r>
            <a:r>
              <a:rPr lang="en-US" dirty="0">
                <a:solidFill>
                  <a:srgbClr val="FF0000"/>
                </a:solidFill>
              </a:rPr>
              <a:t>for aggregation and storage. </a:t>
            </a:r>
            <a:endParaRPr lang="en-US" dirty="0" smtClean="0">
              <a:solidFill>
                <a:srgbClr val="FF0000"/>
              </a:solidFill>
            </a:endParaRPr>
          </a:p>
          <a:p>
            <a:pPr algn="just"/>
            <a:r>
              <a:rPr lang="en-US" dirty="0" smtClean="0"/>
              <a:t>A </a:t>
            </a:r>
            <a:r>
              <a:rPr lang="en-US" dirty="0"/>
              <a:t>data warehouse </a:t>
            </a:r>
            <a:r>
              <a:rPr lang="en-US" dirty="0" smtClean="0"/>
              <a:t>can be </a:t>
            </a:r>
            <a:r>
              <a:rPr lang="en-US" dirty="0"/>
              <a:t>built for this data, and </a:t>
            </a:r>
            <a:r>
              <a:rPr lang="en-US" dirty="0">
                <a:solidFill>
                  <a:srgbClr val="FF0000"/>
                </a:solidFill>
              </a:rPr>
              <a:t>OLAP techniques can be applied for its analysis</a:t>
            </a:r>
            <a:r>
              <a:rPr lang="en-US" dirty="0" smtClean="0">
                <a:solidFill>
                  <a:srgbClr val="FF0000"/>
                </a:solidFill>
              </a:rPr>
              <a:t>.</a:t>
            </a:r>
          </a:p>
          <a:p>
            <a:pPr algn="just"/>
            <a:r>
              <a:rPr lang="en-US" dirty="0" smtClean="0"/>
              <a:t>A</a:t>
            </a:r>
            <a:r>
              <a:rPr lang="en-US" dirty="0"/>
              <a:t> </a:t>
            </a:r>
            <a:r>
              <a:rPr lang="en-US" dirty="0" smtClean="0"/>
              <a:t>data </a:t>
            </a:r>
            <a:r>
              <a:rPr lang="en-US" dirty="0"/>
              <a:t>mining and forecasting technique can be applied for </a:t>
            </a:r>
            <a:r>
              <a:rPr lang="en-US" dirty="0">
                <a:solidFill>
                  <a:srgbClr val="00B050"/>
                </a:solidFill>
              </a:rPr>
              <a:t>advance </a:t>
            </a:r>
            <a:r>
              <a:rPr lang="en-US" dirty="0" smtClean="0">
                <a:solidFill>
                  <a:srgbClr val="00B050"/>
                </a:solidFill>
              </a:rPr>
              <a:t>forecasting of </a:t>
            </a:r>
            <a:r>
              <a:rPr lang="en-US" dirty="0">
                <a:solidFill>
                  <a:srgbClr val="00B050"/>
                </a:solidFill>
              </a:rPr>
              <a:t>the actual prices of these essential commodities</a:t>
            </a:r>
            <a:r>
              <a:rPr lang="en-US" dirty="0"/>
              <a:t>. </a:t>
            </a:r>
            <a:endParaRPr lang="en-US" dirty="0" smtClean="0"/>
          </a:p>
          <a:p>
            <a:pPr algn="just"/>
            <a:r>
              <a:rPr lang="en-US" dirty="0" smtClean="0"/>
              <a:t>The </a:t>
            </a:r>
            <a:r>
              <a:rPr lang="en-US" dirty="0">
                <a:solidFill>
                  <a:srgbClr val="FF0000"/>
                </a:solidFill>
              </a:rPr>
              <a:t>forecasting model </a:t>
            </a:r>
            <a:r>
              <a:rPr lang="en-US" dirty="0" smtClean="0">
                <a:solidFill>
                  <a:srgbClr val="FF0000"/>
                </a:solidFill>
              </a:rPr>
              <a:t>can be </a:t>
            </a:r>
            <a:r>
              <a:rPr lang="en-US" dirty="0">
                <a:solidFill>
                  <a:srgbClr val="FF0000"/>
                </a:solidFill>
              </a:rPr>
              <a:t>strengthened for more accurate</a:t>
            </a:r>
            <a:r>
              <a:rPr lang="en-US" dirty="0"/>
              <a:t> forecasting by </a:t>
            </a:r>
            <a:r>
              <a:rPr lang="en-US" dirty="0">
                <a:solidFill>
                  <a:srgbClr val="00B050"/>
                </a:solidFill>
              </a:rPr>
              <a:t>taking into account </a:t>
            </a:r>
            <a:r>
              <a:rPr lang="en-US" dirty="0" smtClean="0">
                <a:solidFill>
                  <a:srgbClr val="00B050"/>
                </a:solidFill>
              </a:rPr>
              <a:t>the external </a:t>
            </a:r>
            <a:r>
              <a:rPr lang="en-US" dirty="0">
                <a:solidFill>
                  <a:srgbClr val="00B050"/>
                </a:solidFill>
              </a:rPr>
              <a:t>factors such as rainfall, growth rate of population and inflation.</a:t>
            </a:r>
          </a:p>
        </p:txBody>
      </p:sp>
    </p:spTree>
    <p:extLst>
      <p:ext uri="{BB962C8B-B14F-4D97-AF65-F5344CB8AC3E}">
        <p14:creationId xmlns:p14="http://schemas.microsoft.com/office/powerpoint/2010/main" val="1632458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O</a:t>
            </a:r>
            <a:r>
              <a:rPr lang="en-US" dirty="0" smtClean="0">
                <a:solidFill>
                  <a:schemeClr val="accent1"/>
                </a:solidFill>
              </a:rPr>
              <a:t>ther </a:t>
            </a:r>
            <a:r>
              <a:rPr lang="en-US" dirty="0">
                <a:solidFill>
                  <a:schemeClr val="accent1"/>
                </a:solidFill>
              </a:rPr>
              <a:t>A</a:t>
            </a:r>
            <a:r>
              <a:rPr lang="en-US" dirty="0" smtClean="0">
                <a:solidFill>
                  <a:schemeClr val="accent1"/>
                </a:solidFill>
              </a:rPr>
              <a:t>reas for Data </a:t>
            </a:r>
            <a:r>
              <a:rPr lang="en-US" dirty="0">
                <a:solidFill>
                  <a:schemeClr val="accent1"/>
                </a:solidFill>
              </a:rPr>
              <a:t>W</a:t>
            </a:r>
            <a:r>
              <a:rPr lang="en-US" dirty="0" smtClean="0">
                <a:solidFill>
                  <a:schemeClr val="accent1"/>
                </a:solidFill>
              </a:rPr>
              <a:t>arehousing and Data mining</a:t>
            </a:r>
            <a:endParaRPr lang="en-US" dirty="0">
              <a:solidFill>
                <a:schemeClr val="accent1"/>
              </a:solidFill>
            </a:endParaRPr>
          </a:p>
        </p:txBody>
      </p:sp>
      <p:sp>
        <p:nvSpPr>
          <p:cNvPr id="3" name="Content Placeholder 2"/>
          <p:cNvSpPr>
            <a:spLocks noGrp="1"/>
          </p:cNvSpPr>
          <p:nvPr>
            <p:ph idx="1"/>
          </p:nvPr>
        </p:nvSpPr>
        <p:spPr/>
        <p:txBody>
          <a:bodyPr/>
          <a:lstStyle/>
          <a:p>
            <a:r>
              <a:rPr lang="en-US" dirty="0"/>
              <a:t>Other possible areas for data warehousing and data </a:t>
            </a:r>
            <a:r>
              <a:rPr lang="en-US" dirty="0" smtClean="0"/>
              <a:t>mining in Central</a:t>
            </a:r>
            <a:r>
              <a:rPr lang="en-US" dirty="0"/>
              <a:t> </a:t>
            </a:r>
            <a:r>
              <a:rPr lang="en-US" dirty="0" smtClean="0"/>
              <a:t>Government </a:t>
            </a:r>
            <a:r>
              <a:rPr lang="en-US" dirty="0"/>
              <a:t>sectors are discussed in detail as under.</a:t>
            </a:r>
          </a:p>
        </p:txBody>
      </p:sp>
    </p:spTree>
    <p:extLst>
      <p:ext uri="{BB962C8B-B14F-4D97-AF65-F5344CB8AC3E}">
        <p14:creationId xmlns:p14="http://schemas.microsoft.com/office/powerpoint/2010/main" val="2924341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b="1" dirty="0">
                <a:solidFill>
                  <a:schemeClr val="accent1"/>
                </a:solidFill>
              </a:rPr>
              <a:t>Agriculture</a:t>
            </a:r>
            <a:endParaRPr lang="en-US" dirty="0">
              <a:solidFill>
                <a:schemeClr val="accent1"/>
              </a:solidFill>
            </a:endParaRPr>
          </a:p>
        </p:txBody>
      </p:sp>
      <p:sp>
        <p:nvSpPr>
          <p:cNvPr id="3" name="Content Placeholder 2"/>
          <p:cNvSpPr>
            <a:spLocks noGrp="1"/>
          </p:cNvSpPr>
          <p:nvPr>
            <p:ph idx="1"/>
          </p:nvPr>
        </p:nvSpPr>
        <p:spPr>
          <a:xfrm>
            <a:off x="457200" y="990600"/>
            <a:ext cx="8229600" cy="5715000"/>
          </a:xfrm>
        </p:spPr>
        <p:txBody>
          <a:bodyPr>
            <a:normAutofit fontScale="70000" lnSpcReduction="20000"/>
          </a:bodyPr>
          <a:lstStyle/>
          <a:p>
            <a:pPr algn="just"/>
            <a:r>
              <a:rPr lang="en-US" dirty="0"/>
              <a:t>Agriculture is extremely diversified in terms of its climate, crops, horticultural crops, livestock resources, fisheries resources, plantation crops, water resources, soil etc. the diversity of its agricultural sector is both a curse and godsend to the social, economic, and cultural bases of India’s vast population. </a:t>
            </a:r>
            <a:endParaRPr lang="en-US" dirty="0" smtClean="0"/>
          </a:p>
          <a:p>
            <a:pPr algn="just"/>
            <a:r>
              <a:rPr lang="en-US" dirty="0" smtClean="0"/>
              <a:t>Data </a:t>
            </a:r>
            <a:r>
              <a:rPr lang="en-US" dirty="0"/>
              <a:t>mining techniques are used broadly in business and corporate sectors and be used in agriculture for data characterization, prejudice predictive and forecasting purposes</a:t>
            </a:r>
            <a:endParaRPr lang="en-US" dirty="0" smtClean="0"/>
          </a:p>
          <a:p>
            <a:pPr algn="just"/>
            <a:r>
              <a:rPr lang="en-US" dirty="0" smtClean="0"/>
              <a:t>The </a:t>
            </a:r>
            <a:r>
              <a:rPr lang="en-US" dirty="0"/>
              <a:t>Agricultural Census performed by the Ministry of Agriculture, </a:t>
            </a:r>
            <a:r>
              <a:rPr lang="en-US" dirty="0" smtClean="0"/>
              <a:t>Government of </a:t>
            </a:r>
            <a:r>
              <a:rPr lang="en-US" dirty="0"/>
              <a:t>India, </a:t>
            </a:r>
            <a:r>
              <a:rPr lang="en-US" dirty="0">
                <a:solidFill>
                  <a:srgbClr val="00B050"/>
                </a:solidFill>
              </a:rPr>
              <a:t>compiles a large number of agricultural parameters at the </a:t>
            </a:r>
            <a:r>
              <a:rPr lang="en-US" dirty="0" smtClean="0">
                <a:solidFill>
                  <a:srgbClr val="00B050"/>
                </a:solidFill>
              </a:rPr>
              <a:t>national level</a:t>
            </a:r>
            <a:r>
              <a:rPr lang="en-US" dirty="0">
                <a:solidFill>
                  <a:srgbClr val="00B050"/>
                </a:solidFill>
              </a:rPr>
              <a:t>. </a:t>
            </a:r>
            <a:endParaRPr lang="en-US" dirty="0" smtClean="0">
              <a:solidFill>
                <a:srgbClr val="00B050"/>
              </a:solidFill>
            </a:endParaRPr>
          </a:p>
          <a:p>
            <a:pPr algn="just"/>
            <a:r>
              <a:rPr lang="en-US" dirty="0" smtClean="0"/>
              <a:t>District-wise </a:t>
            </a:r>
            <a:r>
              <a:rPr lang="en-US" dirty="0"/>
              <a:t>agricultural production, area and yield of crops is </a:t>
            </a:r>
            <a:r>
              <a:rPr lang="en-US" dirty="0" smtClean="0"/>
              <a:t>compiled; this </a:t>
            </a:r>
            <a:r>
              <a:rPr lang="en-US" dirty="0"/>
              <a:t>can be built into a </a:t>
            </a:r>
            <a:r>
              <a:rPr lang="en-US" dirty="0">
                <a:solidFill>
                  <a:srgbClr val="00B050"/>
                </a:solidFill>
              </a:rPr>
              <a:t>data warehouse for analysis, mining and forecasting</a:t>
            </a:r>
            <a:r>
              <a:rPr lang="en-US" dirty="0" smtClean="0">
                <a:solidFill>
                  <a:srgbClr val="00B050"/>
                </a:solidFill>
              </a:rPr>
              <a:t>.</a:t>
            </a:r>
          </a:p>
          <a:p>
            <a:pPr algn="just"/>
            <a:r>
              <a:rPr lang="en-US" dirty="0"/>
              <a:t>Statistics on </a:t>
            </a:r>
            <a:r>
              <a:rPr lang="en-US" dirty="0">
                <a:solidFill>
                  <a:srgbClr val="00B050"/>
                </a:solidFill>
              </a:rPr>
              <a:t>consumption of fertilizers </a:t>
            </a:r>
            <a:r>
              <a:rPr lang="en-US" dirty="0"/>
              <a:t>also can be turned into a data mart.</a:t>
            </a:r>
          </a:p>
          <a:p>
            <a:pPr algn="just"/>
            <a:r>
              <a:rPr lang="en-US" dirty="0">
                <a:solidFill>
                  <a:srgbClr val="00B050"/>
                </a:solidFill>
              </a:rPr>
              <a:t>Data on agricultural inputs such as seeds and fertilizers </a:t>
            </a:r>
            <a:r>
              <a:rPr lang="en-US" dirty="0"/>
              <a:t>can also be effectively analyzed in a data warehouse. </a:t>
            </a:r>
          </a:p>
          <a:p>
            <a:pPr marL="0" indent="0" algn="just">
              <a:buNone/>
            </a:pPr>
            <a:endParaRPr lang="en-US" dirty="0">
              <a:solidFill>
                <a:srgbClr val="00B050"/>
              </a:solidFill>
            </a:endParaRPr>
          </a:p>
        </p:txBody>
      </p:sp>
    </p:spTree>
    <p:extLst>
      <p:ext uri="{BB962C8B-B14F-4D97-AF65-F5344CB8AC3E}">
        <p14:creationId xmlns:p14="http://schemas.microsoft.com/office/powerpoint/2010/main" val="526465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Agriculture</a:t>
            </a:r>
            <a:endParaRPr lang="en-US" dirty="0"/>
          </a:p>
        </p:txBody>
      </p:sp>
      <p:sp>
        <p:nvSpPr>
          <p:cNvPr id="3" name="Content Placeholder 2"/>
          <p:cNvSpPr>
            <a:spLocks noGrp="1"/>
          </p:cNvSpPr>
          <p:nvPr>
            <p:ph idx="1"/>
          </p:nvPr>
        </p:nvSpPr>
        <p:spPr>
          <a:xfrm>
            <a:off x="476865" y="1219200"/>
            <a:ext cx="8229600" cy="5105400"/>
          </a:xfrm>
        </p:spPr>
        <p:txBody>
          <a:bodyPr>
            <a:normAutofit fontScale="62500" lnSpcReduction="20000"/>
          </a:bodyPr>
          <a:lstStyle/>
          <a:p>
            <a:pPr algn="just"/>
            <a:r>
              <a:rPr lang="en-US" dirty="0" smtClean="0"/>
              <a:t>Data </a:t>
            </a:r>
            <a:r>
              <a:rPr lang="en-US" dirty="0"/>
              <a:t>from </a:t>
            </a:r>
            <a:r>
              <a:rPr lang="en-US" dirty="0">
                <a:solidFill>
                  <a:srgbClr val="FF0000"/>
                </a:solidFill>
              </a:rPr>
              <a:t>livestock census can be turned into a data warehouse</a:t>
            </a:r>
            <a:r>
              <a:rPr lang="en-US" dirty="0"/>
              <a:t>. </a:t>
            </a:r>
            <a:endParaRPr lang="en-US" dirty="0" smtClean="0"/>
          </a:p>
          <a:p>
            <a:pPr algn="just"/>
            <a:r>
              <a:rPr lang="en-US" dirty="0"/>
              <a:t>Data gives information like livestock, seeds, fertilizer, agricultural land, and machineries etc. collecting large amounts of data often is both a blessing and a curse. </a:t>
            </a:r>
            <a:endParaRPr lang="en-US" dirty="0" smtClean="0"/>
          </a:p>
          <a:p>
            <a:pPr algn="just"/>
            <a:r>
              <a:rPr lang="en-US" dirty="0" smtClean="0"/>
              <a:t>There </a:t>
            </a:r>
            <a:r>
              <a:rPr lang="en-US" dirty="0"/>
              <a:t>is a lot of data available containing information about certain asset. Here soil and acquiesce properties, which should be used to the farmers advantage.</a:t>
            </a:r>
          </a:p>
          <a:p>
            <a:pPr algn="just"/>
            <a:r>
              <a:rPr lang="en-US" dirty="0">
                <a:solidFill>
                  <a:srgbClr val="FF0000"/>
                </a:solidFill>
              </a:rPr>
              <a:t>Land-use pattern statistics </a:t>
            </a:r>
            <a:r>
              <a:rPr lang="en-US" dirty="0"/>
              <a:t>can also be analyzed in a warehousing environment.</a:t>
            </a:r>
          </a:p>
          <a:p>
            <a:pPr algn="just"/>
            <a:r>
              <a:rPr lang="en-US" dirty="0"/>
              <a:t>Other data such as </a:t>
            </a:r>
            <a:r>
              <a:rPr lang="en-US" dirty="0">
                <a:solidFill>
                  <a:srgbClr val="FF0000"/>
                </a:solidFill>
              </a:rPr>
              <a:t>watershed details and also agricultural credit data </a:t>
            </a:r>
            <a:r>
              <a:rPr lang="en-US" dirty="0"/>
              <a:t>can be effectively used for analysis by applying the technologies of OLAP and data mining</a:t>
            </a:r>
            <a:r>
              <a:rPr lang="en-US" dirty="0" smtClean="0"/>
              <a:t>.</a:t>
            </a:r>
          </a:p>
          <a:p>
            <a:pPr algn="just"/>
            <a:r>
              <a:rPr lang="en-US" dirty="0"/>
              <a:t>Data mining techniques aim at finding those patterns or information in the data that are both valuable and interesting to the </a:t>
            </a:r>
            <a:r>
              <a:rPr lang="en-US" dirty="0" smtClean="0"/>
              <a:t>farmer</a:t>
            </a:r>
            <a:endParaRPr lang="en-US" dirty="0"/>
          </a:p>
          <a:p>
            <a:pPr algn="just"/>
            <a:r>
              <a:rPr lang="en-US" dirty="0"/>
              <a:t>Thus there is Substantial scope for application of data warehousing and data mining techniques in Agricultural sector</a:t>
            </a:r>
            <a:r>
              <a:rPr lang="en-US" dirty="0" smtClean="0"/>
              <a:t>.</a:t>
            </a:r>
          </a:p>
          <a:p>
            <a:pPr algn="just"/>
            <a:r>
              <a:rPr lang="en-US" dirty="0"/>
              <a:t>Government provide facilities to the farmers and other people on the basis of information</a:t>
            </a:r>
          </a:p>
          <a:p>
            <a:endParaRPr lang="en-US" dirty="0"/>
          </a:p>
        </p:txBody>
      </p:sp>
    </p:spTree>
    <p:extLst>
      <p:ext uri="{BB962C8B-B14F-4D97-AF65-F5344CB8AC3E}">
        <p14:creationId xmlns:p14="http://schemas.microsoft.com/office/powerpoint/2010/main" val="282315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solidFill>
                  <a:schemeClr val="accent1"/>
                </a:solidFill>
              </a:rPr>
              <a:t>Rural Development</a:t>
            </a:r>
            <a:endParaRPr lang="en-US" dirty="0">
              <a:solidFill>
                <a:schemeClr val="accent1"/>
              </a:solidFill>
            </a:endParaRPr>
          </a:p>
        </p:txBody>
      </p:sp>
      <p:sp>
        <p:nvSpPr>
          <p:cNvPr id="3" name="Content Placeholder 2"/>
          <p:cNvSpPr>
            <a:spLocks noGrp="1"/>
          </p:cNvSpPr>
          <p:nvPr>
            <p:ph idx="1"/>
          </p:nvPr>
        </p:nvSpPr>
        <p:spPr>
          <a:xfrm>
            <a:off x="457200" y="1219200"/>
            <a:ext cx="8229600" cy="4525963"/>
          </a:xfrm>
        </p:spPr>
        <p:txBody>
          <a:bodyPr>
            <a:normAutofit/>
          </a:bodyPr>
          <a:lstStyle/>
          <a:p>
            <a:pPr algn="just"/>
            <a:r>
              <a:rPr lang="en-US" sz="2400" dirty="0"/>
              <a:t>Data on </a:t>
            </a:r>
            <a:r>
              <a:rPr lang="en-US" sz="2400" dirty="0">
                <a:solidFill>
                  <a:srgbClr val="FF0000"/>
                </a:solidFill>
              </a:rPr>
              <a:t>individuals </a:t>
            </a:r>
            <a:r>
              <a:rPr lang="en-US" sz="2400" dirty="0" smtClean="0">
                <a:solidFill>
                  <a:srgbClr val="FF0000"/>
                </a:solidFill>
              </a:rPr>
              <a:t>Below </a:t>
            </a:r>
            <a:r>
              <a:rPr lang="en-US" sz="2400" dirty="0">
                <a:solidFill>
                  <a:srgbClr val="FF0000"/>
                </a:solidFill>
              </a:rPr>
              <a:t>P</a:t>
            </a:r>
            <a:r>
              <a:rPr lang="en-US" sz="2400" dirty="0" smtClean="0">
                <a:solidFill>
                  <a:srgbClr val="FF0000"/>
                </a:solidFill>
              </a:rPr>
              <a:t>overty </a:t>
            </a:r>
            <a:r>
              <a:rPr lang="en-US" sz="2400" dirty="0">
                <a:solidFill>
                  <a:srgbClr val="FF0000"/>
                </a:solidFill>
              </a:rPr>
              <a:t>L</a:t>
            </a:r>
            <a:r>
              <a:rPr lang="en-US" sz="2400" dirty="0" smtClean="0">
                <a:solidFill>
                  <a:srgbClr val="FF0000"/>
                </a:solidFill>
              </a:rPr>
              <a:t>ine </a:t>
            </a:r>
            <a:r>
              <a:rPr lang="en-US" sz="2400" dirty="0"/>
              <a:t>(BPL survey) can be built into a </a:t>
            </a:r>
            <a:r>
              <a:rPr lang="en-US" sz="2400" dirty="0" smtClean="0"/>
              <a:t>data warehouse.</a:t>
            </a:r>
          </a:p>
          <a:p>
            <a:pPr algn="just"/>
            <a:r>
              <a:rPr lang="en-US" sz="2400" dirty="0" smtClean="0">
                <a:solidFill>
                  <a:srgbClr val="FF0000"/>
                </a:solidFill>
              </a:rPr>
              <a:t>Drinking </a:t>
            </a:r>
            <a:r>
              <a:rPr lang="en-US" sz="2400" dirty="0">
                <a:solidFill>
                  <a:srgbClr val="FF0000"/>
                </a:solidFill>
              </a:rPr>
              <a:t>water census data </a:t>
            </a:r>
            <a:r>
              <a:rPr lang="en-US" sz="2400" dirty="0"/>
              <a:t>(from Drinking Water Mission) can </a:t>
            </a:r>
            <a:r>
              <a:rPr lang="en-US" sz="2400" dirty="0" smtClean="0"/>
              <a:t>be effectively </a:t>
            </a:r>
            <a:r>
              <a:rPr lang="en-US" sz="2400" dirty="0"/>
              <a:t>utilized by OLAP and data mining technologies. </a:t>
            </a:r>
            <a:endParaRPr lang="en-US" sz="2400" dirty="0" smtClean="0"/>
          </a:p>
          <a:p>
            <a:pPr algn="just"/>
            <a:r>
              <a:rPr lang="en-US" sz="2400" dirty="0" smtClean="0">
                <a:solidFill>
                  <a:srgbClr val="00B050"/>
                </a:solidFill>
              </a:rPr>
              <a:t>Monitoring and analysis </a:t>
            </a:r>
            <a:r>
              <a:rPr lang="en-US" sz="2400" dirty="0">
                <a:solidFill>
                  <a:srgbClr val="00B050"/>
                </a:solidFill>
              </a:rPr>
              <a:t>of progress made on implementation of rural development </a:t>
            </a:r>
            <a:r>
              <a:rPr lang="en-US" sz="2400" dirty="0" smtClean="0">
                <a:solidFill>
                  <a:srgbClr val="00B050"/>
                </a:solidFill>
              </a:rPr>
              <a:t>programs </a:t>
            </a:r>
            <a:r>
              <a:rPr lang="en-US" sz="2400" dirty="0" smtClean="0"/>
              <a:t>can </a:t>
            </a:r>
            <a:r>
              <a:rPr lang="en-US" sz="2400" dirty="0"/>
              <a:t>also be made using OLAP and data mining techniques.</a:t>
            </a:r>
          </a:p>
        </p:txBody>
      </p:sp>
    </p:spTree>
    <p:extLst>
      <p:ext uri="{BB962C8B-B14F-4D97-AF65-F5344CB8AC3E}">
        <p14:creationId xmlns:p14="http://schemas.microsoft.com/office/powerpoint/2010/main" val="108208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chemeClr val="accent1"/>
                </a:solidFill>
              </a:rPr>
              <a:t>Health</a:t>
            </a:r>
            <a:endParaRPr lang="en-US" dirty="0">
              <a:solidFill>
                <a:schemeClr val="accent1"/>
              </a:solidFill>
            </a:endParaRPr>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pPr algn="just"/>
            <a:r>
              <a:rPr lang="en-US" sz="2400" dirty="0"/>
              <a:t>Data mining applications can greatly benefit for all parties concerned in the healthcare industry. </a:t>
            </a:r>
            <a:endParaRPr lang="en-US" sz="2400" dirty="0" smtClean="0"/>
          </a:p>
          <a:p>
            <a:pPr algn="just"/>
            <a:r>
              <a:rPr lang="en-US" sz="2400" dirty="0" smtClean="0"/>
              <a:t>Data </a:t>
            </a:r>
            <a:r>
              <a:rPr lang="en-US" sz="2400" dirty="0"/>
              <a:t>mining can help healthcare insurers detect fraud and mistreatment healthcare organizations make customer relationship management decisions, physicians identify effective treatments and best practices, and patients receive better and more affordable healthcare services. </a:t>
            </a:r>
            <a:endParaRPr lang="en-US" sz="2400" dirty="0" smtClean="0"/>
          </a:p>
          <a:p>
            <a:pPr algn="just"/>
            <a:r>
              <a:rPr lang="en-US" sz="2400" dirty="0" smtClean="0"/>
              <a:t>Information </a:t>
            </a:r>
            <a:r>
              <a:rPr lang="en-US" sz="2400" dirty="0"/>
              <a:t>is crucial for effective management and development of health services and therefore is an important tool. </a:t>
            </a:r>
            <a:endParaRPr lang="en-US" sz="2400" dirty="0" smtClean="0"/>
          </a:p>
          <a:p>
            <a:pPr algn="just"/>
            <a:r>
              <a:rPr lang="en-US" sz="2400" dirty="0" smtClean="0"/>
              <a:t>A </a:t>
            </a:r>
            <a:r>
              <a:rPr lang="en-US" sz="2400" dirty="0"/>
              <a:t>Health Information System is mainly required to support management and operations at three levels: namely transactional and functional; operational control; planning (strategic and management)</a:t>
            </a:r>
            <a:endParaRPr lang="en-US" sz="2400" dirty="0" smtClean="0">
              <a:solidFill>
                <a:srgbClr val="00B050"/>
              </a:solidFill>
            </a:endParaRPr>
          </a:p>
          <a:p>
            <a:pPr algn="just"/>
            <a:r>
              <a:rPr lang="en-US" sz="2400" dirty="0" smtClean="0">
                <a:solidFill>
                  <a:srgbClr val="00B050"/>
                </a:solidFill>
              </a:rPr>
              <a:t>Community </a:t>
            </a:r>
            <a:r>
              <a:rPr lang="en-US" sz="2400" dirty="0">
                <a:solidFill>
                  <a:srgbClr val="00B050"/>
                </a:solidFill>
              </a:rPr>
              <a:t>needs assessment </a:t>
            </a:r>
            <a:r>
              <a:rPr lang="en-US" sz="2400" dirty="0" smtClean="0">
                <a:solidFill>
                  <a:srgbClr val="00B050"/>
                </a:solidFill>
              </a:rPr>
              <a:t>data, </a:t>
            </a:r>
            <a:r>
              <a:rPr lang="en-US" sz="2400" dirty="0">
                <a:solidFill>
                  <a:srgbClr val="00B050"/>
                </a:solidFill>
              </a:rPr>
              <a:t>immunization data</a:t>
            </a:r>
            <a:r>
              <a:rPr lang="en-US" sz="2400" dirty="0"/>
              <a:t>, data from </a:t>
            </a:r>
            <a:r>
              <a:rPr lang="en-US" sz="2400" dirty="0" smtClean="0"/>
              <a:t>national programs </a:t>
            </a:r>
            <a:r>
              <a:rPr lang="en-US" sz="2400" dirty="0"/>
              <a:t>on controlling </a:t>
            </a:r>
            <a:r>
              <a:rPr lang="en-US" sz="2400" dirty="0">
                <a:solidFill>
                  <a:srgbClr val="FF0000"/>
                </a:solidFill>
              </a:rPr>
              <a:t>blindness, leprosy, malaria</a:t>
            </a:r>
            <a:r>
              <a:rPr lang="en-US" sz="2400" dirty="0"/>
              <a:t> can all be used for </a:t>
            </a:r>
            <a:r>
              <a:rPr lang="en-US" sz="2400" dirty="0" smtClean="0"/>
              <a:t>data warehousing </a:t>
            </a:r>
            <a:r>
              <a:rPr lang="en-US" sz="2400" dirty="0"/>
              <a:t>implementation, OLAP and data mining applications.</a:t>
            </a:r>
          </a:p>
        </p:txBody>
      </p:sp>
    </p:spTree>
    <p:extLst>
      <p:ext uri="{BB962C8B-B14F-4D97-AF65-F5344CB8AC3E}">
        <p14:creationId xmlns:p14="http://schemas.microsoft.com/office/powerpoint/2010/main" val="285329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Health</a:t>
            </a:r>
            <a:endParaRPr lang="en-US" dirty="0"/>
          </a:p>
        </p:txBody>
      </p:sp>
      <p:sp>
        <p:nvSpPr>
          <p:cNvPr id="3" name="Content Placeholder 2"/>
          <p:cNvSpPr>
            <a:spLocks noGrp="1"/>
          </p:cNvSpPr>
          <p:nvPr>
            <p:ph idx="1"/>
          </p:nvPr>
        </p:nvSpPr>
        <p:spPr>
          <a:xfrm>
            <a:off x="457200" y="1371600"/>
            <a:ext cx="8229600" cy="5257800"/>
          </a:xfrm>
        </p:spPr>
        <p:txBody>
          <a:bodyPr>
            <a:normAutofit fontScale="70000" lnSpcReduction="20000"/>
          </a:bodyPr>
          <a:lstStyle/>
          <a:p>
            <a:pPr algn="just"/>
            <a:r>
              <a:rPr lang="en-US" dirty="0" smtClean="0"/>
              <a:t>It </a:t>
            </a:r>
            <a:r>
              <a:rPr lang="en-US" dirty="0"/>
              <a:t>can also identify clinical best practices to help </a:t>
            </a:r>
            <a:r>
              <a:rPr lang="en-US" dirty="0">
                <a:solidFill>
                  <a:srgbClr val="FF0000"/>
                </a:solidFill>
              </a:rPr>
              <a:t>develop guidelines and standards of care. </a:t>
            </a:r>
            <a:endParaRPr lang="en-US" dirty="0" smtClean="0">
              <a:solidFill>
                <a:srgbClr val="FF0000"/>
              </a:solidFill>
            </a:endParaRPr>
          </a:p>
          <a:p>
            <a:pPr algn="just"/>
            <a:r>
              <a:rPr lang="en-US" dirty="0" smtClean="0"/>
              <a:t>Data </a:t>
            </a:r>
            <a:r>
              <a:rPr lang="en-US" dirty="0"/>
              <a:t>Mining is helpful in healthcare. </a:t>
            </a:r>
          </a:p>
          <a:p>
            <a:pPr lvl="1" algn="just">
              <a:buFont typeface="Wingdings" panose="05000000000000000000" pitchFamily="2" charset="2"/>
              <a:buChar char="ü"/>
            </a:pPr>
            <a:r>
              <a:rPr lang="en-US" dirty="0" smtClean="0"/>
              <a:t>Patients </a:t>
            </a:r>
            <a:r>
              <a:rPr lang="en-US" dirty="0"/>
              <a:t>can receive better, more inexpensive healthcare services. </a:t>
            </a:r>
          </a:p>
          <a:p>
            <a:pPr lvl="1" algn="just">
              <a:buFont typeface="Wingdings" panose="05000000000000000000" pitchFamily="2" charset="2"/>
              <a:buChar char="ü"/>
            </a:pPr>
            <a:r>
              <a:rPr lang="en-US" dirty="0" smtClean="0"/>
              <a:t>Healthcare </a:t>
            </a:r>
            <a:r>
              <a:rPr lang="en-US" dirty="0"/>
              <a:t>organizations can use data mining to make improved patient-associated </a:t>
            </a:r>
            <a:r>
              <a:rPr lang="en-US" dirty="0" smtClean="0"/>
              <a:t>decisions.</a:t>
            </a:r>
          </a:p>
          <a:p>
            <a:pPr lvl="1" algn="just">
              <a:buFont typeface="Wingdings" panose="05000000000000000000" pitchFamily="2" charset="2"/>
              <a:buChar char="ü"/>
            </a:pPr>
            <a:r>
              <a:rPr lang="en-US" dirty="0" smtClean="0"/>
              <a:t>Insurers </a:t>
            </a:r>
            <a:r>
              <a:rPr lang="en-US" dirty="0"/>
              <a:t>can become aware of medical insurance scam and mistreatment through data mining by establishing norms and then identifying unusual claims </a:t>
            </a:r>
            <a:r>
              <a:rPr lang="en-US" dirty="0" smtClean="0"/>
              <a:t>patterns.</a:t>
            </a:r>
          </a:p>
          <a:p>
            <a:pPr lvl="1" algn="just">
              <a:buFont typeface="Wingdings" panose="05000000000000000000" pitchFamily="2" charset="2"/>
              <a:buChar char="ü"/>
            </a:pPr>
            <a:r>
              <a:rPr lang="en-US" dirty="0" smtClean="0"/>
              <a:t>Healthcare </a:t>
            </a:r>
            <a:r>
              <a:rPr lang="en-US" dirty="0"/>
              <a:t>organizations under increasing financial pressure, data mining can also influence revenues, costs, and operating efficiency while maintaining high-quality </a:t>
            </a:r>
            <a:r>
              <a:rPr lang="en-US" dirty="0" smtClean="0"/>
              <a:t>care.</a:t>
            </a:r>
          </a:p>
          <a:p>
            <a:pPr lvl="1" algn="just">
              <a:buFont typeface="Wingdings" panose="05000000000000000000" pitchFamily="2" charset="2"/>
              <a:buChar char="ü"/>
            </a:pPr>
            <a:r>
              <a:rPr lang="en-US" dirty="0" smtClean="0"/>
              <a:t>It </a:t>
            </a:r>
            <a:r>
              <a:rPr lang="en-US" dirty="0"/>
              <a:t>can also recognize clinical paramount practices to help develop guidelines and standards of care. </a:t>
            </a:r>
          </a:p>
          <a:p>
            <a:pPr lvl="1" algn="just">
              <a:buFont typeface="Wingdings" panose="05000000000000000000" pitchFamily="2" charset="2"/>
              <a:buChar char="Ø"/>
            </a:pPr>
            <a:r>
              <a:rPr lang="en-US" dirty="0" smtClean="0">
                <a:solidFill>
                  <a:srgbClr val="FF0000"/>
                </a:solidFill>
              </a:rPr>
              <a:t>Some </a:t>
            </a:r>
            <a:r>
              <a:rPr lang="en-US" dirty="0">
                <a:solidFill>
                  <a:srgbClr val="FF0000"/>
                </a:solidFill>
              </a:rPr>
              <a:t>Data mining Application in health care are</a:t>
            </a:r>
            <a:r>
              <a:rPr lang="en-US" dirty="0"/>
              <a:t>: Treatment Effectiveness, Health care management, Customer relationship, Fraud and Abuse</a:t>
            </a:r>
          </a:p>
        </p:txBody>
      </p:sp>
    </p:spTree>
    <p:extLst>
      <p:ext uri="{BB962C8B-B14F-4D97-AF65-F5344CB8AC3E}">
        <p14:creationId xmlns:p14="http://schemas.microsoft.com/office/powerpoint/2010/main" val="4273119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Planning</a:t>
            </a:r>
            <a:endParaRPr lang="en-US" dirty="0">
              <a:solidFill>
                <a:schemeClr val="accent1"/>
              </a:solidFill>
            </a:endParaRPr>
          </a:p>
        </p:txBody>
      </p:sp>
      <p:sp>
        <p:nvSpPr>
          <p:cNvPr id="3" name="Content Placeholder 2"/>
          <p:cNvSpPr>
            <a:spLocks noGrp="1"/>
          </p:cNvSpPr>
          <p:nvPr>
            <p:ph idx="1"/>
          </p:nvPr>
        </p:nvSpPr>
        <p:spPr>
          <a:xfrm>
            <a:off x="457200" y="1302774"/>
            <a:ext cx="8229600" cy="5098026"/>
          </a:xfrm>
        </p:spPr>
        <p:txBody>
          <a:bodyPr>
            <a:normAutofit fontScale="92500" lnSpcReduction="20000"/>
          </a:bodyPr>
          <a:lstStyle/>
          <a:p>
            <a:pPr algn="just"/>
            <a:r>
              <a:rPr lang="en-US" sz="2400" dirty="0"/>
              <a:t>Planning (also called preparation) is the process of thoughts about and organizing the behavior required to accomplish a desired goal. </a:t>
            </a:r>
            <a:endParaRPr lang="en-US" sz="2400" dirty="0" smtClean="0"/>
          </a:p>
          <a:p>
            <a:pPr algn="just"/>
            <a:r>
              <a:rPr lang="en-US" sz="2400" dirty="0" smtClean="0"/>
              <a:t>Data </a:t>
            </a:r>
            <a:r>
              <a:rPr lang="en-US" sz="2400" dirty="0"/>
              <a:t>mining is the process of searching data for previously unknown patterns and using those patterns to predict prospect outcomes. “Data Mining”, often also known as “Knowledge Discovery in Databases”,</a:t>
            </a:r>
            <a:endParaRPr lang="en-US" sz="2400" dirty="0" smtClean="0"/>
          </a:p>
          <a:p>
            <a:pPr algn="just"/>
            <a:r>
              <a:rPr lang="en-US" sz="2400" dirty="0" smtClean="0"/>
              <a:t>At </a:t>
            </a:r>
            <a:r>
              <a:rPr lang="en-US" sz="2400" dirty="0"/>
              <a:t>the Planning Commission, data warehouses can be built for state plan </a:t>
            </a:r>
            <a:r>
              <a:rPr lang="en-US" sz="2400" dirty="0" smtClean="0"/>
              <a:t>data on </a:t>
            </a:r>
            <a:r>
              <a:rPr lang="en-US" sz="2400" dirty="0"/>
              <a:t>all sectors: </a:t>
            </a:r>
            <a:r>
              <a:rPr lang="en-US" sz="2400" dirty="0" smtClean="0">
                <a:solidFill>
                  <a:srgbClr val="FF0000"/>
                </a:solidFill>
              </a:rPr>
              <a:t>labor, </a:t>
            </a:r>
            <a:r>
              <a:rPr lang="en-US" sz="2400" dirty="0">
                <a:solidFill>
                  <a:srgbClr val="FF0000"/>
                </a:solidFill>
              </a:rPr>
              <a:t>energy, education, trade and industry, five year plan, etc</a:t>
            </a:r>
            <a:r>
              <a:rPr lang="en-US" sz="2400" dirty="0" smtClean="0">
                <a:solidFill>
                  <a:srgbClr val="FF0000"/>
                </a:solidFill>
              </a:rPr>
              <a:t>.</a:t>
            </a:r>
          </a:p>
          <a:p>
            <a:pPr algn="just"/>
            <a:r>
              <a:rPr lang="en-US" sz="2400" dirty="0"/>
              <a:t>Data mining and predictive analytics are proven technologies that have become an integral part of the daily operations of leading </a:t>
            </a:r>
            <a:r>
              <a:rPr lang="en-US" sz="2400" dirty="0" smtClean="0"/>
              <a:t>organizations.</a:t>
            </a:r>
          </a:p>
          <a:p>
            <a:pPr algn="just"/>
            <a:r>
              <a:rPr lang="en-US" sz="2400" dirty="0"/>
              <a:t>Data mining is the process of uncovering patterns in data using predictive techniques. </a:t>
            </a:r>
            <a:endParaRPr lang="en-US" sz="2400" dirty="0" smtClean="0"/>
          </a:p>
          <a:p>
            <a:pPr algn="just"/>
            <a:r>
              <a:rPr lang="en-US" sz="2400" dirty="0" smtClean="0"/>
              <a:t>These </a:t>
            </a:r>
            <a:r>
              <a:rPr lang="en-US" sz="2400" dirty="0"/>
              <a:t>patterns improve decision making by providing the actionable insight needed to improve business </a:t>
            </a:r>
            <a:r>
              <a:rPr lang="en-US" sz="2400" dirty="0" smtClean="0"/>
              <a:t>processes </a:t>
            </a:r>
            <a:r>
              <a:rPr lang="en-US" sz="2400" dirty="0"/>
              <a:t>helping organizations achieve critical business goals.</a:t>
            </a:r>
            <a:endParaRPr lang="en-US" sz="2400" dirty="0">
              <a:solidFill>
                <a:srgbClr val="FF0000"/>
              </a:solidFill>
            </a:endParaRPr>
          </a:p>
        </p:txBody>
      </p:sp>
    </p:spTree>
    <p:extLst>
      <p:ext uri="{BB962C8B-B14F-4D97-AF65-F5344CB8AC3E}">
        <p14:creationId xmlns:p14="http://schemas.microsoft.com/office/powerpoint/2010/main" val="3546153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solidFill>
                  <a:schemeClr val="accent1"/>
                </a:solidFill>
              </a:rPr>
              <a:t>Education</a:t>
            </a:r>
            <a:endParaRPr lang="en-US" dirty="0">
              <a:solidFill>
                <a:schemeClr val="accent1"/>
              </a:solidFill>
            </a:endParaRPr>
          </a:p>
        </p:txBody>
      </p:sp>
      <p:sp>
        <p:nvSpPr>
          <p:cNvPr id="3" name="Content Placeholder 2"/>
          <p:cNvSpPr>
            <a:spLocks noGrp="1"/>
          </p:cNvSpPr>
          <p:nvPr>
            <p:ph idx="1"/>
          </p:nvPr>
        </p:nvSpPr>
        <p:spPr>
          <a:xfrm>
            <a:off x="486697" y="1219200"/>
            <a:ext cx="8229600" cy="5257800"/>
          </a:xfrm>
        </p:spPr>
        <p:txBody>
          <a:bodyPr>
            <a:normAutofit fontScale="85000" lnSpcReduction="10000"/>
          </a:bodyPr>
          <a:lstStyle/>
          <a:p>
            <a:pPr algn="just"/>
            <a:r>
              <a:rPr lang="en-US" sz="2400" dirty="0"/>
              <a:t>Data mining is a powerful tool for </a:t>
            </a:r>
            <a:r>
              <a:rPr lang="en-US" sz="2400" dirty="0">
                <a:solidFill>
                  <a:srgbClr val="FF0000"/>
                </a:solidFill>
              </a:rPr>
              <a:t>academic intervention. </a:t>
            </a:r>
            <a:endParaRPr lang="en-US" sz="2400" dirty="0" smtClean="0">
              <a:solidFill>
                <a:srgbClr val="FF0000"/>
              </a:solidFill>
            </a:endParaRPr>
          </a:p>
          <a:p>
            <a:pPr algn="just"/>
            <a:r>
              <a:rPr lang="en-US" sz="2400" dirty="0" smtClean="0"/>
              <a:t>Data </a:t>
            </a:r>
            <a:r>
              <a:rPr lang="en-US" sz="2400" dirty="0"/>
              <a:t>Mining is used to extract meaningful information. </a:t>
            </a:r>
            <a:endParaRPr lang="en-US" sz="2400" dirty="0" smtClean="0"/>
          </a:p>
          <a:p>
            <a:pPr algn="just"/>
            <a:r>
              <a:rPr lang="en-US" sz="2400" dirty="0" smtClean="0"/>
              <a:t>Education </a:t>
            </a:r>
            <a:r>
              <a:rPr lang="en-US" sz="2400" dirty="0"/>
              <a:t>is a necessary constituent for the success of country. </a:t>
            </a:r>
            <a:endParaRPr lang="en-US" sz="2400" dirty="0" smtClean="0"/>
          </a:p>
          <a:p>
            <a:pPr algn="just"/>
            <a:r>
              <a:rPr lang="en-US" sz="2400" dirty="0" smtClean="0"/>
              <a:t>In </a:t>
            </a:r>
            <a:r>
              <a:rPr lang="en-US" sz="2400" dirty="0"/>
              <a:t>Data mining in learning environment is called educational data mining. </a:t>
            </a:r>
            <a:endParaRPr lang="en-US" sz="2400" dirty="0" smtClean="0"/>
          </a:p>
          <a:p>
            <a:pPr algn="just"/>
            <a:r>
              <a:rPr lang="en-US" sz="2400" dirty="0" smtClean="0"/>
              <a:t>Education </a:t>
            </a:r>
            <a:r>
              <a:rPr lang="en-US" sz="2400" dirty="0"/>
              <a:t>is a vital part for the betterment and progress of a country. </a:t>
            </a:r>
            <a:endParaRPr lang="en-US" sz="2400" dirty="0" smtClean="0"/>
          </a:p>
          <a:p>
            <a:pPr algn="just"/>
            <a:r>
              <a:rPr lang="en-US" sz="2400" dirty="0" smtClean="0"/>
              <a:t>Educational </a:t>
            </a:r>
            <a:r>
              <a:rPr lang="en-US" sz="2400" dirty="0"/>
              <a:t>data mining is emerging as a research area with a suite of computational and psychological methods and research approaches for understanding how students learn</a:t>
            </a:r>
            <a:endParaRPr lang="en-US" sz="2400" dirty="0" smtClean="0"/>
          </a:p>
          <a:p>
            <a:pPr algn="just"/>
            <a:r>
              <a:rPr lang="en-US" sz="2400" dirty="0" smtClean="0"/>
              <a:t>The </a:t>
            </a:r>
            <a:r>
              <a:rPr lang="en-US" sz="2400" dirty="0"/>
              <a:t>Sixth All India Educational Survey data has been converted into a </a:t>
            </a:r>
            <a:r>
              <a:rPr lang="en-US" sz="2400" dirty="0" smtClean="0"/>
              <a:t>data warehouse </a:t>
            </a:r>
            <a:r>
              <a:rPr lang="en-US" sz="2400" dirty="0"/>
              <a:t>(with about 3 GB of data). </a:t>
            </a:r>
            <a:endParaRPr lang="en-US" sz="2400" dirty="0" smtClean="0"/>
          </a:p>
          <a:p>
            <a:pPr algn="just"/>
            <a:r>
              <a:rPr lang="en-US" sz="2400" dirty="0" smtClean="0"/>
              <a:t>Various </a:t>
            </a:r>
            <a:r>
              <a:rPr lang="en-US" sz="2400" dirty="0"/>
              <a:t>types of analytical queries </a:t>
            </a:r>
            <a:r>
              <a:rPr lang="en-US" sz="2400" dirty="0" smtClean="0"/>
              <a:t>and reports </a:t>
            </a:r>
            <a:r>
              <a:rPr lang="en-US" sz="2400" dirty="0"/>
              <a:t>can be </a:t>
            </a:r>
            <a:r>
              <a:rPr lang="en-US" sz="2400" dirty="0" smtClean="0"/>
              <a:t>answered.</a:t>
            </a:r>
          </a:p>
          <a:p>
            <a:pPr algn="just"/>
            <a:r>
              <a:rPr lang="en-US" sz="2400" dirty="0"/>
              <a:t>New computer-supported interactive learning methods and tools—intelligent tutoring systems, simulations, </a:t>
            </a:r>
            <a:r>
              <a:rPr lang="en-US" sz="2400" dirty="0" smtClean="0"/>
              <a:t>games have </a:t>
            </a:r>
            <a:r>
              <a:rPr lang="en-US" sz="2400" dirty="0"/>
              <a:t>opened up opportunities to collect and analyze student data, to discover patterns and trends in those data, and to make new discoveries and test hypotheses about how students </a:t>
            </a:r>
            <a:r>
              <a:rPr lang="en-US" sz="2400" dirty="0" smtClean="0"/>
              <a:t>learn.</a:t>
            </a:r>
            <a:endParaRPr lang="en-US" sz="2400" dirty="0"/>
          </a:p>
        </p:txBody>
      </p:sp>
    </p:spTree>
    <p:extLst>
      <p:ext uri="{BB962C8B-B14F-4D97-AF65-F5344CB8AC3E}">
        <p14:creationId xmlns:p14="http://schemas.microsoft.com/office/powerpoint/2010/main" val="1689171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Education</a:t>
            </a:r>
            <a:endParaRPr lang="en-US" dirty="0"/>
          </a:p>
        </p:txBody>
      </p:sp>
      <p:sp>
        <p:nvSpPr>
          <p:cNvPr id="3" name="Content Placeholder 2"/>
          <p:cNvSpPr>
            <a:spLocks noGrp="1"/>
          </p:cNvSpPr>
          <p:nvPr>
            <p:ph idx="1"/>
          </p:nvPr>
        </p:nvSpPr>
        <p:spPr>
          <a:xfrm>
            <a:off x="447368" y="1143000"/>
            <a:ext cx="8229600" cy="5105400"/>
          </a:xfrm>
        </p:spPr>
        <p:txBody>
          <a:bodyPr>
            <a:normAutofit fontScale="70000" lnSpcReduction="20000"/>
          </a:bodyPr>
          <a:lstStyle/>
          <a:p>
            <a:pPr algn="just"/>
            <a:r>
              <a:rPr lang="en-US" dirty="0" smtClean="0"/>
              <a:t>Data </a:t>
            </a:r>
            <a:r>
              <a:rPr lang="en-US" dirty="0"/>
              <a:t>composed from online learning systems can be aggregated over large numbers of students and can contain many variables that data mining algorithms can explore for model building</a:t>
            </a:r>
            <a:r>
              <a:rPr lang="en-US" dirty="0" smtClean="0"/>
              <a:t>.</a:t>
            </a:r>
          </a:p>
          <a:p>
            <a:pPr algn="just"/>
            <a:r>
              <a:rPr lang="en-US" dirty="0"/>
              <a:t>Predicting students’ future learning behavior by creating student models that incorporate such detailed information as students’ knowledge, motivation, meta cognition, and </a:t>
            </a:r>
            <a:r>
              <a:rPr lang="en-US" dirty="0" smtClean="0"/>
              <a:t>attitudes.</a:t>
            </a:r>
          </a:p>
          <a:p>
            <a:pPr algn="just"/>
            <a:r>
              <a:rPr lang="en-US" dirty="0" smtClean="0"/>
              <a:t>Discovering </a:t>
            </a:r>
            <a:r>
              <a:rPr lang="en-US" dirty="0"/>
              <a:t>or improving domain models that characterize the content to be learned and optimal instructional </a:t>
            </a:r>
            <a:r>
              <a:rPr lang="en-US" dirty="0" smtClean="0"/>
              <a:t>sequences.</a:t>
            </a:r>
          </a:p>
          <a:p>
            <a:pPr algn="just"/>
            <a:r>
              <a:rPr lang="en-US" dirty="0" smtClean="0"/>
              <a:t>Studying </a:t>
            </a:r>
            <a:r>
              <a:rPr lang="en-US" dirty="0"/>
              <a:t>the effects of different kinds of pedagogical support that can be provided by learning </a:t>
            </a:r>
            <a:r>
              <a:rPr lang="en-US" dirty="0" smtClean="0"/>
              <a:t>software.</a:t>
            </a:r>
          </a:p>
          <a:p>
            <a:pPr algn="just"/>
            <a:r>
              <a:rPr lang="en-US" dirty="0"/>
              <a:t>Advancing scientific knowledge about learning and learners through building computational models that incorporate models of the student, the domain, and the software’s </a:t>
            </a:r>
            <a:r>
              <a:rPr lang="en-US" dirty="0" smtClean="0"/>
              <a:t>pedagogy.</a:t>
            </a:r>
            <a:endParaRPr lang="en-US" dirty="0"/>
          </a:p>
        </p:txBody>
      </p:sp>
    </p:spTree>
    <p:extLst>
      <p:ext uri="{BB962C8B-B14F-4D97-AF65-F5344CB8AC3E}">
        <p14:creationId xmlns:p14="http://schemas.microsoft.com/office/powerpoint/2010/main" val="2592764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solidFill>
                  <a:schemeClr val="accent1"/>
                </a:solidFill>
              </a:rPr>
              <a:t>Commerce and Trade</a:t>
            </a:r>
            <a:endParaRPr lang="en-US" dirty="0">
              <a:solidFill>
                <a:schemeClr val="accent1"/>
              </a:solidFill>
            </a:endParaRPr>
          </a:p>
        </p:txBody>
      </p:sp>
      <p:sp>
        <p:nvSpPr>
          <p:cNvPr id="3" name="Content Placeholder 2"/>
          <p:cNvSpPr>
            <a:spLocks noGrp="1"/>
          </p:cNvSpPr>
          <p:nvPr>
            <p:ph idx="1"/>
          </p:nvPr>
        </p:nvSpPr>
        <p:spPr>
          <a:xfrm>
            <a:off x="481781" y="1219200"/>
            <a:ext cx="8229600" cy="4525963"/>
          </a:xfrm>
        </p:spPr>
        <p:txBody>
          <a:bodyPr>
            <a:normAutofit fontScale="92500"/>
          </a:bodyPr>
          <a:lstStyle/>
          <a:p>
            <a:pPr algn="just"/>
            <a:r>
              <a:rPr lang="en-US" sz="2400" dirty="0"/>
              <a:t>Commerce is the Exchange of goods or services for money or in kind, usually on a scale large enough to require transportation from place to place or across city, state, or national </a:t>
            </a:r>
            <a:r>
              <a:rPr lang="en-US" sz="2400" dirty="0" smtClean="0"/>
              <a:t>boundaries.</a:t>
            </a:r>
          </a:p>
          <a:p>
            <a:pPr algn="just"/>
            <a:r>
              <a:rPr lang="en-US" sz="2400" dirty="0"/>
              <a:t>Perception commerce is being analyzed based on four perspectives: communication, business processes, services, and real-time </a:t>
            </a:r>
            <a:r>
              <a:rPr lang="en-US" sz="2400" dirty="0" smtClean="0"/>
              <a:t>accessibility.</a:t>
            </a:r>
            <a:endParaRPr lang="en-US" sz="2400" dirty="0" smtClean="0">
              <a:solidFill>
                <a:srgbClr val="FF0000"/>
              </a:solidFill>
            </a:endParaRPr>
          </a:p>
          <a:p>
            <a:pPr algn="just"/>
            <a:r>
              <a:rPr lang="en-US" sz="2400" dirty="0" smtClean="0">
                <a:solidFill>
                  <a:srgbClr val="FF0000"/>
                </a:solidFill>
              </a:rPr>
              <a:t>Data </a:t>
            </a:r>
            <a:r>
              <a:rPr lang="en-US" sz="2400" dirty="0">
                <a:solidFill>
                  <a:srgbClr val="FF0000"/>
                </a:solidFill>
              </a:rPr>
              <a:t>bank on trade </a:t>
            </a:r>
            <a:r>
              <a:rPr lang="en-US" sz="2400" dirty="0"/>
              <a:t>(imports and expo11s) can be analyzed and converted </a:t>
            </a:r>
            <a:r>
              <a:rPr lang="en-US" sz="2400" dirty="0" smtClean="0"/>
              <a:t>into a </a:t>
            </a:r>
            <a:r>
              <a:rPr lang="en-US" sz="2400" dirty="0"/>
              <a:t>data </a:t>
            </a:r>
            <a:r>
              <a:rPr lang="en-US" sz="2400" dirty="0" smtClean="0"/>
              <a:t>warehouse.</a:t>
            </a:r>
          </a:p>
          <a:p>
            <a:pPr algn="just"/>
            <a:r>
              <a:rPr lang="en-US" sz="2400" dirty="0" smtClean="0"/>
              <a:t>World </a:t>
            </a:r>
            <a:r>
              <a:rPr lang="en-US" sz="2400" dirty="0"/>
              <a:t>price monitoring system can be made to </a:t>
            </a:r>
            <a:r>
              <a:rPr lang="en-US" sz="2400" dirty="0" smtClean="0">
                <a:solidFill>
                  <a:srgbClr val="00B050"/>
                </a:solidFill>
              </a:rPr>
              <a:t>perform better </a:t>
            </a:r>
            <a:r>
              <a:rPr lang="en-US" sz="2400" dirty="0">
                <a:solidFill>
                  <a:srgbClr val="00B050"/>
                </a:solidFill>
              </a:rPr>
              <a:t>by using data warehousing and data mining technologies. </a:t>
            </a:r>
            <a:endParaRPr lang="en-US" sz="2400" dirty="0" smtClean="0">
              <a:solidFill>
                <a:srgbClr val="00B050"/>
              </a:solidFill>
            </a:endParaRPr>
          </a:p>
          <a:p>
            <a:pPr algn="just"/>
            <a:r>
              <a:rPr lang="en-US" sz="2400" dirty="0" smtClean="0"/>
              <a:t>Provisional</a:t>
            </a:r>
            <a:r>
              <a:rPr lang="en-US" sz="2400" dirty="0"/>
              <a:t> </a:t>
            </a:r>
            <a:r>
              <a:rPr lang="en-US" sz="2400" dirty="0" smtClean="0"/>
              <a:t>estimates </a:t>
            </a:r>
            <a:r>
              <a:rPr lang="en-US" sz="2400" dirty="0"/>
              <a:t>of import and export also be made more accurate using </a:t>
            </a:r>
            <a:r>
              <a:rPr lang="en-US" sz="2400" dirty="0" smtClean="0"/>
              <a:t>forecasting techniques</a:t>
            </a:r>
            <a:r>
              <a:rPr lang="en-US" sz="2400" dirty="0"/>
              <a:t>.</a:t>
            </a:r>
          </a:p>
        </p:txBody>
      </p:sp>
    </p:spTree>
    <p:extLst>
      <p:ext uri="{BB962C8B-B14F-4D97-AF65-F5344CB8AC3E}">
        <p14:creationId xmlns:p14="http://schemas.microsoft.com/office/powerpoint/2010/main" val="1033481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228600"/>
            <a:ext cx="8229600" cy="944562"/>
          </a:xfrm>
        </p:spPr>
        <p:txBody>
          <a:bodyPr/>
          <a:lstStyle/>
          <a:p>
            <a:r>
              <a:rPr lang="en-US" b="1" dirty="0">
                <a:solidFill>
                  <a:schemeClr val="accent1"/>
                </a:solidFill>
              </a:rPr>
              <a:t>Other Sectors</a:t>
            </a:r>
            <a:endParaRPr lang="en-US" dirty="0">
              <a:solidFill>
                <a:schemeClr val="accent1"/>
              </a:solidFill>
            </a:endParaRPr>
          </a:p>
        </p:txBody>
      </p:sp>
      <p:sp>
        <p:nvSpPr>
          <p:cNvPr id="3" name="Content Placeholder 2"/>
          <p:cNvSpPr>
            <a:spLocks noGrp="1"/>
          </p:cNvSpPr>
          <p:nvPr>
            <p:ph idx="1"/>
          </p:nvPr>
        </p:nvSpPr>
        <p:spPr>
          <a:xfrm>
            <a:off x="518652" y="1173162"/>
            <a:ext cx="8229600" cy="5303838"/>
          </a:xfrm>
        </p:spPr>
        <p:txBody>
          <a:bodyPr>
            <a:normAutofit fontScale="77500" lnSpcReduction="20000"/>
          </a:bodyPr>
          <a:lstStyle/>
          <a:p>
            <a:pPr algn="just"/>
            <a:r>
              <a:rPr lang="en-US" dirty="0"/>
              <a:t>In addition to the above mentioned important applications, there exist a </a:t>
            </a:r>
            <a:r>
              <a:rPr lang="en-US" dirty="0" smtClean="0"/>
              <a:t>number of </a:t>
            </a:r>
            <a:r>
              <a:rPr lang="en-US" dirty="0"/>
              <a:t>other potential application areas for data warehousing and data mining, </a:t>
            </a:r>
            <a:r>
              <a:rPr lang="en-US" dirty="0" smtClean="0"/>
              <a:t>as follows</a:t>
            </a:r>
            <a:r>
              <a:rPr lang="en-US" dirty="0"/>
              <a:t>:</a:t>
            </a:r>
          </a:p>
          <a:p>
            <a:pPr algn="just"/>
            <a:r>
              <a:rPr lang="en-US" b="1" dirty="0">
                <a:solidFill>
                  <a:srgbClr val="FF0000"/>
                </a:solidFill>
              </a:rPr>
              <a:t>Tourism. </a:t>
            </a:r>
            <a:endParaRPr lang="en-US" b="1" dirty="0" smtClean="0">
              <a:solidFill>
                <a:srgbClr val="FF0000"/>
              </a:solidFill>
            </a:endParaRPr>
          </a:p>
          <a:p>
            <a:pPr lvl="1" algn="just">
              <a:buFont typeface="Wingdings" panose="05000000000000000000" pitchFamily="2" charset="2"/>
              <a:buChar char="ü"/>
            </a:pPr>
            <a:r>
              <a:rPr lang="en-US" dirty="0" smtClean="0"/>
              <a:t>Tourist </a:t>
            </a:r>
            <a:r>
              <a:rPr lang="en-US" dirty="0"/>
              <a:t>arrival </a:t>
            </a:r>
            <a:r>
              <a:rPr lang="en-US" dirty="0" smtClean="0"/>
              <a:t>behavior </a:t>
            </a:r>
            <a:r>
              <a:rPr lang="en-US" dirty="0"/>
              <a:t>and preferences; tourism </a:t>
            </a:r>
            <a:r>
              <a:rPr lang="en-US" dirty="0" smtClean="0"/>
              <a:t>products data</a:t>
            </a:r>
            <a:r>
              <a:rPr lang="en-US" dirty="0"/>
              <a:t>; foreign exchange earnings data; and Hotels, Travel and </a:t>
            </a:r>
            <a:r>
              <a:rPr lang="en-US" dirty="0" smtClean="0"/>
              <a:t>Transportation data</a:t>
            </a:r>
            <a:r>
              <a:rPr lang="en-US" dirty="0"/>
              <a:t>.</a:t>
            </a:r>
          </a:p>
          <a:p>
            <a:pPr algn="just"/>
            <a:r>
              <a:rPr lang="en-US" b="1" dirty="0" smtClean="0">
                <a:solidFill>
                  <a:srgbClr val="FF0000"/>
                </a:solidFill>
              </a:rPr>
              <a:t>Program  </a:t>
            </a:r>
            <a:r>
              <a:rPr lang="en-US" b="1" dirty="0">
                <a:solidFill>
                  <a:srgbClr val="FF0000"/>
                </a:solidFill>
              </a:rPr>
              <a:t>Implementation.</a:t>
            </a:r>
            <a:r>
              <a:rPr lang="en-US" b="1" dirty="0"/>
              <a:t> </a:t>
            </a:r>
            <a:endParaRPr lang="en-US" b="1" dirty="0" smtClean="0"/>
          </a:p>
          <a:p>
            <a:pPr lvl="1" algn="just">
              <a:buFont typeface="Wingdings" panose="05000000000000000000" pitchFamily="2" charset="2"/>
              <a:buChar char="ü"/>
            </a:pPr>
            <a:r>
              <a:rPr lang="en-US" dirty="0" smtClean="0"/>
              <a:t>Central </a:t>
            </a:r>
            <a:r>
              <a:rPr lang="en-US" dirty="0"/>
              <a:t>projects data (for monitoring).</a:t>
            </a:r>
          </a:p>
          <a:p>
            <a:pPr algn="just"/>
            <a:r>
              <a:rPr lang="en-US" b="1" dirty="0" smtClean="0">
                <a:solidFill>
                  <a:srgbClr val="FF0000"/>
                </a:solidFill>
              </a:rPr>
              <a:t>Revenue. </a:t>
            </a:r>
          </a:p>
          <a:p>
            <a:pPr lvl="1" algn="just">
              <a:buFont typeface="Wingdings" panose="05000000000000000000" pitchFamily="2" charset="2"/>
              <a:buChar char="ü"/>
            </a:pPr>
            <a:r>
              <a:rPr lang="en-US" dirty="0" smtClean="0"/>
              <a:t>Revenue </a:t>
            </a:r>
            <a:r>
              <a:rPr lang="en-US" dirty="0"/>
              <a:t>plays a significant role in a business growth without the support of Revenue any business cannot make a profit and stay feasible in the long run</a:t>
            </a:r>
            <a:r>
              <a:rPr lang="en-US" dirty="0" smtClean="0"/>
              <a:t>.</a:t>
            </a:r>
          </a:p>
          <a:p>
            <a:pPr lvl="1" algn="just">
              <a:buFont typeface="Wingdings" panose="05000000000000000000" pitchFamily="2" charset="2"/>
              <a:buChar char="ü"/>
            </a:pPr>
            <a:r>
              <a:rPr lang="en-US" dirty="0"/>
              <a:t>Customs data, central excise data, and commercial taxes data(state government)</a:t>
            </a:r>
          </a:p>
          <a:p>
            <a:pPr marL="457200" lvl="1" indent="0" algn="just">
              <a:buNone/>
            </a:pPr>
            <a:endParaRPr lang="en-US" dirty="0"/>
          </a:p>
        </p:txBody>
      </p:sp>
    </p:spTree>
    <p:extLst>
      <p:ext uri="{BB962C8B-B14F-4D97-AF65-F5344CB8AC3E}">
        <p14:creationId xmlns:p14="http://schemas.microsoft.com/office/powerpoint/2010/main" val="27851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chemeClr val="accent1"/>
                </a:solidFill>
              </a:rPr>
              <a:t>Other Sectors</a:t>
            </a:r>
            <a:endParaRPr lang="en-US" dirty="0"/>
          </a:p>
        </p:txBody>
      </p:sp>
      <p:sp>
        <p:nvSpPr>
          <p:cNvPr id="3" name="Content Placeholder 2"/>
          <p:cNvSpPr>
            <a:spLocks noGrp="1"/>
          </p:cNvSpPr>
          <p:nvPr>
            <p:ph idx="1"/>
          </p:nvPr>
        </p:nvSpPr>
        <p:spPr>
          <a:xfrm>
            <a:off x="457200" y="1066800"/>
            <a:ext cx="8229600" cy="5791200"/>
          </a:xfrm>
        </p:spPr>
        <p:txBody>
          <a:bodyPr>
            <a:normAutofit/>
          </a:bodyPr>
          <a:lstStyle/>
          <a:p>
            <a:pPr algn="just"/>
            <a:r>
              <a:rPr lang="en-US" sz="2000" b="1" dirty="0">
                <a:solidFill>
                  <a:srgbClr val="FF0000"/>
                </a:solidFill>
              </a:rPr>
              <a:t>Economic affairs. </a:t>
            </a:r>
            <a:endParaRPr lang="en-US" sz="2000" b="1" dirty="0" smtClean="0">
              <a:solidFill>
                <a:srgbClr val="FF0000"/>
              </a:solidFill>
            </a:endParaRPr>
          </a:p>
          <a:p>
            <a:pPr lvl="1" algn="just">
              <a:buFont typeface="Wingdings" panose="05000000000000000000" pitchFamily="2" charset="2"/>
              <a:buChar char="ü"/>
            </a:pPr>
            <a:r>
              <a:rPr lang="en-US" sz="2000" dirty="0" smtClean="0"/>
              <a:t>Budget </a:t>
            </a:r>
            <a:r>
              <a:rPr lang="en-US" sz="2000" dirty="0"/>
              <a:t>and expenditure data; and annual </a:t>
            </a:r>
            <a:r>
              <a:rPr lang="en-US" sz="2000" dirty="0" smtClean="0"/>
              <a:t>economic survey</a:t>
            </a:r>
            <a:r>
              <a:rPr lang="en-US" sz="2000" dirty="0"/>
              <a:t>.</a:t>
            </a:r>
          </a:p>
          <a:p>
            <a:pPr algn="just"/>
            <a:r>
              <a:rPr lang="en-US" sz="2000" b="1" dirty="0">
                <a:solidFill>
                  <a:srgbClr val="FF0000"/>
                </a:solidFill>
              </a:rPr>
              <a:t>Audit and accounts. </a:t>
            </a:r>
            <a:endParaRPr lang="en-US" sz="2000" b="1" dirty="0" smtClean="0">
              <a:solidFill>
                <a:srgbClr val="FF0000"/>
              </a:solidFill>
            </a:endParaRPr>
          </a:p>
          <a:p>
            <a:pPr lvl="1" algn="just">
              <a:buFont typeface="Wingdings" panose="05000000000000000000" pitchFamily="2" charset="2"/>
              <a:buChar char="ü"/>
            </a:pPr>
            <a:r>
              <a:rPr lang="en-US" sz="2000" dirty="0" smtClean="0"/>
              <a:t>Government </a:t>
            </a:r>
            <a:r>
              <a:rPr lang="en-US" sz="2000" dirty="0"/>
              <a:t>accounts data</a:t>
            </a:r>
            <a:r>
              <a:rPr lang="en-US" sz="2000" dirty="0" smtClean="0"/>
              <a:t>.</a:t>
            </a:r>
          </a:p>
          <a:p>
            <a:pPr algn="just"/>
            <a:r>
              <a:rPr lang="en-US" sz="2000" dirty="0"/>
              <a:t>All </a:t>
            </a:r>
            <a:r>
              <a:rPr lang="en-US" sz="2000" dirty="0">
                <a:solidFill>
                  <a:srgbClr val="00B050"/>
                </a:solidFill>
              </a:rPr>
              <a:t>government departments or organizations are deeply involved </a:t>
            </a:r>
            <a:r>
              <a:rPr lang="en-US" sz="2000" dirty="0" smtClean="0">
                <a:solidFill>
                  <a:srgbClr val="00B050"/>
                </a:solidFill>
              </a:rPr>
              <a:t>in generating </a:t>
            </a:r>
            <a:r>
              <a:rPr lang="en-US" sz="2000" dirty="0">
                <a:solidFill>
                  <a:srgbClr val="00B050"/>
                </a:solidFill>
              </a:rPr>
              <a:t>and processing </a:t>
            </a:r>
            <a:r>
              <a:rPr lang="en-US" sz="2000" dirty="0"/>
              <a:t>a large amount of data. </a:t>
            </a:r>
          </a:p>
          <a:p>
            <a:pPr algn="just"/>
            <a:r>
              <a:rPr lang="en-US" sz="2000" dirty="0" smtClean="0"/>
              <a:t>Conventionally</a:t>
            </a:r>
            <a:r>
              <a:rPr lang="en-US" sz="2000" dirty="0"/>
              <a:t>, </a:t>
            </a:r>
            <a:r>
              <a:rPr lang="en-US" sz="2000" dirty="0" smtClean="0"/>
              <a:t>the government </a:t>
            </a:r>
            <a:r>
              <a:rPr lang="en-US" sz="2000" dirty="0"/>
              <a:t>departments have largely been satisfied with </a:t>
            </a:r>
            <a:r>
              <a:rPr lang="en-US" sz="2000" dirty="0">
                <a:solidFill>
                  <a:srgbClr val="00B050"/>
                </a:solidFill>
              </a:rPr>
              <a:t>developing </a:t>
            </a:r>
            <a:r>
              <a:rPr lang="en-US" sz="2000" dirty="0" smtClean="0">
                <a:solidFill>
                  <a:srgbClr val="00B050"/>
                </a:solidFill>
              </a:rPr>
              <a:t>single management </a:t>
            </a:r>
            <a:r>
              <a:rPr lang="en-US" sz="2000" dirty="0">
                <a:solidFill>
                  <a:srgbClr val="00B050"/>
                </a:solidFill>
              </a:rPr>
              <a:t>information systems (MIS), </a:t>
            </a:r>
            <a:r>
              <a:rPr lang="en-US" sz="2000" dirty="0"/>
              <a:t>or in limited cases, a </a:t>
            </a:r>
            <a:r>
              <a:rPr lang="en-US" sz="2000" dirty="0">
                <a:solidFill>
                  <a:srgbClr val="00B050"/>
                </a:solidFill>
              </a:rPr>
              <a:t>few </a:t>
            </a:r>
            <a:r>
              <a:rPr lang="en-US" sz="2000" dirty="0" smtClean="0">
                <a:solidFill>
                  <a:srgbClr val="00B050"/>
                </a:solidFill>
              </a:rPr>
              <a:t>databases which </a:t>
            </a:r>
            <a:r>
              <a:rPr lang="en-US" sz="2000" dirty="0">
                <a:solidFill>
                  <a:srgbClr val="00B050"/>
                </a:solidFill>
              </a:rPr>
              <a:t>were used online for limited reporting purposes</a:t>
            </a:r>
            <a:r>
              <a:rPr lang="en-US" sz="2000" dirty="0" smtClean="0">
                <a:solidFill>
                  <a:srgbClr val="00B050"/>
                </a:solidFill>
              </a:rPr>
              <a:t>.</a:t>
            </a:r>
          </a:p>
          <a:p>
            <a:pPr algn="just"/>
            <a:r>
              <a:rPr lang="en-US" sz="2000" dirty="0"/>
              <a:t>Much of the </a:t>
            </a:r>
            <a:r>
              <a:rPr lang="en-US" sz="2000" dirty="0" smtClean="0"/>
              <a:t>analysis work </a:t>
            </a:r>
            <a:r>
              <a:rPr lang="en-US" sz="2000" dirty="0"/>
              <a:t>was done manually by the Department of Statistics in the </a:t>
            </a:r>
            <a:r>
              <a:rPr lang="en-US" sz="2000" dirty="0" smtClean="0"/>
              <a:t>Central Government </a:t>
            </a:r>
            <a:r>
              <a:rPr lang="en-US" sz="2000" dirty="0"/>
              <a:t>or in any State Government</a:t>
            </a:r>
            <a:r>
              <a:rPr lang="en-US" sz="2000" dirty="0" smtClean="0"/>
              <a:t>.</a:t>
            </a:r>
          </a:p>
          <a:p>
            <a:pPr algn="just"/>
            <a:r>
              <a:rPr lang="en-US" sz="2000" dirty="0"/>
              <a:t>The </a:t>
            </a:r>
            <a:r>
              <a:rPr lang="en-US" sz="2000" dirty="0">
                <a:solidFill>
                  <a:srgbClr val="00B050"/>
                </a:solidFill>
              </a:rPr>
              <a:t>techniques used for analysis </a:t>
            </a:r>
            <a:r>
              <a:rPr lang="en-US" sz="2000" dirty="0" smtClean="0">
                <a:solidFill>
                  <a:srgbClr val="00B050"/>
                </a:solidFill>
              </a:rPr>
              <a:t>were conventional </a:t>
            </a:r>
            <a:r>
              <a:rPr lang="en-US" sz="2000" dirty="0">
                <a:solidFill>
                  <a:srgbClr val="00B050"/>
                </a:solidFill>
              </a:rPr>
              <a:t>statistical techniques on largely batch-mode processing.</a:t>
            </a:r>
          </a:p>
        </p:txBody>
      </p:sp>
    </p:spTree>
    <p:extLst>
      <p:ext uri="{BB962C8B-B14F-4D97-AF65-F5344CB8AC3E}">
        <p14:creationId xmlns:p14="http://schemas.microsoft.com/office/powerpoint/2010/main" val="1613280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solidFill>
                  <a:schemeClr val="accent1"/>
                </a:solidFill>
              </a:rPr>
              <a:t>Other Sectors</a:t>
            </a:r>
            <a:endParaRPr lang="en-US" dirty="0"/>
          </a:p>
        </p:txBody>
      </p:sp>
      <p:sp>
        <p:nvSpPr>
          <p:cNvPr id="3" name="Content Placeholder 2"/>
          <p:cNvSpPr>
            <a:spLocks noGrp="1"/>
          </p:cNvSpPr>
          <p:nvPr>
            <p:ph idx="1"/>
          </p:nvPr>
        </p:nvSpPr>
        <p:spPr>
          <a:xfrm>
            <a:off x="457200" y="1219200"/>
            <a:ext cx="8229600" cy="4754563"/>
          </a:xfrm>
        </p:spPr>
        <p:txBody>
          <a:bodyPr>
            <a:normAutofit fontScale="70000" lnSpcReduction="20000"/>
          </a:bodyPr>
          <a:lstStyle/>
          <a:p>
            <a:pPr algn="just"/>
            <a:r>
              <a:rPr lang="en-US" dirty="0"/>
              <a:t>Prior </a:t>
            </a:r>
            <a:r>
              <a:rPr lang="en-US" dirty="0" smtClean="0"/>
              <a:t>to the </a:t>
            </a:r>
            <a:r>
              <a:rPr lang="en-US" dirty="0"/>
              <a:t>advent of data warehousing and data mining technologies </a:t>
            </a:r>
            <a:r>
              <a:rPr lang="en-US" dirty="0">
                <a:solidFill>
                  <a:srgbClr val="00B050"/>
                </a:solidFill>
              </a:rPr>
              <a:t>nobody </a:t>
            </a:r>
            <a:r>
              <a:rPr lang="en-US" dirty="0" smtClean="0">
                <a:solidFill>
                  <a:srgbClr val="00B050"/>
                </a:solidFill>
              </a:rPr>
              <a:t>was aware </a:t>
            </a:r>
            <a:r>
              <a:rPr lang="en-US" dirty="0">
                <a:solidFill>
                  <a:srgbClr val="00B050"/>
                </a:solidFill>
              </a:rPr>
              <a:t>of any better techniques for this activity. </a:t>
            </a:r>
            <a:endParaRPr lang="en-US" dirty="0" smtClean="0">
              <a:solidFill>
                <a:srgbClr val="00B050"/>
              </a:solidFill>
            </a:endParaRPr>
          </a:p>
          <a:p>
            <a:pPr algn="just"/>
            <a:r>
              <a:rPr lang="en-US" dirty="0" smtClean="0"/>
              <a:t>In </a:t>
            </a:r>
            <a:r>
              <a:rPr lang="en-US" dirty="0"/>
              <a:t>fact, data warehousing </a:t>
            </a:r>
            <a:r>
              <a:rPr lang="en-US" dirty="0" smtClean="0"/>
              <a:t>and data </a:t>
            </a:r>
            <a:r>
              <a:rPr lang="en-US" dirty="0"/>
              <a:t>mining technologies </a:t>
            </a:r>
            <a:r>
              <a:rPr lang="en-US" dirty="0">
                <a:solidFill>
                  <a:srgbClr val="FF0000"/>
                </a:solidFill>
              </a:rPr>
              <a:t>could lead to the most significant advancements </a:t>
            </a:r>
            <a:r>
              <a:rPr lang="en-US" dirty="0" smtClean="0">
                <a:solidFill>
                  <a:srgbClr val="FF0000"/>
                </a:solidFill>
              </a:rPr>
              <a:t>in the </a:t>
            </a:r>
            <a:r>
              <a:rPr lang="en-US" dirty="0">
                <a:solidFill>
                  <a:srgbClr val="FF0000"/>
                </a:solidFill>
              </a:rPr>
              <a:t>government functioning</a:t>
            </a:r>
            <a:r>
              <a:rPr lang="en-US" dirty="0"/>
              <a:t>, if properly applied and used in the </a:t>
            </a:r>
            <a:r>
              <a:rPr lang="en-US" dirty="0" smtClean="0"/>
              <a:t>government activities</a:t>
            </a:r>
            <a:r>
              <a:rPr lang="en-US" dirty="0"/>
              <a:t>. </a:t>
            </a:r>
            <a:endParaRPr lang="en-US" dirty="0" smtClean="0"/>
          </a:p>
          <a:p>
            <a:pPr algn="just"/>
            <a:r>
              <a:rPr lang="en-US" dirty="0" smtClean="0"/>
              <a:t>With </a:t>
            </a:r>
            <a:r>
              <a:rPr lang="en-US" dirty="0"/>
              <a:t>their advent and prominence, there is a </a:t>
            </a:r>
            <a:r>
              <a:rPr lang="en-US" dirty="0">
                <a:solidFill>
                  <a:srgbClr val="00B050"/>
                </a:solidFill>
              </a:rPr>
              <a:t>paradigm shift </a:t>
            </a:r>
            <a:r>
              <a:rPr lang="en-US" dirty="0" smtClean="0">
                <a:solidFill>
                  <a:srgbClr val="00B050"/>
                </a:solidFill>
              </a:rPr>
              <a:t>which may </a:t>
            </a:r>
            <a:r>
              <a:rPr lang="en-US" dirty="0">
                <a:solidFill>
                  <a:srgbClr val="00B050"/>
                </a:solidFill>
              </a:rPr>
              <a:t>finally result in improved governance and better planning by </a:t>
            </a:r>
            <a:r>
              <a:rPr lang="en-US" dirty="0" smtClean="0">
                <a:solidFill>
                  <a:srgbClr val="00B050"/>
                </a:solidFill>
              </a:rPr>
              <a:t>better utilization </a:t>
            </a:r>
            <a:r>
              <a:rPr lang="en-US" dirty="0">
                <a:solidFill>
                  <a:srgbClr val="00B050"/>
                </a:solidFill>
              </a:rPr>
              <a:t>of data. </a:t>
            </a:r>
            <a:endParaRPr lang="en-US" dirty="0" smtClean="0">
              <a:solidFill>
                <a:srgbClr val="00B050"/>
              </a:solidFill>
            </a:endParaRPr>
          </a:p>
          <a:p>
            <a:pPr algn="just"/>
            <a:r>
              <a:rPr lang="en-US" dirty="0" smtClean="0">
                <a:solidFill>
                  <a:srgbClr val="00B050"/>
                </a:solidFill>
              </a:rPr>
              <a:t>Instead </a:t>
            </a:r>
            <a:r>
              <a:rPr lang="en-US" dirty="0">
                <a:solidFill>
                  <a:srgbClr val="00B050"/>
                </a:solidFill>
              </a:rPr>
              <a:t>of the officials wasting their time in processing </a:t>
            </a:r>
            <a:r>
              <a:rPr lang="en-US" dirty="0" smtClean="0">
                <a:solidFill>
                  <a:srgbClr val="00B050"/>
                </a:solidFill>
              </a:rPr>
              <a:t>data, they </a:t>
            </a:r>
            <a:r>
              <a:rPr lang="en-US" dirty="0">
                <a:solidFill>
                  <a:srgbClr val="00B050"/>
                </a:solidFill>
              </a:rPr>
              <a:t>can rely on data warehousing and data mining technologies for their </a:t>
            </a:r>
            <a:r>
              <a:rPr lang="en-US" dirty="0" smtClean="0">
                <a:solidFill>
                  <a:srgbClr val="00B050"/>
                </a:solidFill>
              </a:rPr>
              <a:t>day to-day </a:t>
            </a:r>
            <a:r>
              <a:rPr lang="en-US" dirty="0">
                <a:solidFill>
                  <a:srgbClr val="00B050"/>
                </a:solidFill>
              </a:rPr>
              <a:t>decision making and concentrate more on the practical </a:t>
            </a:r>
            <a:r>
              <a:rPr lang="en-US" dirty="0" smtClean="0">
                <a:solidFill>
                  <a:srgbClr val="00B050"/>
                </a:solidFill>
              </a:rPr>
              <a:t>implementation </a:t>
            </a:r>
            <a:r>
              <a:rPr lang="en-US" dirty="0" smtClean="0"/>
              <a:t>of </a:t>
            </a:r>
            <a:r>
              <a:rPr lang="en-US" dirty="0"/>
              <a:t>the decisions so taken for better performance of developmental activities.</a:t>
            </a:r>
          </a:p>
        </p:txBody>
      </p:sp>
    </p:spTree>
    <p:extLst>
      <p:ext uri="{BB962C8B-B14F-4D97-AF65-F5344CB8AC3E}">
        <p14:creationId xmlns:p14="http://schemas.microsoft.com/office/powerpoint/2010/main" val="378746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solidFill>
                  <a:schemeClr val="accent1"/>
                </a:solidFill>
              </a:rPr>
              <a:t>Other Sectors</a:t>
            </a:r>
            <a:endParaRPr lang="en-US" dirty="0"/>
          </a:p>
        </p:txBody>
      </p:sp>
      <p:sp>
        <p:nvSpPr>
          <p:cNvPr id="3" name="Content Placeholder 2"/>
          <p:cNvSpPr>
            <a:spLocks noGrp="1"/>
          </p:cNvSpPr>
          <p:nvPr>
            <p:ph idx="1"/>
          </p:nvPr>
        </p:nvSpPr>
        <p:spPr>
          <a:xfrm>
            <a:off x="430161" y="1219200"/>
            <a:ext cx="8229600" cy="5486400"/>
          </a:xfrm>
        </p:spPr>
        <p:txBody>
          <a:bodyPr>
            <a:normAutofit fontScale="85000" lnSpcReduction="20000"/>
          </a:bodyPr>
          <a:lstStyle/>
          <a:p>
            <a:pPr algn="just"/>
            <a:r>
              <a:rPr lang="en-US" dirty="0"/>
              <a:t>Further, even though various departments in the government (State </a:t>
            </a:r>
            <a:r>
              <a:rPr lang="en-US" dirty="0" smtClean="0"/>
              <a:t>or Central</a:t>
            </a:r>
            <a:r>
              <a:rPr lang="en-US" dirty="0"/>
              <a:t>) are functionally interlinked, the </a:t>
            </a:r>
            <a:r>
              <a:rPr lang="en-US" dirty="0">
                <a:solidFill>
                  <a:srgbClr val="00B050"/>
                </a:solidFill>
              </a:rPr>
              <a:t>data is presently </a:t>
            </a:r>
            <a:r>
              <a:rPr lang="en-US" dirty="0" smtClean="0">
                <a:solidFill>
                  <a:srgbClr val="00B050"/>
                </a:solidFill>
              </a:rPr>
              <a:t>generated, maintained and </a:t>
            </a:r>
            <a:r>
              <a:rPr lang="en-US" dirty="0">
                <a:solidFill>
                  <a:srgbClr val="00B050"/>
                </a:solidFill>
              </a:rPr>
              <a:t>used independently in each department. </a:t>
            </a:r>
            <a:endParaRPr lang="en-US" dirty="0" smtClean="0">
              <a:solidFill>
                <a:srgbClr val="00B050"/>
              </a:solidFill>
            </a:endParaRPr>
          </a:p>
          <a:p>
            <a:pPr algn="just"/>
            <a:r>
              <a:rPr lang="en-US" dirty="0" smtClean="0"/>
              <a:t>This </a:t>
            </a:r>
            <a:r>
              <a:rPr lang="en-US" dirty="0"/>
              <a:t>leads to </a:t>
            </a:r>
            <a:r>
              <a:rPr lang="en-US" dirty="0">
                <a:solidFill>
                  <a:srgbClr val="FF0000"/>
                </a:solidFill>
              </a:rPr>
              <a:t>poor (</a:t>
            </a:r>
            <a:r>
              <a:rPr lang="en-US" dirty="0" smtClean="0">
                <a:solidFill>
                  <a:srgbClr val="FF0000"/>
                </a:solidFill>
              </a:rPr>
              <a:t>independent) decision </a:t>
            </a:r>
            <a:r>
              <a:rPr lang="en-US" dirty="0">
                <a:solidFill>
                  <a:srgbClr val="FF0000"/>
                </a:solidFill>
              </a:rPr>
              <a:t>making and isolated planning. </a:t>
            </a:r>
            <a:endParaRPr lang="en-US" dirty="0" smtClean="0">
              <a:solidFill>
                <a:srgbClr val="FF0000"/>
              </a:solidFill>
            </a:endParaRPr>
          </a:p>
          <a:p>
            <a:pPr algn="just"/>
            <a:r>
              <a:rPr lang="en-US" dirty="0" smtClean="0"/>
              <a:t>Herein </a:t>
            </a:r>
            <a:r>
              <a:rPr lang="en-US" dirty="0"/>
              <a:t>lies the importance of </a:t>
            </a:r>
            <a:r>
              <a:rPr lang="en-US" dirty="0" smtClean="0"/>
              <a:t>data warehousing technology.</a:t>
            </a:r>
          </a:p>
          <a:p>
            <a:pPr lvl="1" algn="just">
              <a:buFont typeface="Wingdings" panose="05000000000000000000" pitchFamily="2" charset="2"/>
              <a:buChar char="ü"/>
            </a:pPr>
            <a:r>
              <a:rPr lang="en-US" dirty="0" smtClean="0">
                <a:solidFill>
                  <a:srgbClr val="00B050"/>
                </a:solidFill>
              </a:rPr>
              <a:t>Different </a:t>
            </a:r>
            <a:r>
              <a:rPr lang="en-US" dirty="0">
                <a:solidFill>
                  <a:srgbClr val="00B050"/>
                </a:solidFill>
              </a:rPr>
              <a:t>data marts for separate departments, if </a:t>
            </a:r>
            <a:r>
              <a:rPr lang="en-US" dirty="0" smtClean="0">
                <a:solidFill>
                  <a:srgbClr val="00B050"/>
                </a:solidFill>
              </a:rPr>
              <a:t>built, can </a:t>
            </a:r>
            <a:r>
              <a:rPr lang="en-US" dirty="0">
                <a:solidFill>
                  <a:srgbClr val="00B050"/>
                </a:solidFill>
              </a:rPr>
              <a:t>be integrated into one data warehouse</a:t>
            </a:r>
            <a:r>
              <a:rPr lang="en-US" dirty="0"/>
              <a:t> for the </a:t>
            </a:r>
            <a:r>
              <a:rPr lang="en-US" dirty="0" smtClean="0"/>
              <a:t>government.</a:t>
            </a:r>
          </a:p>
          <a:p>
            <a:pPr algn="just"/>
            <a:r>
              <a:rPr lang="en-US" dirty="0" smtClean="0"/>
              <a:t>This </a:t>
            </a:r>
            <a:r>
              <a:rPr lang="en-US" dirty="0"/>
              <a:t>is true </a:t>
            </a:r>
            <a:r>
              <a:rPr lang="en-US" dirty="0" smtClean="0"/>
              <a:t>for State </a:t>
            </a:r>
            <a:r>
              <a:rPr lang="en-US" dirty="0"/>
              <a:t>Government and Central </a:t>
            </a:r>
            <a:r>
              <a:rPr lang="en-US" dirty="0" smtClean="0"/>
              <a:t>Government.</a:t>
            </a:r>
          </a:p>
          <a:p>
            <a:pPr algn="just"/>
            <a:r>
              <a:rPr lang="en-US" dirty="0" smtClean="0"/>
              <a:t>Thus </a:t>
            </a:r>
            <a:r>
              <a:rPr lang="en-US" dirty="0"/>
              <a:t>data warehouses can be </a:t>
            </a:r>
            <a:r>
              <a:rPr lang="en-US" dirty="0" smtClean="0"/>
              <a:t>built at </a:t>
            </a:r>
            <a:r>
              <a:rPr lang="en-US" dirty="0"/>
              <a:t>Central level, State level and also at District level.</a:t>
            </a:r>
          </a:p>
        </p:txBody>
      </p:sp>
    </p:spTree>
    <p:extLst>
      <p:ext uri="{BB962C8B-B14F-4D97-AF65-F5344CB8AC3E}">
        <p14:creationId xmlns:p14="http://schemas.microsoft.com/office/powerpoint/2010/main" val="2180574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1410</TotalTime>
  <Words>3261</Words>
  <Application>Microsoft Office PowerPoint</Application>
  <PresentationFormat>On-screen Show (4:3)</PresentationFormat>
  <Paragraphs>199</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Courier New</vt:lpstr>
      <vt:lpstr>RLBHGC+FuturaBT-Light</vt:lpstr>
      <vt:lpstr>Times New Roman</vt:lpstr>
      <vt:lpstr>Wingdings</vt:lpstr>
      <vt:lpstr>Office Theme</vt:lpstr>
      <vt:lpstr>Unit 5 Application of Data Warehousing and Data Mining in Government </vt:lpstr>
      <vt:lpstr>Introduction</vt:lpstr>
      <vt:lpstr>  DATA WAREHOUSE   </vt:lpstr>
      <vt:lpstr> DATA WAREHOUSE  </vt:lpstr>
      <vt:lpstr>  DATA WAREHOUSE   </vt:lpstr>
      <vt:lpstr>DATA WAREHOUSE ADVANTAGES</vt:lpstr>
      <vt:lpstr> DATA MINING  </vt:lpstr>
      <vt:lpstr> DATA MINING  </vt:lpstr>
      <vt:lpstr>DATA MINING </vt:lpstr>
      <vt:lpstr>  ADVANTAGES OF DATA MINING   </vt:lpstr>
      <vt:lpstr>Difference between Data Warehousing and Data Mining</vt:lpstr>
      <vt:lpstr>National Data Warehouses</vt:lpstr>
      <vt:lpstr>Census Data</vt:lpstr>
      <vt:lpstr>Census Data</vt:lpstr>
      <vt:lpstr>Prices of Essential Commodities</vt:lpstr>
      <vt:lpstr>Other Areas for Data Warehousing and Data mining</vt:lpstr>
      <vt:lpstr>Agriculture</vt:lpstr>
      <vt:lpstr>Agriculture</vt:lpstr>
      <vt:lpstr>Rural Development</vt:lpstr>
      <vt:lpstr>Health</vt:lpstr>
      <vt:lpstr>Health</vt:lpstr>
      <vt:lpstr>Planning</vt:lpstr>
      <vt:lpstr>Education</vt:lpstr>
      <vt:lpstr>Education</vt:lpstr>
      <vt:lpstr>Commerce and Trade</vt:lpstr>
      <vt:lpstr>Other Sectors</vt:lpstr>
      <vt:lpstr>Other Sectors</vt:lpstr>
      <vt:lpstr>Other Sectors</vt:lpstr>
      <vt:lpstr>Other Sectors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 Governance Models </dc:title>
  <dc:creator>SACHIT</dc:creator>
  <cp:lastModifiedBy>acer</cp:lastModifiedBy>
  <cp:revision>220</cp:revision>
  <dcterms:created xsi:type="dcterms:W3CDTF">2006-08-16T00:00:00Z</dcterms:created>
  <dcterms:modified xsi:type="dcterms:W3CDTF">2026-08-31T09:08:47Z</dcterms:modified>
</cp:coreProperties>
</file>