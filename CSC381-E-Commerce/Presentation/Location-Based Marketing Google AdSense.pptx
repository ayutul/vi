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000" y="0"/>
            <a:ext cx="5715000" cy="5715000"/>
          </a:xfrm>
          <a:prstGeom prst="roundRect">
            <a:avLst>
              <a:gd name="adj" fmla="val 28444"/>
            </a:avLst>
          </a:prstGeom>
          <a:solidFill>
            <a:srgbClr val="FF5E5B"/>
          </a:solidFill>
          <a:ln/>
        </p:spPr>
      </p:sp>
      <p:sp>
        <p:nvSpPr>
          <p:cNvPr id="3" name="Shape 1"/>
          <p:cNvSpPr/>
          <p:nvPr/>
        </p:nvSpPr>
        <p:spPr>
          <a:xfrm>
            <a:off x="8572500" y="3175000"/>
            <a:ext cx="4064000" cy="4064000"/>
          </a:xfrm>
          <a:prstGeom prst="roundRect">
            <a:avLst>
              <a:gd name="adj" fmla="val 40000"/>
            </a:avLst>
          </a:prstGeom>
          <a:solidFill>
            <a:srgbClr val="FFC93C"/>
          </a:solidFill>
          <a:ln/>
        </p:spPr>
      </p:sp>
      <p:sp>
        <p:nvSpPr>
          <p:cNvPr id="4" name="Shape 2"/>
          <p:cNvSpPr/>
          <p:nvPr/>
        </p:nvSpPr>
        <p:spPr>
          <a:xfrm>
            <a:off x="6604000" y="406400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17B6A8"/>
          </a:solidFill>
          <a:ln/>
        </p:spPr>
      </p:sp>
      <p:pic>
        <p:nvPicPr>
          <p:cNvPr id="5" name="Image 0" descr="map pi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63000" y="1079500"/>
            <a:ext cx="2159000" cy="2159000"/>
          </a:xfrm>
          <a:prstGeom prst="rect">
            <a:avLst/>
          </a:prstGeom>
        </p:spPr>
      </p:pic>
      <p:pic>
        <p:nvPicPr>
          <p:cNvPr id="6" name="Image 1" descr="map pi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75500" y="3556000"/>
            <a:ext cx="825500" cy="825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2800" y="1485900"/>
            <a:ext cx="58864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C9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LOCATION-BASED MARKETING TOOLS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12800" y="1973560"/>
            <a:ext cx="65405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00"/>
              </a:lnSpc>
              <a:buNone/>
            </a:pPr>
            <a:r>
              <a:rPr lang="en-US" sz="9500" b="1" dirty="0">
                <a:solidFill>
                  <a:srgbClr val="FFF4E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Google </a:t>
            </a:r>
            <a:r>
              <a:rPr lang="en-US" sz="9500" b="1" dirty="0">
                <a:solidFill>
                  <a:srgbClr val="FF5E5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AdSense</a:t>
            </a:r>
            <a:endParaRPr lang="en-US" sz="9500" dirty="0"/>
          </a:p>
        </p:txBody>
      </p:sp>
      <p:sp>
        <p:nvSpPr>
          <p:cNvPr id="9" name="Text 5"/>
          <p:cNvSpPr/>
          <p:nvPr/>
        </p:nvSpPr>
        <p:spPr>
          <a:xfrm>
            <a:off x="812800" y="4589760"/>
            <a:ext cx="562483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9D9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the ad meets the place: how location shapes what a reader sees.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AdSense is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12800" y="1808460"/>
            <a:ext cx="3352800" cy="3042841"/>
          </a:xfrm>
          <a:prstGeom prst="roundRect">
            <a:avLst>
              <a:gd name="adj" fmla="val 10017"/>
            </a:avLst>
          </a:prstGeom>
          <a:solidFill>
            <a:srgbClr val="17B6A8"/>
          </a:solidFill>
          <a:ln/>
        </p:spPr>
      </p:sp>
      <p:sp>
        <p:nvSpPr>
          <p:cNvPr id="4" name="Text 2"/>
          <p:cNvSpPr/>
          <p:nvPr/>
        </p:nvSpPr>
        <p:spPr>
          <a:xfrm>
            <a:off x="1117600" y="2113260"/>
            <a:ext cx="2825496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17600" y="3093641"/>
            <a:ext cx="28254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Publisher side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7600" y="3555901"/>
            <a:ext cx="282549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AdSense lets site owners earn money by showing Google-served ads next to their content.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19600" y="1808460"/>
            <a:ext cx="3352800" cy="3042841"/>
          </a:xfrm>
          <a:prstGeom prst="roundRect">
            <a:avLst>
              <a:gd name="adj" fmla="val 10017"/>
            </a:avLst>
          </a:prstGeom>
          <a:solidFill>
            <a:srgbClr val="FFC93C"/>
          </a:solidFill>
          <a:ln/>
        </p:spPr>
      </p:sp>
      <p:sp>
        <p:nvSpPr>
          <p:cNvPr id="8" name="Text 6"/>
          <p:cNvSpPr/>
          <p:nvPr/>
        </p:nvSpPr>
        <p:spPr>
          <a:xfrm>
            <a:off x="4724400" y="2113260"/>
            <a:ext cx="2825496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24400" y="3093641"/>
            <a:ext cx="28254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Advertiser side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24400" y="3555901"/>
            <a:ext cx="2825496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Advertisers buy those ads through Google Ads and pick the places they want to reach.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26400" y="1808460"/>
            <a:ext cx="3352800" cy="3042841"/>
          </a:xfrm>
          <a:prstGeom prst="roundRect">
            <a:avLst>
              <a:gd name="adj" fmla="val 10017"/>
            </a:avLst>
          </a:prstGeom>
          <a:solidFill>
            <a:srgbClr val="FF5E5B"/>
          </a:solidFill>
          <a:ln/>
        </p:spPr>
      </p:sp>
      <p:sp>
        <p:nvSpPr>
          <p:cNvPr id="12" name="Text 10"/>
          <p:cNvSpPr/>
          <p:nvPr/>
        </p:nvSpPr>
        <p:spPr>
          <a:xfrm>
            <a:off x="8331200" y="2113260"/>
            <a:ext cx="2825496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331200" y="3093641"/>
            <a:ext cx="28254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link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31200" y="3555901"/>
            <a:ext cx="2825496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Location targeting is set by the advertiser. AdSense is where the ad appears.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FFF4E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a place to a paid click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191006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476250" y="0"/>
                </a:moveTo>
                <a:lnTo>
                  <a:pt x="476250" y="0"/>
                </a:lnTo>
                <a:arcTo hR="476250" wR="476250" stAng="16200000" swAng="5400000"/>
                <a:lnTo>
                  <a:pt x="952500" y="476250"/>
                </a:lnTo>
                <a:arcTo hR="476250" wR="476250" stAng="0" swAng="5400000"/>
                <a:lnTo>
                  <a:pt x="476250" y="952500"/>
                </a:lnTo>
                <a:arcTo hR="476250" wR="476250" stAng="5400000" swAng="5400000"/>
                <a:lnTo>
                  <a:pt x="0" y="476250"/>
                </a:lnTo>
                <a:arcTo hR="476250" wR="476250" stAng="10800000" swAng="5400000"/>
                <a:close/>
              </a:path>
            </a:pathLst>
          </a:custGeom>
          <a:solidFill>
            <a:srgbClr val="FFC93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2989560"/>
            <a:ext cx="329028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4E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Advertiser picks places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3451820"/>
            <a:ext cx="33835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E9D9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Countries, regions, cities or a radius around a spot, set in Google Ads.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53434" y="191006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476250" y="0"/>
                </a:moveTo>
                <a:lnTo>
                  <a:pt x="476250" y="0"/>
                </a:lnTo>
                <a:arcTo hR="476250" wR="476250" stAng="16200000" swAng="5400000"/>
                <a:lnTo>
                  <a:pt x="952500" y="476250"/>
                </a:lnTo>
                <a:arcTo hR="476250" wR="476250" stAng="0" swAng="5400000"/>
                <a:lnTo>
                  <a:pt x="476250" y="952500"/>
                </a:lnTo>
                <a:arcTo hR="476250" wR="476250" stAng="5400000" swAng="5400000"/>
                <a:lnTo>
                  <a:pt x="0" y="476250"/>
                </a:lnTo>
                <a:arcTo hR="476250" wR="476250" stAng="10800000" swAng="5400000"/>
                <a:close/>
              </a:path>
            </a:pathLst>
          </a:custGeom>
          <a:solidFill>
            <a:srgbClr val="17B6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453434" y="2989560"/>
            <a:ext cx="243153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4E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Reader is located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453434" y="3451820"/>
            <a:ext cx="338368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E9D9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estimates where the reader is, then matches eligible ads.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94166" y="191006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476250" y="0"/>
                </a:moveTo>
                <a:lnTo>
                  <a:pt x="476250" y="0"/>
                </a:lnTo>
                <a:arcTo hR="476250" wR="476250" stAng="16200000" swAng="5400000"/>
                <a:lnTo>
                  <a:pt x="952500" y="476250"/>
                </a:lnTo>
                <a:arcTo hR="476250" wR="476250" stAng="0" swAng="5400000"/>
                <a:lnTo>
                  <a:pt x="476250" y="952500"/>
                </a:lnTo>
                <a:arcTo hR="476250" wR="476250" stAng="5400000" swAng="5400000"/>
                <a:lnTo>
                  <a:pt x="0" y="476250"/>
                </a:lnTo>
                <a:arcTo hR="476250" wR="476250" stAng="10800000" swAng="5400000"/>
                <a:close/>
              </a:path>
            </a:pathLst>
          </a:custGeom>
          <a:solidFill>
            <a:srgbClr val="FF5E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094166" y="2989560"/>
            <a:ext cx="3383585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4E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 appears on your page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94166" y="3787080"/>
            <a:ext cx="33835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E9D9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AdSense fills the slot. A click or view pays the publisher a share.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C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Who can join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12800" y="1808460"/>
            <a:ext cx="3352800" cy="2837160"/>
          </a:xfrm>
          <a:prstGeom prst="roundRect">
            <a:avLst>
              <a:gd name="adj" fmla="val 10743"/>
            </a:avLst>
          </a:prstGeom>
          <a:solidFill>
            <a:srgbClr val="FFF4E0"/>
          </a:solidFill>
          <a:ln/>
        </p:spPr>
      </p:sp>
      <p:sp>
        <p:nvSpPr>
          <p:cNvPr id="4" name="Text 2"/>
          <p:cNvSpPr/>
          <p:nvPr/>
        </p:nvSpPr>
        <p:spPr>
          <a:xfrm>
            <a:off x="1117600" y="2113260"/>
            <a:ext cx="282549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18+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1117600" y="2913360"/>
            <a:ext cx="28254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7600" y="3350220"/>
            <a:ext cx="282549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Applicants must be at least 18. Under 18: a parent or guardian signs up with their own Google Account.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19600" y="1808460"/>
            <a:ext cx="3352800" cy="2837160"/>
          </a:xfrm>
          <a:prstGeom prst="roundRect">
            <a:avLst>
              <a:gd name="adj" fmla="val 10743"/>
            </a:avLst>
          </a:prstGeom>
          <a:solidFill>
            <a:srgbClr val="17B6A8"/>
          </a:solidFill>
          <a:ln/>
        </p:spPr>
      </p:sp>
      <p:sp>
        <p:nvSpPr>
          <p:cNvPr id="8" name="Text 6"/>
          <p:cNvSpPr/>
          <p:nvPr/>
        </p:nvSpPr>
        <p:spPr>
          <a:xfrm>
            <a:off x="4724400" y="2113260"/>
            <a:ext cx="282549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Own</a:t>
            </a:r>
            <a:endParaRPr lang="en-US" sz="5500" dirty="0"/>
          </a:p>
        </p:txBody>
      </p:sp>
      <p:sp>
        <p:nvSpPr>
          <p:cNvPr id="9" name="Text 7"/>
          <p:cNvSpPr/>
          <p:nvPr/>
        </p:nvSpPr>
        <p:spPr>
          <a:xfrm>
            <a:off x="4724400" y="2913360"/>
            <a:ext cx="28254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Content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24400" y="3350220"/>
            <a:ext cx="2825496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need your own content that follows the AdSense Program policies.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26400" y="1808460"/>
            <a:ext cx="3352800" cy="2837160"/>
          </a:xfrm>
          <a:prstGeom prst="roundRect">
            <a:avLst>
              <a:gd name="adj" fmla="val 10743"/>
            </a:avLst>
          </a:prstGeom>
          <a:solidFill>
            <a:srgbClr val="FF5E5B"/>
          </a:solidFill>
          <a:ln/>
        </p:spPr>
      </p:sp>
      <p:sp>
        <p:nvSpPr>
          <p:cNvPr id="12" name="Text 10"/>
          <p:cNvSpPr/>
          <p:nvPr/>
        </p:nvSpPr>
        <p:spPr>
          <a:xfrm>
            <a:off x="8331200" y="2113260"/>
            <a:ext cx="282549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HTML</a:t>
            </a:r>
            <a:endParaRPr lang="en-US" sz="5500" dirty="0"/>
          </a:p>
        </p:txBody>
      </p:sp>
      <p:sp>
        <p:nvSpPr>
          <p:cNvPr id="13" name="Text 11"/>
          <p:cNvSpPr/>
          <p:nvPr/>
        </p:nvSpPr>
        <p:spPr>
          <a:xfrm>
            <a:off x="8331200" y="2913360"/>
            <a:ext cx="28254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Site access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31200" y="3350220"/>
            <a:ext cx="2825496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must be able to access the HTML source of the site you submit.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46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Source: Google AdSense Help, Eligibility requirements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FFF4E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the money splits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1757660"/>
            <a:ext cx="7181850" cy="1397000"/>
          </a:xfrm>
          <a:custGeom>
            <a:avLst/>
            <a:gdLst/>
            <a:ahLst/>
            <a:cxnLst/>
            <a:rect l="l" t="t" r="r" b="b"/>
            <a:pathLst>
              <a:path w="7181850" h="1397000">
                <a:moveTo>
                  <a:pt x="0" y="254000"/>
                </a:moveTo>
                <a:arcTo hR="254000" wR="254000" stAng="10800000" swAng="5400000"/>
                <a:lnTo>
                  <a:pt x="7181850" y="0"/>
                </a:lnTo>
                <a:lnTo>
                  <a:pt x="7181850" y="1397000"/>
                </a:lnTo>
                <a:lnTo>
                  <a:pt x="254000" y="1397000"/>
                </a:lnTo>
                <a:arcTo hR="254000" wR="254000" stAng="5400000" swAng="5400000"/>
                <a:close/>
              </a:path>
            </a:pathLst>
          </a:custGeom>
          <a:solidFill>
            <a:srgbClr val="17B6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55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68%</a:t>
            </a:r>
            <a:endParaRPr lang="en-US" sz="5500" dirty="0"/>
          </a:p>
        </p:txBody>
      </p:sp>
      <p:sp>
        <p:nvSpPr>
          <p:cNvPr id="4" name="Text 2"/>
          <p:cNvSpPr/>
          <p:nvPr/>
        </p:nvSpPr>
        <p:spPr>
          <a:xfrm>
            <a:off x="7994650" y="1757660"/>
            <a:ext cx="3384550" cy="1397000"/>
          </a:xfrm>
          <a:custGeom>
            <a:avLst/>
            <a:gdLst/>
            <a:ahLst/>
            <a:cxnLst/>
            <a:rect l="l" t="t" r="r" b="b"/>
            <a:pathLst>
              <a:path w="3384550" h="1397000">
                <a:moveTo>
                  <a:pt x="3130550" y="0"/>
                </a:moveTo>
                <a:arcTo hR="254000" wR="254000" stAng="16200000" swAng="5400000"/>
                <a:lnTo>
                  <a:pt x="3384550" y="1143000"/>
                </a:lnTo>
                <a:arcTo hR="254000" wR="254000" stAng="0" swAng="5400000"/>
                <a:lnTo>
                  <a:pt x="0" y="1397000"/>
                </a:lnTo>
                <a:lnTo>
                  <a:pt x="0" y="0"/>
                </a:lnTo>
                <a:close/>
              </a:path>
            </a:pathLst>
          </a:custGeom>
          <a:solidFill>
            <a:srgbClr val="FFC93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55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32%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812800" y="3459460"/>
            <a:ext cx="5310886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E9D9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Publisher</a:t>
            </a:r>
            <a:r>
              <a:rPr lang="en-US" sz="1700" dirty="0">
                <a:solidFill>
                  <a:srgbClr val="E9D9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keeps about 68% of the revenue.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23000" y="3459460"/>
            <a:ext cx="5310886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E9D9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</a:t>
            </a:r>
            <a:r>
              <a:rPr lang="en-US" sz="1700" dirty="0">
                <a:solidFill>
                  <a:srgbClr val="E9D9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keeps the rest.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2800" y="4044851"/>
            <a:ext cx="9810750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4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Since Google split buy-side and sell-side fees, display ads pay publishers 80% after the advertiser platform takes its fee. About 68% overall.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1046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8C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Source: Google blog, Updates to how publishers monetize with AdSense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When you get paid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12800" y="1808460"/>
            <a:ext cx="3352800" cy="2589510"/>
          </a:xfrm>
          <a:prstGeom prst="roundRect">
            <a:avLst>
              <a:gd name="adj" fmla="val 11771"/>
            </a:avLst>
          </a:prstGeom>
          <a:solidFill>
            <a:srgbClr val="B48CF2"/>
          </a:solidFill>
          <a:ln/>
        </p:spPr>
      </p:sp>
      <p:sp>
        <p:nvSpPr>
          <p:cNvPr id="4" name="Text 2"/>
          <p:cNvSpPr/>
          <p:nvPr/>
        </p:nvSpPr>
        <p:spPr>
          <a:xfrm>
            <a:off x="1117600" y="2113260"/>
            <a:ext cx="282549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1x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1117600" y="2913360"/>
            <a:ext cx="28254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Every month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7600" y="3350220"/>
            <a:ext cx="2825496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payment cycle is monthly. Earnings are finalized early in the next month.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19600" y="1808460"/>
            <a:ext cx="3352800" cy="2589510"/>
          </a:xfrm>
          <a:prstGeom prst="roundRect">
            <a:avLst>
              <a:gd name="adj" fmla="val 11771"/>
            </a:avLst>
          </a:prstGeom>
          <a:solidFill>
            <a:srgbClr val="FFC93C"/>
          </a:solidFill>
          <a:ln/>
        </p:spPr>
      </p:sp>
      <p:sp>
        <p:nvSpPr>
          <p:cNvPr id="8" name="Text 6"/>
          <p:cNvSpPr/>
          <p:nvPr/>
        </p:nvSpPr>
        <p:spPr>
          <a:xfrm>
            <a:off x="4724400" y="2113260"/>
            <a:ext cx="282549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21-26</a:t>
            </a:r>
            <a:endParaRPr lang="en-US" sz="5500" dirty="0"/>
          </a:p>
        </p:txBody>
      </p:sp>
      <p:sp>
        <p:nvSpPr>
          <p:cNvPr id="9" name="Text 7"/>
          <p:cNvSpPr/>
          <p:nvPr/>
        </p:nvSpPr>
        <p:spPr>
          <a:xfrm>
            <a:off x="4724400" y="2913360"/>
            <a:ext cx="28254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Payment window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24400" y="3350220"/>
            <a:ext cx="2825496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Issued between the 21st and 26th if you passed the threshold and have no holds.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26400" y="1808460"/>
            <a:ext cx="3352800" cy="2589510"/>
          </a:xfrm>
          <a:prstGeom prst="roundRect">
            <a:avLst>
              <a:gd name="adj" fmla="val 11771"/>
            </a:avLst>
          </a:prstGeom>
          <a:solidFill>
            <a:srgbClr val="FF5E5B"/>
          </a:solidFill>
          <a:ln/>
        </p:spPr>
      </p:sp>
      <p:sp>
        <p:nvSpPr>
          <p:cNvPr id="12" name="Text 10"/>
          <p:cNvSpPr/>
          <p:nvPr/>
        </p:nvSpPr>
        <p:spPr>
          <a:xfrm>
            <a:off x="8331200" y="2113260"/>
            <a:ext cx="282549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$100</a:t>
            </a:r>
            <a:endParaRPr lang="en-US" sz="5500" dirty="0"/>
          </a:p>
        </p:txBody>
      </p:sp>
      <p:sp>
        <p:nvSpPr>
          <p:cNvPr id="13" name="Text 11"/>
          <p:cNvSpPr/>
          <p:nvPr/>
        </p:nvSpPr>
        <p:spPr>
          <a:xfrm>
            <a:off x="8331200" y="2913360"/>
            <a:ext cx="28254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Example threshold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31200" y="3350220"/>
            <a:ext cx="28254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Below it, earnings roll over to the next month until it is met.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46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A8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Source: Google AdSense Help, Payments FAQs and Steps to getting paid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B6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Steps to your first payment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170686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arcTo hR="304800" wR="304800" stAng="16200000" swAng="5400000"/>
                <a:lnTo>
                  <a:pt x="609600" y="304800"/>
                </a:lnTo>
                <a:arcTo hR="304800" wR="304800" stAng="0" swAng="5400000"/>
                <a:lnTo>
                  <a:pt x="304800" y="609600"/>
                </a:lnTo>
                <a:arcTo hR="304800" wR="304800" stAng="5400000" swAng="5400000"/>
                <a:lnTo>
                  <a:pt x="0" y="304800"/>
                </a:lnTo>
                <a:arcTo hR="304800" wR="304800" stAng="10800000" swAng="5400000"/>
                <a:close/>
              </a:path>
            </a:pathLst>
          </a:custGeom>
          <a:solidFill>
            <a:srgbClr val="FFF4E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25600" y="1842790"/>
            <a:ext cx="616411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Earning minimum.</a:t>
            </a:r>
            <a:r>
              <a:rPr lang="en-US" sz="19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Reach the first earnings threshold.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12800" y="249426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arcTo hR="304800" wR="304800" stAng="16200000" swAng="5400000"/>
                <a:lnTo>
                  <a:pt x="609600" y="304800"/>
                </a:lnTo>
                <a:arcTo hR="304800" wR="304800" stAng="0" swAng="5400000"/>
                <a:lnTo>
                  <a:pt x="304800" y="609600"/>
                </a:lnTo>
                <a:arcTo hR="304800" wR="304800" stAng="5400000" swAng="5400000"/>
                <a:lnTo>
                  <a:pt x="0" y="304800"/>
                </a:lnTo>
                <a:arcTo hR="304800" wR="304800" stAng="10800000" swAng="5400000"/>
                <a:close/>
              </a:path>
            </a:pathLst>
          </a:custGeom>
          <a:solidFill>
            <a:srgbClr val="FFC93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25600" y="2630190"/>
            <a:ext cx="4965159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Identity verification.</a:t>
            </a:r>
            <a:r>
              <a:rPr lang="en-US" sz="19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Confirm who you are.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2800" y="328166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arcTo hR="304800" wR="304800" stAng="16200000" swAng="5400000"/>
                <a:lnTo>
                  <a:pt x="609600" y="304800"/>
                </a:lnTo>
                <a:arcTo hR="304800" wR="304800" stAng="0" swAng="5400000"/>
                <a:lnTo>
                  <a:pt x="304800" y="609600"/>
                </a:lnTo>
                <a:arcTo hR="304800" wR="304800" stAng="5400000" swAng="5400000"/>
                <a:lnTo>
                  <a:pt x="0" y="304800"/>
                </a:lnTo>
                <a:arcTo hR="304800" wR="304800" stAng="10800000" swAng="5400000"/>
                <a:close/>
              </a:path>
            </a:pathLst>
          </a:custGeom>
          <a:solidFill>
            <a:srgbClr val="FF5E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25600" y="3417590"/>
            <a:ext cx="4813604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details.</a:t>
            </a:r>
            <a:r>
              <a:rPr lang="en-US" sz="19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Choose a payment method.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2800" y="406906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arcTo hR="304800" wR="304800" stAng="16200000" swAng="5400000"/>
                <a:lnTo>
                  <a:pt x="609600" y="304800"/>
                </a:lnTo>
                <a:arcTo hR="304800" wR="304800" stAng="0" swAng="5400000"/>
                <a:lnTo>
                  <a:pt x="304800" y="609600"/>
                </a:lnTo>
                <a:arcTo hR="304800" wR="304800" stAng="5400000" swAng="5400000"/>
                <a:lnTo>
                  <a:pt x="0" y="304800"/>
                </a:lnTo>
                <a:arcTo hR="304800" wR="304800" stAng="10800000" swAng="5400000"/>
                <a:close/>
              </a:path>
            </a:pathLst>
          </a:custGeom>
          <a:solidFill>
            <a:srgbClr val="B48CF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25600" y="4204990"/>
            <a:ext cx="5759523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 minimum.</a:t>
            </a:r>
            <a:r>
              <a:rPr lang="en-US" sz="19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Balance meets the threshold.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12800" y="485646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arcTo hR="304800" wR="304800" stAng="16200000" swAng="5400000"/>
                <a:lnTo>
                  <a:pt x="609600" y="304800"/>
                </a:lnTo>
                <a:arcTo hR="304800" wR="304800" stAng="0" swAng="5400000"/>
                <a:lnTo>
                  <a:pt x="304800" y="609600"/>
                </a:lnTo>
                <a:arcTo hR="304800" wR="304800" stAng="5400000" swAng="5400000"/>
                <a:lnTo>
                  <a:pt x="0" y="304800"/>
                </a:lnTo>
                <a:arcTo hR="304800" wR="304800" stAng="10800000" swAng="5400000"/>
                <a:close/>
              </a:path>
            </a:pathLst>
          </a:custGeom>
          <a:solidFill>
            <a:srgbClr val="FFF4E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25600" y="4992390"/>
            <a:ext cx="7408343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 sent.</a:t>
            </a:r>
            <a:r>
              <a:rPr lang="en-US" sz="19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EFT takes 4-10 days, wire up to 15 business days.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046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Source: Google AdSense Help, Steps to getting paid; Payments FAQs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48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Location signals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12800" y="1757660"/>
            <a:ext cx="5181600" cy="1414760"/>
          </a:xfrm>
          <a:prstGeom prst="roundRect">
            <a:avLst>
              <a:gd name="adj" fmla="val 17954"/>
            </a:avLst>
          </a:prstGeom>
          <a:solidFill>
            <a:srgbClr val="FFF4E0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2011660"/>
            <a:ext cx="48138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Reader location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6800" y="2423120"/>
            <a:ext cx="481380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the visitor appears to be when the page loads.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7600" y="1757660"/>
            <a:ext cx="5181600" cy="1414760"/>
          </a:xfrm>
          <a:prstGeom prst="roundRect">
            <a:avLst>
              <a:gd name="adj" fmla="val 17954"/>
            </a:avLst>
          </a:prstGeom>
          <a:solidFill>
            <a:srgbClr val="FFC93C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2011660"/>
            <a:ext cx="48138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Page context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51600" y="2423120"/>
            <a:ext cx="481380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local guide page attracts local advertisers.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800" y="3375620"/>
            <a:ext cx="5181600" cy="1414760"/>
          </a:xfrm>
          <a:prstGeom prst="roundRect">
            <a:avLst>
              <a:gd name="adj" fmla="val 17954"/>
            </a:avLst>
          </a:prstGeom>
          <a:solidFill>
            <a:srgbClr val="17B6A8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3629620"/>
            <a:ext cx="48138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Advertiser radius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66800" y="4041080"/>
            <a:ext cx="481380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shop targets people near its door.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7600" y="3375620"/>
            <a:ext cx="5181600" cy="1414760"/>
          </a:xfrm>
          <a:prstGeom prst="roundRect">
            <a:avLst>
              <a:gd name="adj" fmla="val 17954"/>
            </a:avLst>
          </a:prstGeom>
          <a:solidFill>
            <a:srgbClr val="FF5E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51600" y="3629620"/>
            <a:ext cx="48138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Consent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51600" y="4041080"/>
            <a:ext cx="481380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the EEA and UK, personalised ads need user consent.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a publisher controls</a:t>
            </a:r>
            <a:endParaRPr lang="en-US" sz="4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70360"/>
          <a:ext cx="10553700" cy="2329656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46593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2B1B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Lever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2B1B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Effect on local ads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C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</a:tr>
              <a:tr h="46593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2B1B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Local content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2B1B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Draws local readers and local advertisers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93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2B1B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Country reports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2B1B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Shows which countries earn most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93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2B1B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Category blocking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2B1B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Removes ad types you do not want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93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2B1B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Ad placement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2B1B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Puts ads where readers look</a:t>
                      </a:r>
                      <a:endParaRPr lang="en-US" sz="17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5E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55552"/>
            <a:ext cx="9156700" cy="2225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75"/>
              </a:lnSpc>
              <a:buNone/>
            </a:pPr>
            <a:r>
              <a:rPr lang="en-US" sz="55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AdSense is not a geo-targeting tool for publishers</a:t>
            </a:r>
            <a:endParaRPr lang="en-US" sz="5500" dirty="0"/>
          </a:p>
        </p:txBody>
      </p:sp>
      <p:sp>
        <p:nvSpPr>
          <p:cNvPr id="3" name="Text 1"/>
          <p:cNvSpPr/>
          <p:nvPr/>
        </p:nvSpPr>
        <p:spPr>
          <a:xfrm>
            <a:off x="812800" y="4009827"/>
            <a:ext cx="8502650" cy="1114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Publishers cannot choose a city to target. Precise local campaigns belong in Google Ads. AdSense is the shelf, not the shopper.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B6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Making it work locally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12800" y="1757660"/>
            <a:ext cx="3352800" cy="1541760"/>
          </a:xfrm>
          <a:prstGeom prst="roundRect">
            <a:avLst>
              <a:gd name="adj" fmla="val 19770"/>
            </a:avLst>
          </a:prstGeom>
          <a:solidFill>
            <a:srgbClr val="FFF4E0"/>
          </a:solidFill>
          <a:ln/>
        </p:spPr>
      </p:sp>
      <p:sp>
        <p:nvSpPr>
          <p:cNvPr id="4" name="Text 2"/>
          <p:cNvSpPr/>
          <p:nvPr/>
        </p:nvSpPr>
        <p:spPr>
          <a:xfrm>
            <a:off x="1117600" y="2062460"/>
            <a:ext cx="28254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Write for a place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7600" y="2499320"/>
            <a:ext cx="28254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City guides and local events attract nearby advertisers.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19600" y="1757660"/>
            <a:ext cx="3352800" cy="1541760"/>
          </a:xfrm>
          <a:prstGeom prst="roundRect">
            <a:avLst>
              <a:gd name="adj" fmla="val 19770"/>
            </a:avLst>
          </a:prstGeom>
          <a:solidFill>
            <a:srgbClr val="FFC93C"/>
          </a:solidFill>
          <a:ln/>
        </p:spPr>
      </p:sp>
      <p:sp>
        <p:nvSpPr>
          <p:cNvPr id="7" name="Text 5"/>
          <p:cNvSpPr/>
          <p:nvPr/>
        </p:nvSpPr>
        <p:spPr>
          <a:xfrm>
            <a:off x="4724400" y="2062460"/>
            <a:ext cx="28254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Read the reports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24400" y="2499320"/>
            <a:ext cx="28254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earnings by country and adjust content.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26400" y="1757660"/>
            <a:ext cx="3352800" cy="1541760"/>
          </a:xfrm>
          <a:prstGeom prst="roundRect">
            <a:avLst>
              <a:gd name="adj" fmla="val 19770"/>
            </a:avLst>
          </a:prstGeom>
          <a:solidFill>
            <a:srgbClr val="2B1B3D"/>
          </a:solidFill>
          <a:ln/>
        </p:spPr>
      </p:sp>
      <p:sp>
        <p:nvSpPr>
          <p:cNvPr id="10" name="Text 8"/>
          <p:cNvSpPr/>
          <p:nvPr/>
        </p:nvSpPr>
        <p:spPr>
          <a:xfrm>
            <a:off x="8331200" y="2062460"/>
            <a:ext cx="28254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4E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Respect consent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31200" y="2499320"/>
            <a:ext cx="282549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4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up a consent message where the law requires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B1B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Sources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1706860"/>
            <a:ext cx="10883392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blog.google/products/adsense/evolving-how-publishers-monetize-with-adsense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support.google.com/adsense/answer/9724 (eligibility)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support.google.com/adsense/answer/7164701 (payments FAQs)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support.google.com/adsense/answer/1709858 (steps to getting paid)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1B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support.google.com/adsense/answer/7164703 (payment timelines)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3484860"/>
            <a:ext cx="91567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A5A8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may change rates and policies. Check the pages before presenting.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5000" y="762000"/>
            <a:ext cx="3302000" cy="3302000"/>
          </a:xfrm>
          <a:prstGeom prst="roundRect">
            <a:avLst>
              <a:gd name="adj" fmla="val 49231"/>
            </a:avLst>
          </a:prstGeom>
          <a:solidFill>
            <a:srgbClr val="FFC93C"/>
          </a:solidFill>
          <a:ln/>
        </p:spPr>
      </p:sp>
      <p:pic>
        <p:nvPicPr>
          <p:cNvPr id="3" name="Image 0" descr="map pi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26500" y="1270000"/>
            <a:ext cx="2159000" cy="2159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1390650"/>
            <a:ext cx="7521575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25"/>
              </a:lnSpc>
              <a:buNone/>
            </a:pPr>
            <a:r>
              <a:rPr lang="en-US" sz="6500" b="1" dirty="0">
                <a:solidFill>
                  <a:srgbClr val="FFF4E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Advertisers choose the place. AdSense delivers the ad.</a:t>
            </a:r>
            <a:endParaRPr lang="en-US" sz="6500" dirty="0"/>
          </a:p>
        </p:txBody>
      </p:sp>
      <p:sp>
        <p:nvSpPr>
          <p:cNvPr id="5" name="Text 2"/>
          <p:cNvSpPr/>
          <p:nvPr/>
        </p:nvSpPr>
        <p:spPr>
          <a:xfrm>
            <a:off x="812800" y="5111750"/>
            <a:ext cx="719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9D9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local reach, use Google Ads. For income, use AdSense.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Location-Based Marketing: Google AdSense</dc:title>
  <dc:subject>PptxGenJS Presentation</dc:subject>
  <dc:creator>PptxGenJS</dc:creator>
  <cp:lastModifiedBy>PptxGenJS</cp:lastModifiedBy>
  <cp:revision>1</cp:revision>
  <dcterms:created xsi:type="dcterms:W3CDTF">2026-09-30T12:44:04Z</dcterms:created>
  <dcterms:modified xsi:type="dcterms:W3CDTF">2026-09-30T12:44:04Z</dcterms:modified>
</cp:coreProperties>
</file>