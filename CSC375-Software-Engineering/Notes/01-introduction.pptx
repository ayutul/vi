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27"/>
  </p:notesMasterIdLst>
  <p:sldIdLst>
    <p:sldId id="256" r:id="rId2"/>
    <p:sldId id="257" r:id="rId3"/>
    <p:sldId id="259" r:id="rId4"/>
    <p:sldId id="260" r:id="rId5"/>
    <p:sldId id="261" r:id="rId6"/>
    <p:sldId id="284" r:id="rId7"/>
    <p:sldId id="285" r:id="rId8"/>
    <p:sldId id="286" r:id="rId9"/>
    <p:sldId id="287" r:id="rId10"/>
    <p:sldId id="288" r:id="rId11"/>
    <p:sldId id="290" r:id="rId12"/>
    <p:sldId id="291" r:id="rId13"/>
    <p:sldId id="292" r:id="rId14"/>
    <p:sldId id="293" r:id="rId15"/>
    <p:sldId id="294" r:id="rId16"/>
    <p:sldId id="295" r:id="rId17"/>
    <p:sldId id="296" r:id="rId18"/>
    <p:sldId id="297" r:id="rId19"/>
    <p:sldId id="300" r:id="rId20"/>
    <p:sldId id="301" r:id="rId21"/>
    <p:sldId id="302" r:id="rId22"/>
    <p:sldId id="303" r:id="rId23"/>
    <p:sldId id="304" r:id="rId24"/>
    <p:sldId id="299" r:id="rId25"/>
    <p:sldId id="29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4128FB-48F4-4D60-B83A-F8E3B8D5199A}" type="datetimeFigureOut">
              <a:rPr lang="en-US" smtClean="0"/>
              <a:t>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8DA74C-AFC8-4106-9673-9C431C3F93C8}" type="slidenum">
              <a:rPr lang="en-US" smtClean="0"/>
              <a:t>‹#›</a:t>
            </a:fld>
            <a:endParaRPr lang="en-US"/>
          </a:p>
        </p:txBody>
      </p:sp>
    </p:spTree>
    <p:extLst>
      <p:ext uri="{BB962C8B-B14F-4D97-AF65-F5344CB8AC3E}">
        <p14:creationId xmlns:p14="http://schemas.microsoft.com/office/powerpoint/2010/main" val="3588798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E9EFB2-65A0-4758-95B5-5005FDD8CDA2}" type="datetime1">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825034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4314CD-1E14-4F4A-A733-778756889BA7}" type="datetime1">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27487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CFAAA89-FA55-4FFF-83F2-07A0CF0C297A}" type="datetime1">
              <a:rPr lang="en-US" smtClean="0"/>
              <a:t>6/22/2026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1910801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0E1B5B-0AFE-45F4-BBD3-B446E36E6F1D}" type="datetime1">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41565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0532E1-1A36-4ADD-95E9-AA0D0D75EE3E}" type="datetime1">
              <a:rPr lang="en-US" smtClean="0"/>
              <a:t>6/22/2026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968647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EFA726-C037-40F5-BE62-F434CD2E1303}" type="datetime1">
              <a:rPr lang="en-US" smtClean="0"/>
              <a:t>6/22/2026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126890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5766C1-8174-4A9E-A586-DCB70E24BE60}" type="datetime1">
              <a:rPr lang="en-US" smtClean="0"/>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31332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E2C33D-4FAC-4FD1-9623-590D30C69BA3}" type="datetime1">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2685557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60192C-BDF5-4B42-933A-7178C757DE8D}" type="datetime1">
              <a:rPr lang="en-US" smtClean="0"/>
              <a:t>6/22/2026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4292410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26A550-3A95-4E12-8ECF-895FC1E93071}" type="datetime1">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79860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97B44B-54E3-4BAE-926C-AB3D9E0D12BD}" type="datetime1">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6180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C24386D1-7CC0-4AFE-A99C-3C425E427EA5}" type="datetime1">
              <a:rPr lang="en-US" smtClean="0"/>
              <a:t>6/22/2026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255C45AA-988C-4610-8E25-9C545FF2A435}" type="slidenum">
              <a:rPr lang="en-US" smtClean="0"/>
              <a:t>‹#›</a:t>
            </a:fld>
            <a:endParaRPr lang="en-US"/>
          </a:p>
        </p:txBody>
      </p:sp>
    </p:spTree>
    <p:extLst>
      <p:ext uri="{BB962C8B-B14F-4D97-AF65-F5344CB8AC3E}">
        <p14:creationId xmlns:p14="http://schemas.microsoft.com/office/powerpoint/2010/main" val="110445423"/>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eksforgeeks.org/software-engineering/software-processes-in-software-engineerin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DA0D-6E59-4383-9DF9-A8C233DC83C8}"/>
              </a:ext>
            </a:extLst>
          </p:cNvPr>
          <p:cNvSpPr>
            <a:spLocks noGrp="1"/>
          </p:cNvSpPr>
          <p:nvPr>
            <p:ph type="ctrTitle"/>
          </p:nvPr>
        </p:nvSpPr>
        <p:spPr/>
        <p:txBody>
          <a:bodyPr/>
          <a:lstStyle/>
          <a:p>
            <a:pPr>
              <a:lnSpc>
                <a:spcPct val="50000"/>
              </a:lnSpc>
            </a:pPr>
            <a:r>
              <a:rPr lang="en-US" sz="4800" dirty="0"/>
              <a:t>Unit 1</a:t>
            </a:r>
            <a:br>
              <a:rPr lang="en-US" sz="4800" dirty="0"/>
            </a:br>
            <a:br>
              <a:rPr lang="en-US" dirty="0"/>
            </a:br>
            <a:r>
              <a:rPr lang="en-US" dirty="0"/>
              <a:t>Introduction</a:t>
            </a:r>
            <a:br>
              <a:rPr lang="en-US" dirty="0"/>
            </a:br>
            <a:endParaRPr lang="en-US" dirty="0"/>
          </a:p>
        </p:txBody>
      </p:sp>
      <p:sp>
        <p:nvSpPr>
          <p:cNvPr id="8" name="Subtitle 7">
            <a:extLst>
              <a:ext uri="{FF2B5EF4-FFF2-40B4-BE49-F238E27FC236}">
                <a16:creationId xmlns:a16="http://schemas.microsoft.com/office/drawing/2014/main" id="{FD94B0D4-AD5E-4142-BB4C-606A9BFB8C8B}"/>
              </a:ext>
            </a:extLst>
          </p:cNvPr>
          <p:cNvSpPr>
            <a:spLocks noGrp="1"/>
          </p:cNvSpPr>
          <p:nvPr>
            <p:ph type="subTitle" idx="1"/>
          </p:nvPr>
        </p:nvSpPr>
        <p:spPr/>
        <p:txBody>
          <a:bodyPr/>
          <a:lstStyle/>
          <a:p>
            <a:r>
              <a:rPr lang="en-US" dirty="0"/>
              <a:t>Software Engineering</a:t>
            </a:r>
          </a:p>
          <a:p>
            <a:r>
              <a:rPr lang="en-US" dirty="0"/>
              <a:t>CSIT 6</a:t>
            </a:r>
            <a:r>
              <a:rPr lang="en-US" baseline="30000" dirty="0"/>
              <a:t>th</a:t>
            </a:r>
            <a:r>
              <a:rPr lang="en-US" dirty="0"/>
              <a:t> Semester</a:t>
            </a:r>
          </a:p>
        </p:txBody>
      </p:sp>
      <p:sp>
        <p:nvSpPr>
          <p:cNvPr id="3" name="Slide Number Placeholder 2">
            <a:extLst>
              <a:ext uri="{FF2B5EF4-FFF2-40B4-BE49-F238E27FC236}">
                <a16:creationId xmlns:a16="http://schemas.microsoft.com/office/drawing/2014/main" id="{CCB87636-CE89-4E0F-A0FB-4EB4E74A591E}"/>
              </a:ext>
            </a:extLst>
          </p:cNvPr>
          <p:cNvSpPr>
            <a:spLocks noGrp="1"/>
          </p:cNvSpPr>
          <p:nvPr>
            <p:ph type="sldNum" sz="quarter" idx="12"/>
          </p:nvPr>
        </p:nvSpPr>
        <p:spPr/>
        <p:txBody>
          <a:bodyPr/>
          <a:lstStyle/>
          <a:p>
            <a:fld id="{255C45AA-988C-4610-8E25-9C545FF2A435}" type="slidenum">
              <a:rPr lang="en-US" smtClean="0"/>
              <a:t>1</a:t>
            </a:fld>
            <a:endParaRPr lang="en-US"/>
          </a:p>
        </p:txBody>
      </p:sp>
    </p:spTree>
    <p:extLst>
      <p:ext uri="{BB962C8B-B14F-4D97-AF65-F5344CB8AC3E}">
        <p14:creationId xmlns:p14="http://schemas.microsoft.com/office/powerpoint/2010/main" val="408215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85FA-53FE-49DA-95EE-BF8D71FB079D}"/>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34883A51-3C9B-4315-8D30-E190E9B94F5A}"/>
              </a:ext>
            </a:extLst>
          </p:cNvPr>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Unit 1: Introduction (2 Hrs.) </a:t>
            </a:r>
          </a:p>
          <a:p>
            <a:r>
              <a:rPr lang="en-US" dirty="0">
                <a:latin typeface="Times New Roman" panose="02020603050405020304" pitchFamily="18" charset="0"/>
                <a:cs typeface="Times New Roman" panose="02020603050405020304" pitchFamily="18" charset="0"/>
              </a:rPr>
              <a:t>Software and its Types</a:t>
            </a:r>
          </a:p>
          <a:p>
            <a:r>
              <a:rPr lang="en-US" dirty="0">
                <a:latin typeface="Times New Roman" panose="02020603050405020304" pitchFamily="18" charset="0"/>
                <a:cs typeface="Times New Roman" panose="02020603050405020304" pitchFamily="18" charset="0"/>
              </a:rPr>
              <a:t>Attributes of Good Software</a:t>
            </a:r>
          </a:p>
          <a:p>
            <a:r>
              <a:rPr lang="en-US" dirty="0">
                <a:latin typeface="Times New Roman" panose="02020603050405020304" pitchFamily="18" charset="0"/>
                <a:cs typeface="Times New Roman" panose="02020603050405020304" pitchFamily="18" charset="0"/>
              </a:rPr>
              <a:t>Software Engineering and its Importance</a:t>
            </a:r>
          </a:p>
          <a:p>
            <a:r>
              <a:rPr lang="en-US" dirty="0">
                <a:latin typeface="Times New Roman" panose="02020603050405020304" pitchFamily="18" charset="0"/>
                <a:cs typeface="Times New Roman" panose="02020603050405020304" pitchFamily="18" charset="0"/>
              </a:rPr>
              <a:t>Fundamental Software Engineering Activities</a:t>
            </a:r>
          </a:p>
          <a:p>
            <a:r>
              <a:rPr lang="en-US" dirty="0">
                <a:latin typeface="Times New Roman" panose="02020603050405020304" pitchFamily="18" charset="0"/>
                <a:cs typeface="Times New Roman" panose="02020603050405020304" pitchFamily="18" charset="0"/>
              </a:rPr>
              <a:t>Difference between Software Engineering and Computer Science</a:t>
            </a:r>
          </a:p>
          <a:p>
            <a:r>
              <a:rPr lang="en-US" dirty="0">
                <a:latin typeface="Times New Roman" panose="02020603050405020304" pitchFamily="18" charset="0"/>
                <a:cs typeface="Times New Roman" panose="02020603050405020304" pitchFamily="18" charset="0"/>
              </a:rPr>
              <a:t>Difference between Software Engineering and System Engineering</a:t>
            </a:r>
          </a:p>
          <a:p>
            <a:r>
              <a:rPr lang="en-US" dirty="0">
                <a:latin typeface="Times New Roman" panose="02020603050405020304" pitchFamily="18" charset="0"/>
                <a:cs typeface="Times New Roman" panose="02020603050405020304" pitchFamily="18" charset="0"/>
              </a:rPr>
              <a:t>Challenges and Cost of Software Engineering</a:t>
            </a:r>
          </a:p>
          <a:p>
            <a:r>
              <a:rPr lang="en-US" dirty="0">
                <a:latin typeface="Times New Roman" panose="02020603050405020304" pitchFamily="18" charset="0"/>
                <a:cs typeface="Times New Roman" panose="02020603050405020304" pitchFamily="18" charset="0"/>
              </a:rPr>
              <a:t>Professional Software Development</a:t>
            </a:r>
          </a:p>
          <a:p>
            <a:r>
              <a:rPr lang="en-US" dirty="0">
                <a:latin typeface="Times New Roman" panose="02020603050405020304" pitchFamily="18" charset="0"/>
                <a:cs typeface="Times New Roman" panose="02020603050405020304" pitchFamily="18" charset="0"/>
              </a:rPr>
              <a:t>Software Engineering Diversity</a:t>
            </a:r>
          </a:p>
          <a:p>
            <a:r>
              <a:rPr lang="en-US" dirty="0">
                <a:latin typeface="Times New Roman" panose="02020603050405020304" pitchFamily="18" charset="0"/>
                <a:cs typeface="Times New Roman" panose="02020603050405020304" pitchFamily="18" charset="0"/>
              </a:rPr>
              <a:t>Internet Software Engineering; Software Engineering Ethics</a:t>
            </a:r>
          </a:p>
        </p:txBody>
      </p:sp>
      <p:sp>
        <p:nvSpPr>
          <p:cNvPr id="4" name="Slide Number Placeholder 3">
            <a:extLst>
              <a:ext uri="{FF2B5EF4-FFF2-40B4-BE49-F238E27FC236}">
                <a16:creationId xmlns:a16="http://schemas.microsoft.com/office/drawing/2014/main" id="{A614D938-F8BD-4212-AAC0-9C89B9881A09}"/>
              </a:ext>
            </a:extLst>
          </p:cNvPr>
          <p:cNvSpPr>
            <a:spLocks noGrp="1"/>
          </p:cNvSpPr>
          <p:nvPr>
            <p:ph type="sldNum" sz="quarter" idx="12"/>
          </p:nvPr>
        </p:nvSpPr>
        <p:spPr/>
        <p:txBody>
          <a:bodyPr/>
          <a:lstStyle/>
          <a:p>
            <a:fld id="{255C45AA-988C-4610-8E25-9C545FF2A435}" type="slidenum">
              <a:rPr lang="en-US" smtClean="0"/>
              <a:t>2</a:t>
            </a:fld>
            <a:endParaRPr lang="en-US"/>
          </a:p>
        </p:txBody>
      </p:sp>
    </p:spTree>
    <p:extLst>
      <p:ext uri="{BB962C8B-B14F-4D97-AF65-F5344CB8AC3E}">
        <p14:creationId xmlns:p14="http://schemas.microsoft.com/office/powerpoint/2010/main" val="361983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Software definition:</a:t>
            </a:r>
            <a:endParaRPr lang="en-US" dirty="0"/>
          </a:p>
        </p:txBody>
      </p:sp>
      <p:sp>
        <p:nvSpPr>
          <p:cNvPr id="3" name="Content Placeholder 2"/>
          <p:cNvSpPr>
            <a:spLocks noGrp="1"/>
          </p:cNvSpPr>
          <p:nvPr>
            <p:ph idx="1"/>
          </p:nvPr>
        </p:nvSpPr>
        <p:spPr>
          <a:xfrm>
            <a:off x="612775" y="1830796"/>
            <a:ext cx="10515600" cy="2561500"/>
          </a:xfrm>
        </p:spPr>
        <p:txBody>
          <a:bodyPr>
            <a:normAutofit/>
          </a:bodyPr>
          <a:lstStyle/>
          <a:p>
            <a:pPr algn="just"/>
            <a:r>
              <a:rPr lang="en-US" dirty="0">
                <a:latin typeface="Times New Roman" panose="02020603050405020304" pitchFamily="18" charset="0"/>
                <a:cs typeface="Times New Roman" panose="02020603050405020304" pitchFamily="18" charset="0"/>
              </a:rPr>
              <a:t>Software is a set of instructions, data or programs used to operate computers and execute specific tasks. It is the opposite of hardware, which describes the physical aspects of a computer. </a:t>
            </a:r>
          </a:p>
          <a:p>
            <a:pPr algn="just"/>
            <a:r>
              <a:rPr lang="en-US" dirty="0">
                <a:latin typeface="Times New Roman" panose="02020603050405020304" pitchFamily="18" charset="0"/>
                <a:cs typeface="Times New Roman" panose="02020603050405020304" pitchFamily="18" charset="0"/>
              </a:rPr>
              <a:t>Software is a generic term used to refer to applications, scripts and programs that run on a device. It can be thought of as the variable part of a computer, while hardware is the invariable part.</a:t>
            </a:r>
          </a:p>
          <a:p>
            <a:pPr algn="just"/>
            <a:endParaRPr lang="en-US" dirty="0">
              <a:latin typeface="Times New Roman" panose="02020603050405020304" pitchFamily="18" charset="0"/>
              <a:cs typeface="Times New Roman" panose="02020603050405020304" pitchFamily="18" charset="0"/>
            </a:endParaRPr>
          </a:p>
        </p:txBody>
      </p:sp>
      <p:sp>
        <p:nvSpPr>
          <p:cNvPr id="4" name="AutoShape 2" descr="Software 101: A Complete Guide to the Different Types of Software - Coder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Software 101: A Complete Guide to the Different Types of Software - Coderus"/>
          <p:cNvSpPr>
            <a:spLocks noChangeAspect="1" noChangeArrowheads="1"/>
          </p:cNvSpPr>
          <p:nvPr/>
        </p:nvSpPr>
        <p:spPr bwMode="auto">
          <a:xfrm>
            <a:off x="307975" y="-24171"/>
            <a:ext cx="304800" cy="33690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0" name="Picture 6" descr="Software 101: A Complete Guide to the Different Types of Software - Coderu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18281" y="4276726"/>
            <a:ext cx="3439159" cy="240855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fld id="{4308719E-923F-4A3C-8480-D8B8AECDFF52}" type="slidenum">
              <a:rPr lang="en-US" smtClean="0"/>
              <a:t>3</a:t>
            </a:fld>
            <a:endParaRPr lang="en-US"/>
          </a:p>
        </p:txBody>
      </p:sp>
    </p:spTree>
    <p:extLst>
      <p:ext uri="{BB962C8B-B14F-4D97-AF65-F5344CB8AC3E}">
        <p14:creationId xmlns:p14="http://schemas.microsoft.com/office/powerpoint/2010/main" val="3840560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Types of software:</a:t>
            </a:r>
            <a:endParaRPr lang="en-US" dirty="0"/>
          </a:p>
        </p:txBody>
      </p:sp>
      <p:sp>
        <p:nvSpPr>
          <p:cNvPr id="3" name="Content Placeholder 2"/>
          <p:cNvSpPr>
            <a:spLocks noGrp="1"/>
          </p:cNvSpPr>
          <p:nvPr>
            <p:ph idx="1"/>
          </p:nvPr>
        </p:nvSpPr>
        <p:spPr>
          <a:xfrm>
            <a:off x="838200" y="1825625"/>
            <a:ext cx="10886440" cy="2990215"/>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1. Application Software: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Application software is a software program or group of programs designed for end-users. There are many types of application software.</a:t>
            </a:r>
          </a:p>
          <a:p>
            <a:r>
              <a:rPr lang="en-US" dirty="0">
                <a:latin typeface="Times New Roman" panose="02020603050405020304" pitchFamily="18" charset="0"/>
                <a:cs typeface="Times New Roman" panose="02020603050405020304" pitchFamily="18" charset="0"/>
              </a:rPr>
              <a:t>Types of Application Software and Examples</a:t>
            </a:r>
          </a:p>
          <a:p>
            <a:pPr lvl="0"/>
            <a:r>
              <a:rPr lang="en-US" dirty="0">
                <a:latin typeface="Times New Roman" panose="02020603050405020304" pitchFamily="18" charset="0"/>
                <a:cs typeface="Times New Roman" panose="02020603050405020304" pitchFamily="18" charset="0"/>
              </a:rPr>
              <a:t>Word Processing Software: Google Docs, Microsoft Word, WordPad and Notepad</a:t>
            </a:r>
          </a:p>
          <a:p>
            <a:pPr lvl="0"/>
            <a:r>
              <a:rPr lang="en-US" dirty="0">
                <a:latin typeface="Times New Roman" panose="02020603050405020304" pitchFamily="18" charset="0"/>
                <a:cs typeface="Times New Roman" panose="02020603050405020304" pitchFamily="18" charset="0"/>
              </a:rPr>
              <a:t>Database Software: MySQL, Oracle, and FoxPro</a:t>
            </a:r>
          </a:p>
          <a:p>
            <a:pPr lvl="0"/>
            <a:r>
              <a:rPr lang="en-US" dirty="0">
                <a:latin typeface="Times New Roman" panose="02020603050405020304" pitchFamily="18" charset="0"/>
                <a:cs typeface="Times New Roman" panose="02020603050405020304" pitchFamily="18" charset="0"/>
              </a:rPr>
              <a:t>Spreadsheet Software: Google Sheets, Apple Numbers and Microsoft Excel</a:t>
            </a:r>
          </a:p>
          <a:p>
            <a:endParaRPr lang="en-US" dirty="0">
              <a:latin typeface="Times New Roman" panose="02020603050405020304" pitchFamily="18" charset="0"/>
              <a:cs typeface="Times New Roman" panose="02020603050405020304" pitchFamily="18" charset="0"/>
            </a:endParaRPr>
          </a:p>
        </p:txBody>
      </p:sp>
      <p:pic>
        <p:nvPicPr>
          <p:cNvPr id="2050" name="Picture 2" descr="The Two Types of Application Software: General Purpose Applications and  Custom Software - TurboFutur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5799" y="4815840"/>
            <a:ext cx="3200401" cy="178816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4308719E-923F-4A3C-8480-D8B8AECDFF52}" type="slidenum">
              <a:rPr lang="en-US" smtClean="0"/>
              <a:t>4</a:t>
            </a:fld>
            <a:endParaRPr lang="en-US"/>
          </a:p>
        </p:txBody>
      </p:sp>
    </p:spTree>
    <p:extLst>
      <p:ext uri="{BB962C8B-B14F-4D97-AF65-F5344CB8AC3E}">
        <p14:creationId xmlns:p14="http://schemas.microsoft.com/office/powerpoint/2010/main" val="1284662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7360"/>
            <a:ext cx="10515600" cy="5709603"/>
          </a:xfrm>
        </p:spPr>
        <p:txBody>
          <a:bodyPr>
            <a:normAutofit lnSpcReduction="10000"/>
          </a:bodyPr>
          <a:lstStyle/>
          <a:p>
            <a:pPr marL="514350" indent="-514350">
              <a:buAutoNum type="arabicPeriod" startAt="2"/>
            </a:pPr>
            <a:r>
              <a:rPr lang="en-US" b="1" dirty="0">
                <a:latin typeface="Times New Roman" panose="02020603050405020304" pitchFamily="18" charset="0"/>
                <a:cs typeface="Times New Roman" panose="02020603050405020304" pitchFamily="18" charset="0"/>
              </a:rPr>
              <a:t>System Software:</a:t>
            </a:r>
          </a:p>
          <a:p>
            <a:r>
              <a:rPr lang="en-US" dirty="0">
                <a:latin typeface="Times New Roman" panose="02020603050405020304" pitchFamily="18" charset="0"/>
                <a:cs typeface="Times New Roman" panose="02020603050405020304" pitchFamily="18" charset="0"/>
              </a:rPr>
              <a:t>System software provides a platform for other software and includes the programs managing the computer itself, such as the computer’s operating system, file management utilities and disk operating system (or DOS). </a:t>
            </a:r>
          </a:p>
          <a:p>
            <a:r>
              <a:rPr lang="en-US" dirty="0">
                <a:latin typeface="Times New Roman" panose="02020603050405020304" pitchFamily="18" charset="0"/>
                <a:cs typeface="Times New Roman" panose="02020603050405020304" pitchFamily="18" charset="0"/>
              </a:rPr>
              <a:t>The system’s files consist of libraries of functions, system services, and drivers for printers and other hardware, system preferences and other configuration files. </a:t>
            </a:r>
          </a:p>
          <a:p>
            <a:r>
              <a:rPr lang="en-US" dirty="0">
                <a:latin typeface="Times New Roman" panose="02020603050405020304" pitchFamily="18" charset="0"/>
                <a:cs typeface="Times New Roman" panose="02020603050405020304" pitchFamily="18" charset="0"/>
              </a:rPr>
              <a:t>While application software is non-essential and won’t shut down your device by being uninstalled, system software is essential and creates a platform that apps sit inside.</a:t>
            </a:r>
          </a:p>
          <a:p>
            <a:pPr marL="0" indent="0">
              <a:buNone/>
            </a:pPr>
            <a:r>
              <a:rPr lang="en-US" b="1" dirty="0">
                <a:latin typeface="Times New Roman" panose="02020603050405020304" pitchFamily="18" charset="0"/>
                <a:cs typeface="Times New Roman" panose="02020603050405020304" pitchFamily="18" charset="0"/>
              </a:rPr>
              <a:t>Examples of System Software</a:t>
            </a:r>
          </a:p>
          <a:p>
            <a:pPr marL="0" indent="0">
              <a:buNone/>
            </a:pPr>
            <a:r>
              <a:rPr lang="en-US" dirty="0">
                <a:latin typeface="Times New Roman" panose="02020603050405020304" pitchFamily="18" charset="0"/>
                <a:cs typeface="Times New Roman" panose="02020603050405020304" pitchFamily="18" charset="0"/>
              </a:rPr>
              <a:t>System software runs things in the background and operating systems are an example of system software.</a:t>
            </a:r>
          </a:p>
          <a:p>
            <a:pPr marL="0" indent="0">
              <a:buNone/>
            </a:pPr>
            <a:r>
              <a:rPr lang="en-US" dirty="0">
                <a:latin typeface="Times New Roman" panose="02020603050405020304" pitchFamily="18" charset="0"/>
                <a:cs typeface="Times New Roman" panose="02020603050405020304" pitchFamily="18" charset="0"/>
              </a:rPr>
              <a:t>For desktop computers, laptops and tablets:</a:t>
            </a:r>
          </a:p>
          <a:p>
            <a:pPr lvl="0"/>
            <a:r>
              <a:rPr lang="en-US" dirty="0">
                <a:latin typeface="Times New Roman" panose="02020603050405020304" pitchFamily="18" charset="0"/>
                <a:cs typeface="Times New Roman" panose="02020603050405020304" pitchFamily="18" charset="0"/>
              </a:rPr>
              <a:t>Microsoft Windows</a:t>
            </a:r>
          </a:p>
          <a:p>
            <a:pPr lvl="0"/>
            <a:r>
              <a:rPr lang="en-US" dirty="0">
                <a:latin typeface="Times New Roman" panose="02020603050405020304" pitchFamily="18" charset="0"/>
                <a:cs typeface="Times New Roman" panose="02020603050405020304" pitchFamily="18" charset="0"/>
              </a:rPr>
              <a:t>MacOS (for Apple devices)</a:t>
            </a:r>
          </a:p>
          <a:p>
            <a:pPr lvl="0"/>
            <a:r>
              <a:rPr lang="en-US" dirty="0">
                <a:latin typeface="Times New Roman" panose="02020603050405020304" pitchFamily="18" charset="0"/>
                <a:cs typeface="Times New Roman" panose="02020603050405020304" pitchFamily="18" charset="0"/>
              </a:rPr>
              <a:t>Linux</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4308719E-923F-4A3C-8480-D8B8AECDFF52}" type="slidenum">
              <a:rPr lang="en-US" smtClean="0"/>
              <a:t>5</a:t>
            </a:fld>
            <a:endParaRPr lang="en-US"/>
          </a:p>
        </p:txBody>
      </p:sp>
      <p:pic>
        <p:nvPicPr>
          <p:cNvPr id="4" name="Picture 2" descr="What is an Operating System?">
            <a:extLst>
              <a:ext uri="{FF2B5EF4-FFF2-40B4-BE49-F238E27FC236}">
                <a16:creationId xmlns:a16="http://schemas.microsoft.com/office/drawing/2014/main" id="{0582A2A4-0079-4F62-81D2-41266A81022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2490" y="4138366"/>
            <a:ext cx="3309647" cy="1250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7095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308719E-923F-4A3C-8480-D8B8AECDFF52}" type="slidenum">
              <a:rPr lang="en-US" smtClean="0"/>
              <a:t>6</a:t>
            </a:fld>
            <a:endParaRPr lang="en-US"/>
          </a:p>
        </p:txBody>
      </p:sp>
      <p:pic>
        <p:nvPicPr>
          <p:cNvPr id="5" name="Content Placeholder 4" descr="Difference between System software and Application software - TutorialsMate"/>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34856" y="973058"/>
            <a:ext cx="7650865" cy="4423378"/>
          </a:xfrm>
          <a:prstGeom prst="rect">
            <a:avLst/>
          </a:prstGeom>
          <a:noFill/>
          <a:ln>
            <a:noFill/>
          </a:ln>
        </p:spPr>
      </p:pic>
    </p:spTree>
    <p:extLst>
      <p:ext uri="{BB962C8B-B14F-4D97-AF65-F5344CB8AC3E}">
        <p14:creationId xmlns:p14="http://schemas.microsoft.com/office/powerpoint/2010/main" val="3524382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2C8FE-A8D6-4DCC-8400-63C5D5913746}"/>
              </a:ext>
            </a:extLst>
          </p:cNvPr>
          <p:cNvSpPr>
            <a:spLocks noGrp="1"/>
          </p:cNvSpPr>
          <p:nvPr>
            <p:ph type="title"/>
          </p:nvPr>
        </p:nvSpPr>
        <p:spPr/>
        <p:txBody>
          <a:bodyPr/>
          <a:lstStyle/>
          <a:p>
            <a:r>
              <a:rPr lang="en-US" dirty="0"/>
              <a:t>Attributes of Good Software</a:t>
            </a:r>
          </a:p>
        </p:txBody>
      </p:sp>
      <p:sp>
        <p:nvSpPr>
          <p:cNvPr id="3" name="Content Placeholder 2">
            <a:extLst>
              <a:ext uri="{FF2B5EF4-FFF2-40B4-BE49-F238E27FC236}">
                <a16:creationId xmlns:a16="http://schemas.microsoft.com/office/drawing/2014/main" id="{C65AB8AD-91EC-4E21-A681-300CB3221EEC}"/>
              </a:ext>
            </a:extLst>
          </p:cNvPr>
          <p:cNvSpPr>
            <a:spLocks noGrp="1"/>
          </p:cNvSpPr>
          <p:nvPr>
            <p:ph idx="1"/>
          </p:nvPr>
        </p:nvSpPr>
        <p:spPr/>
        <p:txBody>
          <a:bodyPr>
            <a:normAutofit/>
          </a:bodyPr>
          <a:lstStyle/>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Maintainability:</a:t>
            </a:r>
            <a:r>
              <a:rPr lang="en-US" dirty="0">
                <a:latin typeface="Times New Roman" panose="02020603050405020304" pitchFamily="18" charset="0"/>
                <a:cs typeface="Times New Roman" panose="02020603050405020304" pitchFamily="18" charset="0"/>
              </a:rPr>
              <a:t> Software must evolve to meet changing need of customer is called maintainability. So, software should be written in such a way that, it may evolve changing needs of customer</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Dependability</a:t>
            </a:r>
            <a:r>
              <a:rPr lang="en-US" dirty="0">
                <a:latin typeface="Times New Roman" panose="02020603050405020304" pitchFamily="18" charset="0"/>
                <a:cs typeface="Times New Roman" panose="02020603050405020304" pitchFamily="18" charset="0"/>
              </a:rPr>
              <a:t>: Dependability of software is a property of software that reflects it's trustworthiness. It is the degree of confidence, a user has that the system will operate as they expect and the system will not fail in normal use.</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Portability: </a:t>
            </a:r>
            <a:r>
              <a:rPr lang="en-US" dirty="0">
                <a:latin typeface="Times New Roman" panose="02020603050405020304" pitchFamily="18" charset="0"/>
                <a:cs typeface="Times New Roman" panose="02020603050405020304" pitchFamily="18" charset="0"/>
              </a:rPr>
              <a:t>It refers to the ease with which software developers can transfer software from one platform to another.</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Efficiency: </a:t>
            </a:r>
            <a:r>
              <a:rPr lang="en-US" dirty="0">
                <a:latin typeface="Times New Roman" panose="02020603050405020304" pitchFamily="18" charset="0"/>
                <a:cs typeface="Times New Roman" panose="02020603050405020304" pitchFamily="18" charset="0"/>
              </a:rPr>
              <a:t>Software should not make wasteful use of system resources such as memory, processor cycle. So, efficiency means, responsiveness, processing time, memory utilization.</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Usability:</a:t>
            </a:r>
            <a:r>
              <a:rPr lang="en-US" dirty="0">
                <a:latin typeface="Times New Roman" panose="02020603050405020304" pitchFamily="18" charset="0"/>
                <a:cs typeface="Times New Roman" panose="02020603050405020304" pitchFamily="18" charset="0"/>
              </a:rPr>
              <a:t> Software must be easily usable, it should not be too complicated to use. It should have adequate, documentation and appropriate interface.</a:t>
            </a:r>
          </a:p>
        </p:txBody>
      </p:sp>
      <p:sp>
        <p:nvSpPr>
          <p:cNvPr id="4" name="Slide Number Placeholder 3">
            <a:extLst>
              <a:ext uri="{FF2B5EF4-FFF2-40B4-BE49-F238E27FC236}">
                <a16:creationId xmlns:a16="http://schemas.microsoft.com/office/drawing/2014/main" id="{34446343-A568-486F-A340-F02EE63A43A0}"/>
              </a:ext>
            </a:extLst>
          </p:cNvPr>
          <p:cNvSpPr>
            <a:spLocks noGrp="1"/>
          </p:cNvSpPr>
          <p:nvPr>
            <p:ph type="sldNum" sz="quarter" idx="12"/>
          </p:nvPr>
        </p:nvSpPr>
        <p:spPr/>
        <p:txBody>
          <a:bodyPr/>
          <a:lstStyle/>
          <a:p>
            <a:fld id="{255C45AA-988C-4610-8E25-9C545FF2A435}" type="slidenum">
              <a:rPr lang="en-US" smtClean="0"/>
              <a:t>7</a:t>
            </a:fld>
            <a:endParaRPr lang="en-US"/>
          </a:p>
        </p:txBody>
      </p:sp>
    </p:spTree>
    <p:extLst>
      <p:ext uri="{BB962C8B-B14F-4D97-AF65-F5344CB8AC3E}">
        <p14:creationId xmlns:p14="http://schemas.microsoft.com/office/powerpoint/2010/main" val="2466295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5A03A-2CEB-4668-8A57-66A1327612BC}"/>
              </a:ext>
            </a:extLst>
          </p:cNvPr>
          <p:cNvSpPr>
            <a:spLocks noGrp="1"/>
          </p:cNvSpPr>
          <p:nvPr>
            <p:ph type="title"/>
          </p:nvPr>
        </p:nvSpPr>
        <p:spPr/>
        <p:txBody>
          <a:bodyPr/>
          <a:lstStyle/>
          <a:p>
            <a:r>
              <a:rPr lang="en-US" dirty="0"/>
              <a:t>Software Engineering</a:t>
            </a:r>
          </a:p>
        </p:txBody>
      </p:sp>
      <p:sp>
        <p:nvSpPr>
          <p:cNvPr id="3" name="Content Placeholder 2">
            <a:extLst>
              <a:ext uri="{FF2B5EF4-FFF2-40B4-BE49-F238E27FC236}">
                <a16:creationId xmlns:a16="http://schemas.microsoft.com/office/drawing/2014/main" id="{6311BFD1-664E-47E0-B13F-F2DEF4A2D881}"/>
              </a:ext>
            </a:extLst>
          </p:cNvPr>
          <p:cNvSpPr>
            <a:spLocks noGrp="1"/>
          </p:cNvSpPr>
          <p:nvPr>
            <p:ph idx="1"/>
          </p:nvPr>
        </p:nvSpPr>
        <p:spPr/>
        <p:txBody>
          <a:bodyPr/>
          <a:lstStyle/>
          <a:p>
            <a:pPr marL="0" indent="0">
              <a:buNone/>
            </a:pPr>
            <a:r>
              <a:rPr lang="en-US" b="1" u="none" strike="noStrike" dirty="0">
                <a:effectLst/>
                <a:latin typeface="Times New Roman" panose="02020603050405020304" pitchFamily="18" charset="0"/>
                <a:cs typeface="Times New Roman" panose="02020603050405020304" pitchFamily="18" charset="0"/>
              </a:rPr>
              <a:t>Software engineering</a:t>
            </a:r>
            <a:r>
              <a:rPr lang="en-US" b="0" u="none" strike="noStrike" dirty="0">
                <a:effectLst/>
                <a:latin typeface="Times New Roman" panose="02020603050405020304" pitchFamily="18" charset="0"/>
                <a:cs typeface="Times New Roman" panose="02020603050405020304" pitchFamily="18" charset="0"/>
              </a:rPr>
              <a:t> is </a:t>
            </a:r>
            <a:r>
              <a:rPr lang="en-US" dirty="0">
                <a:latin typeface="Times New Roman" panose="02020603050405020304" pitchFamily="18" charset="0"/>
                <a:cs typeface="Times New Roman" panose="02020603050405020304" pitchFamily="18" charset="0"/>
              </a:rPr>
              <a:t>the structured, systematic, and disciplined application of engineering principles to the design, development, testing, and maintenance of software. It goes beyond just writing code, encompassing the entire lifecycle of a digital product.</a:t>
            </a:r>
          </a:p>
        </p:txBody>
      </p:sp>
      <p:sp>
        <p:nvSpPr>
          <p:cNvPr id="4" name="Slide Number Placeholder 3">
            <a:extLst>
              <a:ext uri="{FF2B5EF4-FFF2-40B4-BE49-F238E27FC236}">
                <a16:creationId xmlns:a16="http://schemas.microsoft.com/office/drawing/2014/main" id="{F85306DB-8051-4AC8-9185-EFD579678B3A}"/>
              </a:ext>
            </a:extLst>
          </p:cNvPr>
          <p:cNvSpPr>
            <a:spLocks noGrp="1"/>
          </p:cNvSpPr>
          <p:nvPr>
            <p:ph type="sldNum" sz="quarter" idx="12"/>
          </p:nvPr>
        </p:nvSpPr>
        <p:spPr/>
        <p:txBody>
          <a:bodyPr/>
          <a:lstStyle/>
          <a:p>
            <a:fld id="{255C45AA-988C-4610-8E25-9C545FF2A435}" type="slidenum">
              <a:rPr lang="en-US" smtClean="0"/>
              <a:t>8</a:t>
            </a:fld>
            <a:endParaRPr lang="en-US"/>
          </a:p>
        </p:txBody>
      </p:sp>
    </p:spTree>
    <p:extLst>
      <p:ext uri="{BB962C8B-B14F-4D97-AF65-F5344CB8AC3E}">
        <p14:creationId xmlns:p14="http://schemas.microsoft.com/office/powerpoint/2010/main" val="444290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5A03A-2CEB-4668-8A57-66A1327612BC}"/>
              </a:ext>
            </a:extLst>
          </p:cNvPr>
          <p:cNvSpPr>
            <a:spLocks noGrp="1"/>
          </p:cNvSpPr>
          <p:nvPr>
            <p:ph type="title"/>
          </p:nvPr>
        </p:nvSpPr>
        <p:spPr/>
        <p:txBody>
          <a:bodyPr/>
          <a:lstStyle/>
          <a:p>
            <a:r>
              <a:rPr lang="en-US" dirty="0"/>
              <a:t>Importance of Software Engineering</a:t>
            </a:r>
          </a:p>
        </p:txBody>
      </p:sp>
      <p:sp>
        <p:nvSpPr>
          <p:cNvPr id="3" name="Content Placeholder 2">
            <a:extLst>
              <a:ext uri="{FF2B5EF4-FFF2-40B4-BE49-F238E27FC236}">
                <a16:creationId xmlns:a16="http://schemas.microsoft.com/office/drawing/2014/main" id="{6311BFD1-664E-47E0-B13F-F2DEF4A2D881}"/>
              </a:ext>
            </a:extLst>
          </p:cNvPr>
          <p:cNvSpPr>
            <a:spLocks noGrp="1"/>
          </p:cNvSpPr>
          <p:nvPr>
            <p:ph idx="1"/>
          </p:nvPr>
        </p:nvSpPr>
        <p:spPr/>
        <p:txBody>
          <a:bodyPr>
            <a:normAutofit fontScale="92500" lnSpcReduction="10000"/>
          </a:bodyPr>
          <a:lstStyle/>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Large software:</a:t>
            </a:r>
            <a:r>
              <a:rPr lang="en-US" dirty="0">
                <a:latin typeface="Times New Roman" panose="02020603050405020304" pitchFamily="18" charset="0"/>
                <a:cs typeface="Times New Roman" panose="02020603050405020304" pitchFamily="18" charset="0"/>
              </a:rPr>
              <a:t> It is easier to build a wall than to a house or building, likewise, as the size of software become large engineering has to step to give it a scientific process.</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Scalability:</a:t>
            </a:r>
            <a:r>
              <a:rPr lang="en-US" dirty="0">
                <a:latin typeface="Times New Roman" panose="02020603050405020304" pitchFamily="18" charset="0"/>
                <a:cs typeface="Times New Roman" panose="02020603050405020304" pitchFamily="18" charset="0"/>
              </a:rPr>
              <a:t> If the software process were not based on scientific and engineering concepts, it would be easier to re-create new software than to scale an existing one.</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Cost:</a:t>
            </a:r>
            <a:r>
              <a:rPr lang="en-US" dirty="0">
                <a:latin typeface="Times New Roman" panose="02020603050405020304" pitchFamily="18" charset="0"/>
                <a:cs typeface="Times New Roman" panose="02020603050405020304" pitchFamily="18" charset="0"/>
              </a:rPr>
              <a:t> As hardware industry has shown its skills and huge manufacturing has lower down the price of computer and electronic hardware. But the cost of software remains high if proper process is not adapted.</a:t>
            </a:r>
            <a:endParaRPr lang="en-US"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Dynamic Nature:</a:t>
            </a:r>
            <a:r>
              <a:rPr lang="en-US" dirty="0">
                <a:latin typeface="Times New Roman" panose="02020603050405020304" pitchFamily="18" charset="0"/>
                <a:cs typeface="Times New Roman" panose="02020603050405020304" pitchFamily="18" charset="0"/>
              </a:rPr>
              <a:t> The always growing and adapting nature of software hugely depends upon the environment in which user works. If the nature of software is always changing, new enhancements need to be done in the existing one. This is where software engineering plays a good role.</a:t>
            </a:r>
          </a:p>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Quality Management:</a:t>
            </a:r>
            <a:r>
              <a:rPr lang="en-US" dirty="0">
                <a:latin typeface="Times New Roman" panose="02020603050405020304" pitchFamily="18" charset="0"/>
                <a:cs typeface="Times New Roman" panose="02020603050405020304" pitchFamily="18" charset="0"/>
              </a:rPr>
              <a:t> Better process of software development provides better and quality software product.</a:t>
            </a:r>
          </a:p>
        </p:txBody>
      </p:sp>
      <p:sp>
        <p:nvSpPr>
          <p:cNvPr id="4" name="Slide Number Placeholder 3">
            <a:extLst>
              <a:ext uri="{FF2B5EF4-FFF2-40B4-BE49-F238E27FC236}">
                <a16:creationId xmlns:a16="http://schemas.microsoft.com/office/drawing/2014/main" id="{5E200B83-0281-41F3-8B1B-C6EADF822C71}"/>
              </a:ext>
            </a:extLst>
          </p:cNvPr>
          <p:cNvSpPr>
            <a:spLocks noGrp="1"/>
          </p:cNvSpPr>
          <p:nvPr>
            <p:ph type="sldNum" sz="quarter" idx="12"/>
          </p:nvPr>
        </p:nvSpPr>
        <p:spPr/>
        <p:txBody>
          <a:bodyPr/>
          <a:lstStyle/>
          <a:p>
            <a:fld id="{255C45AA-988C-4610-8E25-9C545FF2A435}" type="slidenum">
              <a:rPr lang="en-US" smtClean="0"/>
              <a:t>9</a:t>
            </a:fld>
            <a:endParaRPr lang="en-US"/>
          </a:p>
        </p:txBody>
      </p:sp>
    </p:spTree>
    <p:extLst>
      <p:ext uri="{BB962C8B-B14F-4D97-AF65-F5344CB8AC3E}">
        <p14:creationId xmlns:p14="http://schemas.microsoft.com/office/powerpoint/2010/main" val="1330571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BAD89-5AD9-4C2C-BE7D-E7FB83661753}"/>
              </a:ext>
            </a:extLst>
          </p:cNvPr>
          <p:cNvSpPr>
            <a:spLocks noGrp="1"/>
          </p:cNvSpPr>
          <p:nvPr>
            <p:ph type="title"/>
          </p:nvPr>
        </p:nvSpPr>
        <p:spPr/>
        <p:txBody>
          <a:bodyPr/>
          <a:lstStyle/>
          <a:p>
            <a:r>
              <a:rPr lang="en-US" dirty="0"/>
              <a:t>Fundamental process activities</a:t>
            </a:r>
          </a:p>
        </p:txBody>
      </p:sp>
      <p:sp>
        <p:nvSpPr>
          <p:cNvPr id="3" name="Content Placeholder 2">
            <a:extLst>
              <a:ext uri="{FF2B5EF4-FFF2-40B4-BE49-F238E27FC236}">
                <a16:creationId xmlns:a16="http://schemas.microsoft.com/office/drawing/2014/main" id="{DAE8301E-E525-48FF-87B5-EB98F57E0254}"/>
              </a:ext>
            </a:extLst>
          </p:cNvPr>
          <p:cNvSpPr>
            <a:spLocks noGrp="1"/>
          </p:cNvSpPr>
          <p:nvPr>
            <p:ph idx="1"/>
          </p:nvPr>
        </p:nvSpPr>
        <p:spPr/>
        <p:txBody>
          <a:bodyPr/>
          <a:lstStyle/>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Software Specification:</a:t>
            </a:r>
            <a:r>
              <a:rPr lang="en-US" b="0" u="none" strike="noStrike" dirty="0">
                <a:effectLst/>
                <a:latin typeface="Times New Roman" panose="02020603050405020304" pitchFamily="18" charset="0"/>
                <a:cs typeface="Times New Roman" panose="02020603050405020304" pitchFamily="18" charset="0"/>
              </a:rPr>
              <a:t> The </a:t>
            </a:r>
            <a:r>
              <a:rPr lang="en-US" b="0" i="1"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Requirements Engineering Process</a:t>
            </a:r>
            <a:r>
              <a:rPr lang="en-US" b="0" u="none" strike="noStrike" dirty="0">
                <a:effectLst/>
                <a:latin typeface="Times New Roman" panose="02020603050405020304" pitchFamily="18" charset="0"/>
                <a:cs typeface="Times New Roman" panose="02020603050405020304" pitchFamily="18" charset="0"/>
              </a:rPr>
              <a:t> where engineers and stakeholders define system functions, constraints, and operational goals. </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Design &amp; Implementation:</a:t>
            </a:r>
            <a:r>
              <a:rPr lang="en-US" b="0" u="none" strike="noStrike" dirty="0">
                <a:effectLst/>
                <a:latin typeface="Times New Roman" panose="02020603050405020304" pitchFamily="18" charset="0"/>
                <a:cs typeface="Times New Roman" panose="02020603050405020304" pitchFamily="18" charset="0"/>
              </a:rPr>
              <a:t> Translating specifications into the executable system. This includes architectural design, component design, database design, and the actual programming/coding. </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Validation &amp; Verification:</a:t>
            </a:r>
            <a:r>
              <a:rPr lang="en-US" b="0" u="none" strike="noStrike" dirty="0">
                <a:effectLst/>
                <a:latin typeface="Times New Roman" panose="02020603050405020304" pitchFamily="18" charset="0"/>
                <a:cs typeface="Times New Roman" panose="02020603050405020304" pitchFamily="18" charset="0"/>
              </a:rPr>
              <a:t> Assessing the software to ensure it operates reliably and meets business and end-user requirements. This includes unit testing, integration testing, and bug fixing. </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Evolution &amp; Maintenance:</a:t>
            </a:r>
            <a:r>
              <a:rPr lang="en-US" b="0" u="none" strike="noStrike" dirty="0">
                <a:effectLst/>
                <a:latin typeface="Times New Roman" panose="02020603050405020304" pitchFamily="18" charset="0"/>
                <a:cs typeface="Times New Roman" panose="02020603050405020304" pitchFamily="18" charset="0"/>
              </a:rPr>
              <a:t> Modifying and updating the software post-deployment to fix issues, adapt to new environments, or add new features based on changing market demands. </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6519BBD-040B-41DB-AE05-9C0966502D49}"/>
              </a:ext>
            </a:extLst>
          </p:cNvPr>
          <p:cNvSpPr>
            <a:spLocks noGrp="1"/>
          </p:cNvSpPr>
          <p:nvPr>
            <p:ph type="sldNum" sz="quarter" idx="12"/>
          </p:nvPr>
        </p:nvSpPr>
        <p:spPr/>
        <p:txBody>
          <a:bodyPr/>
          <a:lstStyle/>
          <a:p>
            <a:fld id="{255C45AA-988C-4610-8E25-9C545FF2A435}" type="slidenum">
              <a:rPr lang="en-US" smtClean="0"/>
              <a:t>10</a:t>
            </a:fld>
            <a:endParaRPr lang="en-US"/>
          </a:p>
        </p:txBody>
      </p:sp>
    </p:spTree>
    <p:extLst>
      <p:ext uri="{BB962C8B-B14F-4D97-AF65-F5344CB8AC3E}">
        <p14:creationId xmlns:p14="http://schemas.microsoft.com/office/powerpoint/2010/main" val="1402721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8C7A3-92D3-479B-8559-B71882D8424E}"/>
              </a:ext>
            </a:extLst>
          </p:cNvPr>
          <p:cNvSpPr>
            <a:spLocks noGrp="1"/>
          </p:cNvSpPr>
          <p:nvPr>
            <p:ph type="title"/>
          </p:nvPr>
        </p:nvSpPr>
        <p:spPr/>
        <p:txBody>
          <a:bodyPr/>
          <a:lstStyle/>
          <a:p>
            <a:r>
              <a:rPr lang="en-US" dirty="0"/>
              <a:t>Software engineering vs computer science</a:t>
            </a:r>
          </a:p>
        </p:txBody>
      </p:sp>
      <p:pic>
        <p:nvPicPr>
          <p:cNvPr id="4" name="Picture 3">
            <a:extLst>
              <a:ext uri="{FF2B5EF4-FFF2-40B4-BE49-F238E27FC236}">
                <a16:creationId xmlns:a16="http://schemas.microsoft.com/office/drawing/2014/main" id="{902393D1-1CEB-44BC-802C-6C78889AA272}"/>
              </a:ext>
            </a:extLst>
          </p:cNvPr>
          <p:cNvPicPr>
            <a:picLocks noChangeAspect="1"/>
          </p:cNvPicPr>
          <p:nvPr/>
        </p:nvPicPr>
        <p:blipFill rotWithShape="1">
          <a:blip r:embed="rId2"/>
          <a:srcRect t="10481"/>
          <a:stretch/>
        </p:blipFill>
        <p:spPr>
          <a:xfrm>
            <a:off x="2628602" y="2093976"/>
            <a:ext cx="7684322" cy="4337313"/>
          </a:xfrm>
          <a:prstGeom prst="rect">
            <a:avLst/>
          </a:prstGeom>
        </p:spPr>
      </p:pic>
      <p:sp>
        <p:nvSpPr>
          <p:cNvPr id="3" name="Slide Number Placeholder 2">
            <a:extLst>
              <a:ext uri="{FF2B5EF4-FFF2-40B4-BE49-F238E27FC236}">
                <a16:creationId xmlns:a16="http://schemas.microsoft.com/office/drawing/2014/main" id="{0ED87D00-9E81-4880-A06E-7EB4449C36F8}"/>
              </a:ext>
            </a:extLst>
          </p:cNvPr>
          <p:cNvSpPr>
            <a:spLocks noGrp="1"/>
          </p:cNvSpPr>
          <p:nvPr>
            <p:ph type="sldNum" sz="quarter" idx="12"/>
          </p:nvPr>
        </p:nvSpPr>
        <p:spPr/>
        <p:txBody>
          <a:bodyPr/>
          <a:lstStyle/>
          <a:p>
            <a:fld id="{255C45AA-988C-4610-8E25-9C545FF2A435}" type="slidenum">
              <a:rPr lang="en-US" smtClean="0"/>
              <a:t>11</a:t>
            </a:fld>
            <a:endParaRPr lang="en-US"/>
          </a:p>
        </p:txBody>
      </p:sp>
    </p:spTree>
    <p:extLst>
      <p:ext uri="{BB962C8B-B14F-4D97-AF65-F5344CB8AC3E}">
        <p14:creationId xmlns:p14="http://schemas.microsoft.com/office/powerpoint/2010/main" val="499344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8C7A3-92D3-479B-8559-B71882D8424E}"/>
              </a:ext>
            </a:extLst>
          </p:cNvPr>
          <p:cNvSpPr>
            <a:spLocks noGrp="1"/>
          </p:cNvSpPr>
          <p:nvPr>
            <p:ph type="title"/>
          </p:nvPr>
        </p:nvSpPr>
        <p:spPr/>
        <p:txBody>
          <a:bodyPr/>
          <a:lstStyle/>
          <a:p>
            <a:r>
              <a:rPr lang="en-US" dirty="0"/>
              <a:t>Software engineering vs system engineering</a:t>
            </a:r>
          </a:p>
        </p:txBody>
      </p:sp>
      <p:pic>
        <p:nvPicPr>
          <p:cNvPr id="9" name="Picture 8">
            <a:extLst>
              <a:ext uri="{FF2B5EF4-FFF2-40B4-BE49-F238E27FC236}">
                <a16:creationId xmlns:a16="http://schemas.microsoft.com/office/drawing/2014/main" id="{15E20147-48B4-4EDB-A30C-1D612EA29B25}"/>
              </a:ext>
            </a:extLst>
          </p:cNvPr>
          <p:cNvPicPr>
            <a:picLocks noChangeAspect="1"/>
          </p:cNvPicPr>
          <p:nvPr/>
        </p:nvPicPr>
        <p:blipFill>
          <a:blip r:embed="rId2"/>
          <a:stretch>
            <a:fillRect/>
          </a:stretch>
        </p:blipFill>
        <p:spPr>
          <a:xfrm>
            <a:off x="2302622" y="2245652"/>
            <a:ext cx="7982021" cy="4257077"/>
          </a:xfrm>
          <a:prstGeom prst="rect">
            <a:avLst/>
          </a:prstGeom>
        </p:spPr>
      </p:pic>
      <p:sp>
        <p:nvSpPr>
          <p:cNvPr id="3" name="Slide Number Placeholder 2">
            <a:extLst>
              <a:ext uri="{FF2B5EF4-FFF2-40B4-BE49-F238E27FC236}">
                <a16:creationId xmlns:a16="http://schemas.microsoft.com/office/drawing/2014/main" id="{AA16B729-F634-43A7-B129-C2BE6120CF8B}"/>
              </a:ext>
            </a:extLst>
          </p:cNvPr>
          <p:cNvSpPr>
            <a:spLocks noGrp="1"/>
          </p:cNvSpPr>
          <p:nvPr>
            <p:ph type="sldNum" sz="quarter" idx="12"/>
          </p:nvPr>
        </p:nvSpPr>
        <p:spPr/>
        <p:txBody>
          <a:bodyPr/>
          <a:lstStyle/>
          <a:p>
            <a:fld id="{255C45AA-988C-4610-8E25-9C545FF2A435}" type="slidenum">
              <a:rPr lang="en-US" smtClean="0"/>
              <a:t>12</a:t>
            </a:fld>
            <a:endParaRPr lang="en-US"/>
          </a:p>
        </p:txBody>
      </p:sp>
    </p:spTree>
    <p:extLst>
      <p:ext uri="{BB962C8B-B14F-4D97-AF65-F5344CB8AC3E}">
        <p14:creationId xmlns:p14="http://schemas.microsoft.com/office/powerpoint/2010/main" val="1992834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90741-74F5-4A47-A003-29CE93810970}"/>
              </a:ext>
            </a:extLst>
          </p:cNvPr>
          <p:cNvSpPr>
            <a:spLocks noGrp="1"/>
          </p:cNvSpPr>
          <p:nvPr>
            <p:ph type="title"/>
          </p:nvPr>
        </p:nvSpPr>
        <p:spPr/>
        <p:txBody>
          <a:bodyPr/>
          <a:lstStyle/>
          <a:p>
            <a:r>
              <a:rPr lang="en-US" dirty="0"/>
              <a:t>Challenges of software engineering</a:t>
            </a:r>
          </a:p>
        </p:txBody>
      </p:sp>
      <p:sp>
        <p:nvSpPr>
          <p:cNvPr id="3" name="Content Placeholder 2">
            <a:extLst>
              <a:ext uri="{FF2B5EF4-FFF2-40B4-BE49-F238E27FC236}">
                <a16:creationId xmlns:a16="http://schemas.microsoft.com/office/drawing/2014/main" id="{82789304-4A27-42E4-9A24-22916255ACAA}"/>
              </a:ext>
            </a:extLst>
          </p:cNvPr>
          <p:cNvSpPr>
            <a:spLocks noGrp="1"/>
          </p:cNvSpPr>
          <p:nvPr>
            <p:ph idx="1"/>
          </p:nvPr>
        </p:nvSpPr>
        <p:spPr>
          <a:xfrm>
            <a:off x="1069848" y="1772239"/>
            <a:ext cx="10058400" cy="4399961"/>
          </a:xfrm>
        </p:spPr>
        <p:txBody>
          <a:bodyPr>
            <a:normAutofit fontScale="85000" lnSpcReduction="10000"/>
          </a:bodyPr>
          <a:lstStyle/>
          <a:p>
            <a:pPr marL="0" indent="0">
              <a:buNone/>
            </a:pPr>
            <a:r>
              <a:rPr lang="en-US" b="1" dirty="0">
                <a:latin typeface="Times New Roman" panose="02020603050405020304" pitchFamily="18" charset="0"/>
                <a:cs typeface="Times New Roman" panose="02020603050405020304" pitchFamily="18" charset="0"/>
              </a:rPr>
              <a:t>1. The legacy Challenge</a:t>
            </a:r>
          </a:p>
          <a:p>
            <a:pPr marL="0" indent="0">
              <a:lnSpc>
                <a:spcPct val="120000"/>
              </a:lnSpc>
              <a:buNone/>
            </a:pPr>
            <a:r>
              <a:rPr lang="en-US" dirty="0">
                <a:latin typeface="Times New Roman" panose="02020603050405020304" pitchFamily="18" charset="0"/>
                <a:cs typeface="Times New Roman" panose="02020603050405020304" pitchFamily="18" charset="0"/>
              </a:rPr>
              <a:t>The Legacy challenge refers to the challenge of continuously updating the software to meet the changing requirements of the user. We know that measure of popular software like Windows, Adobe, Android, Kaspersky, </a:t>
            </a:r>
            <a:r>
              <a:rPr lang="en-US" dirty="0" err="1">
                <a:latin typeface="Times New Roman" panose="02020603050405020304" pitchFamily="18" charset="0"/>
                <a:cs typeface="Times New Roman" panose="02020603050405020304" pitchFamily="18" charset="0"/>
              </a:rPr>
              <a:t>etc</a:t>
            </a:r>
            <a:r>
              <a:rPr lang="en-US" dirty="0">
                <a:latin typeface="Times New Roman" panose="02020603050405020304" pitchFamily="18" charset="0"/>
                <a:cs typeface="Times New Roman" panose="02020603050405020304" pitchFamily="18" charset="0"/>
              </a:rPr>
              <a:t> are very old and popular software but their demand is still the same. This is because they are successful in updating their software with the changing needs of generations. The Legacy challenge is the challenge of maintaining and updating the software in such a way that maximizing cost are avoided and important services regularly delivered.</a:t>
            </a:r>
          </a:p>
          <a:p>
            <a:pPr marL="0" indent="0">
              <a:buNone/>
            </a:pPr>
            <a:r>
              <a:rPr lang="en-US" b="1" dirty="0">
                <a:latin typeface="Times New Roman" panose="02020603050405020304" pitchFamily="18" charset="0"/>
                <a:cs typeface="Times New Roman" panose="02020603050405020304" pitchFamily="18" charset="0"/>
              </a:rPr>
              <a:t>2. Heterogeneity Challenge</a:t>
            </a:r>
          </a:p>
          <a:p>
            <a:pPr marL="0" indent="0">
              <a:lnSpc>
                <a:spcPct val="120000"/>
              </a:lnSpc>
              <a:buNone/>
            </a:pPr>
            <a:r>
              <a:rPr lang="en-US" dirty="0">
                <a:latin typeface="Times New Roman" panose="02020603050405020304" pitchFamily="18" charset="0"/>
                <a:cs typeface="Times New Roman" panose="02020603050405020304" pitchFamily="18" charset="0"/>
              </a:rPr>
              <a:t>Heterogeneity challenges refers to the difficulty faced by the developers to build platform-independent software which is flexible enough to cope with changes in the platform. Software development challenges are ever going problems for developers because Technology never is top in one development phase. The best solution to this challenge is to update programming techniques and go with the trends. Example :we should develop software which can be run in both mobile phone and desktop.</a:t>
            </a:r>
          </a:p>
        </p:txBody>
      </p:sp>
      <p:sp>
        <p:nvSpPr>
          <p:cNvPr id="4" name="Slide Number Placeholder 3">
            <a:extLst>
              <a:ext uri="{FF2B5EF4-FFF2-40B4-BE49-F238E27FC236}">
                <a16:creationId xmlns:a16="http://schemas.microsoft.com/office/drawing/2014/main" id="{9DBECE94-7DBB-461D-825B-2A7D5F3A6252}"/>
              </a:ext>
            </a:extLst>
          </p:cNvPr>
          <p:cNvSpPr>
            <a:spLocks noGrp="1"/>
          </p:cNvSpPr>
          <p:nvPr>
            <p:ph type="sldNum" sz="quarter" idx="12"/>
          </p:nvPr>
        </p:nvSpPr>
        <p:spPr/>
        <p:txBody>
          <a:bodyPr/>
          <a:lstStyle/>
          <a:p>
            <a:fld id="{255C45AA-988C-4610-8E25-9C545FF2A435}" type="slidenum">
              <a:rPr lang="en-US" smtClean="0"/>
              <a:t>13</a:t>
            </a:fld>
            <a:endParaRPr lang="en-US"/>
          </a:p>
        </p:txBody>
      </p:sp>
    </p:spTree>
    <p:extLst>
      <p:ext uri="{BB962C8B-B14F-4D97-AF65-F5344CB8AC3E}">
        <p14:creationId xmlns:p14="http://schemas.microsoft.com/office/powerpoint/2010/main" val="66129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90741-74F5-4A47-A003-29CE93810970}"/>
              </a:ext>
            </a:extLst>
          </p:cNvPr>
          <p:cNvSpPr>
            <a:spLocks noGrp="1"/>
          </p:cNvSpPr>
          <p:nvPr>
            <p:ph type="title"/>
          </p:nvPr>
        </p:nvSpPr>
        <p:spPr/>
        <p:txBody>
          <a:bodyPr/>
          <a:lstStyle/>
          <a:p>
            <a:r>
              <a:rPr lang="en-US" dirty="0"/>
              <a:t>Challenges of software engineering</a:t>
            </a:r>
          </a:p>
        </p:txBody>
      </p:sp>
      <p:sp>
        <p:nvSpPr>
          <p:cNvPr id="3" name="Content Placeholder 2">
            <a:extLst>
              <a:ext uri="{FF2B5EF4-FFF2-40B4-BE49-F238E27FC236}">
                <a16:creationId xmlns:a16="http://schemas.microsoft.com/office/drawing/2014/main" id="{82789304-4A27-42E4-9A24-22916255ACAA}"/>
              </a:ext>
            </a:extLst>
          </p:cNvPr>
          <p:cNvSpPr>
            <a:spLocks noGrp="1"/>
          </p:cNvSpPr>
          <p:nvPr>
            <p:ph idx="1"/>
          </p:nvPr>
        </p:nvSpPr>
        <p:spPr>
          <a:xfrm>
            <a:off x="1069848" y="1772239"/>
            <a:ext cx="10892766" cy="4399961"/>
          </a:xfrm>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3. The Delivery Challenge</a:t>
            </a:r>
          </a:p>
          <a:p>
            <a:pPr marL="0" indent="0">
              <a:lnSpc>
                <a:spcPct val="120000"/>
              </a:lnSpc>
              <a:buNone/>
            </a:pPr>
            <a:r>
              <a:rPr lang="en-US" dirty="0">
                <a:latin typeface="Times New Roman" panose="02020603050405020304" pitchFamily="18" charset="0"/>
                <a:cs typeface="Times New Roman" panose="02020603050405020304" pitchFamily="18" charset="0"/>
              </a:rPr>
              <a:t>The delivery challenge is the challenge of the shortening delivery timing of extremely large and structured systems without compromising system quality. Finishing software development on time is one of the key challenges facing software engineering. Today businesses are rapidly changing and programmers need to achieve this software quality equally rapidly to the business.</a:t>
            </a:r>
          </a:p>
          <a:p>
            <a:pPr marL="0" indent="0">
              <a:lnSpc>
                <a:spcPct val="120000"/>
              </a:lnSpc>
              <a:buNone/>
            </a:pPr>
            <a:r>
              <a:rPr lang="en-US" b="1" dirty="0">
                <a:latin typeface="Times New Roman" panose="02020603050405020304" pitchFamily="18" charset="0"/>
                <a:cs typeface="Times New Roman" panose="02020603050405020304" pitchFamily="18" charset="0"/>
              </a:rPr>
              <a:t>4. Trust Challenge</a:t>
            </a:r>
          </a:p>
          <a:p>
            <a:pPr marL="0" indent="0">
              <a:lnSpc>
                <a:spcPct val="120000"/>
              </a:lnSpc>
              <a:buNone/>
            </a:pPr>
            <a:r>
              <a:rPr lang="en-US" dirty="0">
                <a:latin typeface="Times New Roman" panose="02020603050405020304" pitchFamily="18" charset="0"/>
                <a:cs typeface="Times New Roman" panose="02020603050405020304" pitchFamily="18" charset="0"/>
              </a:rPr>
              <a:t>Software is now participating in critical aspects of human life. Humans cannot take risks to </a:t>
            </a:r>
            <a:r>
              <a:rPr lang="en-US" dirty="0" err="1">
                <a:latin typeface="Times New Roman" panose="02020603050405020304" pitchFamily="18" charset="0"/>
                <a:cs typeface="Times New Roman" panose="02020603050405020304" pitchFamily="18" charset="0"/>
              </a:rPr>
              <a:t>thei</a:t>
            </a:r>
            <a:r>
              <a:rPr lang="en-US" dirty="0">
                <a:latin typeface="Times New Roman" panose="02020603050405020304" pitchFamily="18" charset="0"/>
                <a:cs typeface="Times New Roman" panose="02020603050405020304" pitchFamily="18" charset="0"/>
              </a:rPr>
              <a:t> life by using untrustworthy software. Making clients satisfied and even their trust is one of the key challenges facing software developers. It is also necessary for us that we can trust our software. This trust challenge is emerging as a threat in software engineering because of unreliable software services provided by the company. To be sustainable in the software market the developer must win the trust of users. So, the trust challenge is to develop a methodology that indicates software can be trusted by its users.</a:t>
            </a:r>
          </a:p>
          <a:p>
            <a:pPr marL="0" indent="0">
              <a:lnSpc>
                <a:spcPct val="120000"/>
              </a:lnSpc>
              <a:buNone/>
            </a:pPr>
            <a:r>
              <a:rPr lang="en-US" b="1" dirty="0">
                <a:latin typeface="Times New Roman" panose="02020603050405020304" pitchFamily="18" charset="0"/>
                <a:cs typeface="Times New Roman" panose="02020603050405020304" pitchFamily="18" charset="0"/>
              </a:rPr>
              <a:t>5. Risk Challenge</a:t>
            </a:r>
          </a:p>
          <a:p>
            <a:pPr marL="0" indent="0">
              <a:lnSpc>
                <a:spcPct val="120000"/>
              </a:lnSpc>
              <a:buNone/>
            </a:pPr>
            <a:r>
              <a:rPr lang="en-US" dirty="0">
                <a:latin typeface="Times New Roman" panose="02020603050405020304" pitchFamily="18" charset="0"/>
                <a:cs typeface="Times New Roman" panose="02020603050405020304" pitchFamily="18" charset="0"/>
              </a:rPr>
              <a:t>In safety-critical areas such as space, aviation, nuclear power plants, etc. the cost of software failure can be massive because lives are at risk. Dealing with the increased complexity of software needed for new applications.</a:t>
            </a:r>
          </a:p>
          <a:p>
            <a:pPr marL="0" indent="0">
              <a:lnSpc>
                <a:spcPct val="120000"/>
              </a:lnSpc>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245AA90-AE92-45F7-824E-43CB6F826223}"/>
              </a:ext>
            </a:extLst>
          </p:cNvPr>
          <p:cNvSpPr>
            <a:spLocks noGrp="1"/>
          </p:cNvSpPr>
          <p:nvPr>
            <p:ph type="sldNum" sz="quarter" idx="12"/>
          </p:nvPr>
        </p:nvSpPr>
        <p:spPr/>
        <p:txBody>
          <a:bodyPr/>
          <a:lstStyle/>
          <a:p>
            <a:fld id="{255C45AA-988C-4610-8E25-9C545FF2A435}" type="slidenum">
              <a:rPr lang="en-US" smtClean="0"/>
              <a:t>14</a:t>
            </a:fld>
            <a:endParaRPr lang="en-US"/>
          </a:p>
        </p:txBody>
      </p:sp>
    </p:spTree>
    <p:extLst>
      <p:ext uri="{BB962C8B-B14F-4D97-AF65-F5344CB8AC3E}">
        <p14:creationId xmlns:p14="http://schemas.microsoft.com/office/powerpoint/2010/main" val="2139722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90855-EA13-4879-8934-90B3BCB97B2B}"/>
              </a:ext>
            </a:extLst>
          </p:cNvPr>
          <p:cNvSpPr>
            <a:spLocks noGrp="1"/>
          </p:cNvSpPr>
          <p:nvPr>
            <p:ph type="title"/>
          </p:nvPr>
        </p:nvSpPr>
        <p:spPr/>
        <p:txBody>
          <a:bodyPr/>
          <a:lstStyle/>
          <a:p>
            <a:r>
              <a:rPr lang="en-US" dirty="0"/>
              <a:t>Cost of software engineering</a:t>
            </a:r>
          </a:p>
        </p:txBody>
      </p:sp>
      <p:sp>
        <p:nvSpPr>
          <p:cNvPr id="3" name="Content Placeholder 2">
            <a:extLst>
              <a:ext uri="{FF2B5EF4-FFF2-40B4-BE49-F238E27FC236}">
                <a16:creationId xmlns:a16="http://schemas.microsoft.com/office/drawing/2014/main" id="{9A1FCB5E-5258-4762-AE85-61624DAF72EE}"/>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There is no simple answer to this question as the distribution of costs across the different activities in the software process depends on the process used and the type of software that is being developed.</a:t>
            </a:r>
          </a:p>
          <a:p>
            <a:r>
              <a:rPr lang="en-US" dirty="0">
                <a:latin typeface="Times New Roman" panose="02020603050405020304" pitchFamily="18" charset="0"/>
                <a:cs typeface="Times New Roman" panose="02020603050405020304" pitchFamily="18" charset="0"/>
              </a:rPr>
              <a:t>For example, real-time software usually requires more extensive validation and testing than web-based systems.</a:t>
            </a:r>
          </a:p>
          <a:p>
            <a:r>
              <a:rPr lang="en-US" dirty="0">
                <a:latin typeface="Times New Roman" panose="02020603050405020304" pitchFamily="18" charset="0"/>
                <a:cs typeface="Times New Roman" panose="02020603050405020304" pitchFamily="18" charset="0"/>
              </a:rPr>
              <a:t>So, roughly 60 percent of costs are development costs and 40 percent are testing costs. For customer software evolution costs often exceeds development costs.</a:t>
            </a:r>
          </a:p>
          <a:p>
            <a:r>
              <a:rPr lang="en-US" dirty="0">
                <a:latin typeface="Times New Roman" panose="02020603050405020304" pitchFamily="18" charset="0"/>
                <a:cs typeface="Times New Roman" panose="02020603050405020304" pitchFamily="18" charset="0"/>
              </a:rPr>
              <a:t>Distribution of costs depends on development model that is used.</a:t>
            </a:r>
          </a:p>
        </p:txBody>
      </p:sp>
      <p:sp>
        <p:nvSpPr>
          <p:cNvPr id="4" name="Slide Number Placeholder 3">
            <a:extLst>
              <a:ext uri="{FF2B5EF4-FFF2-40B4-BE49-F238E27FC236}">
                <a16:creationId xmlns:a16="http://schemas.microsoft.com/office/drawing/2014/main" id="{A68314F9-857E-4D1E-8440-A3B841E86C04}"/>
              </a:ext>
            </a:extLst>
          </p:cNvPr>
          <p:cNvSpPr>
            <a:spLocks noGrp="1"/>
          </p:cNvSpPr>
          <p:nvPr>
            <p:ph type="sldNum" sz="quarter" idx="12"/>
          </p:nvPr>
        </p:nvSpPr>
        <p:spPr/>
        <p:txBody>
          <a:bodyPr/>
          <a:lstStyle/>
          <a:p>
            <a:fld id="{255C45AA-988C-4610-8E25-9C545FF2A435}" type="slidenum">
              <a:rPr lang="en-US" smtClean="0"/>
              <a:t>15</a:t>
            </a:fld>
            <a:endParaRPr lang="en-US"/>
          </a:p>
        </p:txBody>
      </p:sp>
    </p:spTree>
    <p:extLst>
      <p:ext uri="{BB962C8B-B14F-4D97-AF65-F5344CB8AC3E}">
        <p14:creationId xmlns:p14="http://schemas.microsoft.com/office/powerpoint/2010/main" val="3944598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AC311-FB00-41F8-BDD5-F148D0211BCE}"/>
              </a:ext>
            </a:extLst>
          </p:cNvPr>
          <p:cNvSpPr>
            <a:spLocks noGrp="1"/>
          </p:cNvSpPr>
          <p:nvPr>
            <p:ph type="title"/>
          </p:nvPr>
        </p:nvSpPr>
        <p:spPr/>
        <p:txBody>
          <a:bodyPr/>
          <a:lstStyle/>
          <a:p>
            <a:r>
              <a:rPr lang="en-US" dirty="0"/>
              <a:t>Professional software development and ethical responsibility</a:t>
            </a:r>
          </a:p>
        </p:txBody>
      </p:sp>
      <p:sp>
        <p:nvSpPr>
          <p:cNvPr id="3" name="Content Placeholder 2">
            <a:extLst>
              <a:ext uri="{FF2B5EF4-FFF2-40B4-BE49-F238E27FC236}">
                <a16:creationId xmlns:a16="http://schemas.microsoft.com/office/drawing/2014/main" id="{165FAC47-2E32-4B82-AF02-7824E824DB45}"/>
              </a:ext>
            </a:extLst>
          </p:cNvPr>
          <p:cNvSpPr>
            <a:spLocks noGrp="1"/>
          </p:cNvSpPr>
          <p:nvPr>
            <p:ph idx="1"/>
          </p:nvPr>
        </p:nvSpPr>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Professional responsibility in software engineering encompasses the </a:t>
            </a:r>
            <a:r>
              <a:rPr lang="en-US" b="1" dirty="0">
                <a:latin typeface="Times New Roman" panose="02020603050405020304" pitchFamily="18" charset="0"/>
                <a:cs typeface="Times New Roman" panose="02020603050405020304" pitchFamily="18" charset="0"/>
              </a:rPr>
              <a:t>ethical, legal, and social obligations</a:t>
            </a:r>
            <a:r>
              <a:rPr lang="en-US" dirty="0">
                <a:latin typeface="Times New Roman" panose="02020603050405020304" pitchFamily="18" charset="0"/>
                <a:cs typeface="Times New Roman" panose="02020603050405020304" pitchFamily="18" charset="0"/>
              </a:rPr>
              <a:t> of developers. It requires prioritizing public safety, maintaining data privacy, writing reliable code, and continuously updating skills. Engineers must balance employer needs with societal impacts, ensuring transparency regarding system limitations.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Software Engineering must persist following ethical responsibility for professional software development:</a:t>
            </a:r>
          </a:p>
          <a:p>
            <a:r>
              <a:rPr lang="en-US" dirty="0">
                <a:latin typeface="Times New Roman" panose="02020603050405020304" pitchFamily="18" charset="0"/>
                <a:cs typeface="Times New Roman" panose="02020603050405020304" pitchFamily="18" charset="0"/>
              </a:rPr>
              <a:t>Confidentiality: Engineers must protect sensitive information belonging to their employers, clients, and projects.</a:t>
            </a:r>
          </a:p>
          <a:p>
            <a:r>
              <a:rPr lang="en-US" dirty="0">
                <a:latin typeface="Times New Roman" panose="02020603050405020304" pitchFamily="18" charset="0"/>
                <a:cs typeface="Times New Roman" panose="02020603050405020304" pitchFamily="18" charset="0"/>
              </a:rPr>
              <a:t>Competence: Professionals should only accept tasks within their skill set and be honest about their limitations.</a:t>
            </a:r>
          </a:p>
          <a:p>
            <a:r>
              <a:rPr lang="en-US" dirty="0">
                <a:latin typeface="Times New Roman" panose="02020603050405020304" pitchFamily="18" charset="0"/>
                <a:cs typeface="Times New Roman" panose="02020603050405020304" pitchFamily="18" charset="0"/>
              </a:rPr>
              <a:t>Intellectual Property: Respecting copyright, patents, and local laws regarding the use and export of software is mandatory.</a:t>
            </a:r>
          </a:p>
          <a:p>
            <a:r>
              <a:rPr lang="en-US" dirty="0">
                <a:latin typeface="Times New Roman" panose="02020603050405020304" pitchFamily="18" charset="0"/>
                <a:cs typeface="Times New Roman" panose="02020603050405020304" pitchFamily="18" charset="0"/>
              </a:rPr>
              <a:t>Computer Misuse: Software must be used ethically; misuse, such as installing unauthorized software on employer systems, is considered unprofessional.</a:t>
            </a:r>
          </a:p>
        </p:txBody>
      </p:sp>
      <p:sp>
        <p:nvSpPr>
          <p:cNvPr id="4" name="Slide Number Placeholder 3">
            <a:extLst>
              <a:ext uri="{FF2B5EF4-FFF2-40B4-BE49-F238E27FC236}">
                <a16:creationId xmlns:a16="http://schemas.microsoft.com/office/drawing/2014/main" id="{5B3F88A1-7683-4F6F-90E8-B6A79D326571}"/>
              </a:ext>
            </a:extLst>
          </p:cNvPr>
          <p:cNvSpPr>
            <a:spLocks noGrp="1"/>
          </p:cNvSpPr>
          <p:nvPr>
            <p:ph type="sldNum" sz="quarter" idx="12"/>
          </p:nvPr>
        </p:nvSpPr>
        <p:spPr/>
        <p:txBody>
          <a:bodyPr/>
          <a:lstStyle/>
          <a:p>
            <a:fld id="{255C45AA-988C-4610-8E25-9C545FF2A435}" type="slidenum">
              <a:rPr lang="en-US" smtClean="0"/>
              <a:t>16</a:t>
            </a:fld>
            <a:endParaRPr lang="en-US"/>
          </a:p>
        </p:txBody>
      </p:sp>
    </p:spTree>
    <p:extLst>
      <p:ext uri="{BB962C8B-B14F-4D97-AF65-F5344CB8AC3E}">
        <p14:creationId xmlns:p14="http://schemas.microsoft.com/office/powerpoint/2010/main" val="3111960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638FB-654E-4146-A901-4656FE0AE0C2}"/>
              </a:ext>
            </a:extLst>
          </p:cNvPr>
          <p:cNvSpPr>
            <a:spLocks noGrp="1"/>
          </p:cNvSpPr>
          <p:nvPr>
            <p:ph type="title"/>
          </p:nvPr>
        </p:nvSpPr>
        <p:spPr/>
        <p:txBody>
          <a:bodyPr/>
          <a:lstStyle/>
          <a:p>
            <a:r>
              <a:rPr lang="en-US" dirty="0"/>
              <a:t>Diversity in software engineering</a:t>
            </a:r>
          </a:p>
        </p:txBody>
      </p:sp>
      <p:sp>
        <p:nvSpPr>
          <p:cNvPr id="3" name="Content Placeholder 2">
            <a:extLst>
              <a:ext uri="{FF2B5EF4-FFF2-40B4-BE49-F238E27FC236}">
                <a16:creationId xmlns:a16="http://schemas.microsoft.com/office/drawing/2014/main" id="{AE083957-31F9-417D-8EEE-CB1324D1DA0E}"/>
              </a:ext>
            </a:extLst>
          </p:cNvPr>
          <p:cNvSpPr>
            <a:spLocks noGrp="1"/>
          </p:cNvSpPr>
          <p:nvPr>
            <p:ph idx="1"/>
          </p:nvPr>
        </p:nvSpPr>
        <p:spPr>
          <a:xfrm>
            <a:off x="1069848" y="1734532"/>
            <a:ext cx="10657096" cy="4638836"/>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Software engineering is a systematic approach to development of software that takes into account practical cost, schedule and dependability issues. There are no universal software engineering methods and techniques that are suitable for all systems and all companies; rather diverse set of methods and tools has evolved. There are many different types of application diversity. </a:t>
            </a:r>
          </a:p>
          <a:p>
            <a:pPr marL="457200" indent="-457200">
              <a:buAutoNum type="arabicPeriod"/>
            </a:pPr>
            <a:r>
              <a:rPr lang="en-US" b="1" dirty="0">
                <a:latin typeface="Times New Roman" panose="02020603050405020304" pitchFamily="18" charset="0"/>
                <a:cs typeface="Times New Roman" panose="02020603050405020304" pitchFamily="18" charset="0"/>
              </a:rPr>
              <a:t>Standalone Applications</a:t>
            </a:r>
            <a:r>
              <a:rPr lang="en-US" dirty="0">
                <a:latin typeface="Times New Roman" panose="02020603050405020304" pitchFamily="18" charset="0"/>
                <a:cs typeface="Times New Roman" panose="02020603050405020304" pitchFamily="18" charset="0"/>
              </a:rPr>
              <a:t>: These are applications that run on a local computer such as PC; do not need to be connected to network. E.g. office package, CAD, Photo manipulation etc. </a:t>
            </a:r>
          </a:p>
          <a:p>
            <a:pPr marL="457200" indent="-457200">
              <a:buAutoNum type="arabicPeriod"/>
            </a:pPr>
            <a:r>
              <a:rPr lang="en-US" b="1" dirty="0">
                <a:latin typeface="Times New Roman" panose="02020603050405020304" pitchFamily="18" charset="0"/>
                <a:cs typeface="Times New Roman" panose="02020603050405020304" pitchFamily="18" charset="0"/>
              </a:rPr>
              <a:t>Interactive transaction based application:</a:t>
            </a:r>
            <a:r>
              <a:rPr lang="en-US" dirty="0">
                <a:latin typeface="Times New Roman" panose="02020603050405020304" pitchFamily="18" charset="0"/>
                <a:cs typeface="Times New Roman" panose="02020603050405020304" pitchFamily="18" charset="0"/>
              </a:rPr>
              <a:t> These are applications that execute on a remote computer and that are accessed by users from their own PCs or terminals. They include business applications such as e- commerce applications. </a:t>
            </a:r>
          </a:p>
          <a:p>
            <a:pPr marL="457200" indent="-457200">
              <a:buAutoNum type="arabicPeriod"/>
            </a:pPr>
            <a:r>
              <a:rPr lang="en-US" b="1" dirty="0">
                <a:latin typeface="Times New Roman" panose="02020603050405020304" pitchFamily="18" charset="0"/>
                <a:cs typeface="Times New Roman" panose="02020603050405020304" pitchFamily="18" charset="0"/>
              </a:rPr>
              <a:t>Embedded control system:</a:t>
            </a:r>
            <a:r>
              <a:rPr lang="en-US" dirty="0">
                <a:latin typeface="Times New Roman" panose="02020603050405020304" pitchFamily="18" charset="0"/>
                <a:cs typeface="Times New Roman" panose="02020603050405020304" pitchFamily="18" charset="0"/>
              </a:rPr>
              <a:t> These are software control systems that control and manage hardware devices. Example: software in mobile phones, software in microwave oven system to control cooking process. </a:t>
            </a:r>
          </a:p>
          <a:p>
            <a:pPr marL="457200" indent="-457200">
              <a:buAutoNum type="arabicPeriod"/>
            </a:pPr>
            <a:r>
              <a:rPr lang="en-US" b="1" dirty="0">
                <a:latin typeface="Times New Roman" panose="02020603050405020304" pitchFamily="18" charset="0"/>
                <a:cs typeface="Times New Roman" panose="02020603050405020304" pitchFamily="18" charset="0"/>
              </a:rPr>
              <a:t>Batch processing system:</a:t>
            </a:r>
            <a:r>
              <a:rPr lang="en-US" dirty="0">
                <a:latin typeface="Times New Roman" panose="02020603050405020304" pitchFamily="18" charset="0"/>
                <a:cs typeface="Times New Roman" panose="02020603050405020304" pitchFamily="18" charset="0"/>
              </a:rPr>
              <a:t> these are business systems that are designed to process data in large batches. Example: phone billing systems, salary payment systems. </a:t>
            </a:r>
          </a:p>
          <a:p>
            <a:pPr marL="457200" indent="-457200">
              <a:buAutoNum type="arabicPeriod"/>
            </a:pPr>
            <a:r>
              <a:rPr lang="en-US" b="1" dirty="0">
                <a:latin typeface="Times New Roman" panose="02020603050405020304" pitchFamily="18" charset="0"/>
                <a:cs typeface="Times New Roman" panose="02020603050405020304" pitchFamily="18" charset="0"/>
              </a:rPr>
              <a:t>Entertainment system:</a:t>
            </a:r>
            <a:r>
              <a:rPr lang="en-US" dirty="0">
                <a:latin typeface="Times New Roman" panose="02020603050405020304" pitchFamily="18" charset="0"/>
                <a:cs typeface="Times New Roman" panose="02020603050405020304" pitchFamily="18" charset="0"/>
              </a:rPr>
              <a:t> these are systems primarily for personal use and entertain the user. Example: Gaming software. </a:t>
            </a:r>
          </a:p>
        </p:txBody>
      </p:sp>
      <p:sp>
        <p:nvSpPr>
          <p:cNvPr id="4" name="Slide Number Placeholder 3">
            <a:extLst>
              <a:ext uri="{FF2B5EF4-FFF2-40B4-BE49-F238E27FC236}">
                <a16:creationId xmlns:a16="http://schemas.microsoft.com/office/drawing/2014/main" id="{99CABDFE-86E8-4A17-BE3C-CFE3C99F1182}"/>
              </a:ext>
            </a:extLst>
          </p:cNvPr>
          <p:cNvSpPr>
            <a:spLocks noGrp="1"/>
          </p:cNvSpPr>
          <p:nvPr>
            <p:ph type="sldNum" sz="quarter" idx="12"/>
          </p:nvPr>
        </p:nvSpPr>
        <p:spPr/>
        <p:txBody>
          <a:bodyPr/>
          <a:lstStyle/>
          <a:p>
            <a:fld id="{255C45AA-988C-4610-8E25-9C545FF2A435}" type="slidenum">
              <a:rPr lang="en-US" smtClean="0"/>
              <a:t>17</a:t>
            </a:fld>
            <a:endParaRPr lang="en-US"/>
          </a:p>
        </p:txBody>
      </p:sp>
    </p:spTree>
    <p:extLst>
      <p:ext uri="{BB962C8B-B14F-4D97-AF65-F5344CB8AC3E}">
        <p14:creationId xmlns:p14="http://schemas.microsoft.com/office/powerpoint/2010/main" val="456540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40CA7-F715-4F4D-BFA6-4ACF6977EB55}"/>
              </a:ext>
            </a:extLst>
          </p:cNvPr>
          <p:cNvSpPr>
            <a:spLocks noGrp="1"/>
          </p:cNvSpPr>
          <p:nvPr>
            <p:ph type="title"/>
          </p:nvPr>
        </p:nvSpPr>
        <p:spPr/>
        <p:txBody>
          <a:bodyPr/>
          <a:lstStyle/>
          <a:p>
            <a:r>
              <a:rPr lang="en-US" dirty="0"/>
              <a:t>Internet and software engineering</a:t>
            </a:r>
          </a:p>
        </p:txBody>
      </p:sp>
      <p:sp>
        <p:nvSpPr>
          <p:cNvPr id="3" name="Content Placeholder 2">
            <a:extLst>
              <a:ext uri="{FF2B5EF4-FFF2-40B4-BE49-F238E27FC236}">
                <a16:creationId xmlns:a16="http://schemas.microsoft.com/office/drawing/2014/main" id="{71C5ED1C-CBBC-47A5-9128-1002D96ED6E8}"/>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internet is now a platform for running application and organizations are increasingly developing web applications rather than local system. Internet service allows application functionality to be accessed over the internet. With the help of internet, instead of writing software and deploying it on users PC, the software can be developed on web server that can be accessed through browsers. This made it much cheaper to change and upgrade the software as there was no need to install the software on every PC. Now a day you get every services using cloud computing technology. This is an approach to the provision of computer services where applications run remotely on the cloud. In cloud computing users do not buy software but pay according to how much the software is used or are given free access in return. </a:t>
            </a:r>
          </a:p>
        </p:txBody>
      </p:sp>
      <p:sp>
        <p:nvSpPr>
          <p:cNvPr id="4" name="Slide Number Placeholder 3">
            <a:extLst>
              <a:ext uri="{FF2B5EF4-FFF2-40B4-BE49-F238E27FC236}">
                <a16:creationId xmlns:a16="http://schemas.microsoft.com/office/drawing/2014/main" id="{3822338E-2DD6-4B39-B185-D6EA54E1FA6B}"/>
              </a:ext>
            </a:extLst>
          </p:cNvPr>
          <p:cNvSpPr>
            <a:spLocks noGrp="1"/>
          </p:cNvSpPr>
          <p:nvPr>
            <p:ph type="sldNum" sz="quarter" idx="12"/>
          </p:nvPr>
        </p:nvSpPr>
        <p:spPr/>
        <p:txBody>
          <a:bodyPr/>
          <a:lstStyle/>
          <a:p>
            <a:fld id="{255C45AA-988C-4610-8E25-9C545FF2A435}" type="slidenum">
              <a:rPr lang="en-US" smtClean="0"/>
              <a:t>18</a:t>
            </a:fld>
            <a:endParaRPr lang="en-US"/>
          </a:p>
        </p:txBody>
      </p:sp>
    </p:spTree>
    <p:extLst>
      <p:ext uri="{BB962C8B-B14F-4D97-AF65-F5344CB8AC3E}">
        <p14:creationId xmlns:p14="http://schemas.microsoft.com/office/powerpoint/2010/main" val="4002983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339E0-BE40-496D-BCD3-BF80EAB81414}"/>
              </a:ext>
            </a:extLst>
          </p:cNvPr>
          <p:cNvSpPr>
            <a:spLocks noGrp="1"/>
          </p:cNvSpPr>
          <p:nvPr>
            <p:ph type="title"/>
          </p:nvPr>
        </p:nvSpPr>
        <p:spPr/>
        <p:txBody>
          <a:bodyPr/>
          <a:lstStyle/>
          <a:p>
            <a:r>
              <a:rPr lang="en-US" dirty="0"/>
              <a:t>Software Types: </a:t>
            </a:r>
            <a:br>
              <a:rPr lang="en-US" dirty="0"/>
            </a:br>
            <a:endParaRPr lang="en-US" dirty="0"/>
          </a:p>
        </p:txBody>
      </p:sp>
      <p:sp>
        <p:nvSpPr>
          <p:cNvPr id="3" name="Content Placeholder 2">
            <a:extLst>
              <a:ext uri="{FF2B5EF4-FFF2-40B4-BE49-F238E27FC236}">
                <a16:creationId xmlns:a16="http://schemas.microsoft.com/office/drawing/2014/main" id="{59FD72B8-A43D-479D-8B99-8AD2213F81E2}"/>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Generic:</a:t>
            </a:r>
            <a:r>
              <a:rPr lang="en-US" dirty="0">
                <a:latin typeface="Times New Roman" panose="02020603050405020304" pitchFamily="18" charset="0"/>
                <a:cs typeface="Times New Roman" panose="02020603050405020304" pitchFamily="18" charset="0"/>
              </a:rPr>
              <a:t> These are the systems used for developing a general purpose software. From design and marketing perspective This king of development is very difficult has large number of users the may be using this kind of software. Development team controls the process of generic software development. Word editing software is its example.</a:t>
            </a:r>
          </a:p>
          <a:p>
            <a:r>
              <a:rPr lang="en-US" b="1" dirty="0">
                <a:latin typeface="Times New Roman" panose="02020603050405020304" pitchFamily="18" charset="0"/>
                <a:cs typeface="Times New Roman" panose="02020603050405020304" pitchFamily="18" charset="0"/>
              </a:rPr>
              <a:t>Custom:</a:t>
            </a:r>
            <a:r>
              <a:rPr lang="en-US" dirty="0">
                <a:latin typeface="Times New Roman" panose="02020603050405020304" pitchFamily="18" charset="0"/>
                <a:cs typeface="Times New Roman" panose="02020603050405020304" pitchFamily="18" charset="0"/>
              </a:rPr>
              <a:t> These are the systems used. for developing a software product as per the needs of particular customer. This development does not require marketing because it is developed for appropriate group of users. Customers determines the process of software development un this type of product, Control system for electronic device is its example</a:t>
            </a:r>
          </a:p>
        </p:txBody>
      </p:sp>
      <p:sp>
        <p:nvSpPr>
          <p:cNvPr id="4" name="Slide Number Placeholder 3">
            <a:extLst>
              <a:ext uri="{FF2B5EF4-FFF2-40B4-BE49-F238E27FC236}">
                <a16:creationId xmlns:a16="http://schemas.microsoft.com/office/drawing/2014/main" id="{239419E7-6CB8-4C0A-97C0-E8609BEDF8C6}"/>
              </a:ext>
            </a:extLst>
          </p:cNvPr>
          <p:cNvSpPr>
            <a:spLocks noGrp="1"/>
          </p:cNvSpPr>
          <p:nvPr>
            <p:ph type="sldNum" sz="quarter" idx="12"/>
          </p:nvPr>
        </p:nvSpPr>
        <p:spPr/>
        <p:txBody>
          <a:bodyPr/>
          <a:lstStyle/>
          <a:p>
            <a:fld id="{255C45AA-988C-4610-8E25-9C545FF2A435}" type="slidenum">
              <a:rPr lang="en-US" smtClean="0"/>
              <a:t>19</a:t>
            </a:fld>
            <a:endParaRPr lang="en-US"/>
          </a:p>
        </p:txBody>
      </p:sp>
    </p:spTree>
    <p:extLst>
      <p:ext uri="{BB962C8B-B14F-4D97-AF65-F5344CB8AC3E}">
        <p14:creationId xmlns:p14="http://schemas.microsoft.com/office/powerpoint/2010/main" val="285310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751364" cy="1609344"/>
          </a:xfrm>
        </p:spPr>
        <p:txBody>
          <a:bodyPr/>
          <a:lstStyle/>
          <a:p>
            <a:r>
              <a:rPr lang="en-US" b="1" dirty="0"/>
              <a:t>CASE (Computer-Aided Software Engineering)</a:t>
            </a: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A CASE (Computer-Aided Software Engineering) tool is a software application that supports one or more software development processes. CASE tools are designed to automate or semi-automate various software development tasks, such as design, coding, testing, and project management. </a:t>
            </a:r>
          </a:p>
          <a:p>
            <a:pPr algn="just"/>
            <a:r>
              <a:rPr lang="en-US" dirty="0">
                <a:latin typeface="Times New Roman" panose="02020603050405020304" pitchFamily="18" charset="0"/>
                <a:cs typeface="Times New Roman" panose="02020603050405020304" pitchFamily="18" charset="0"/>
              </a:rPr>
              <a:t>CASE tools can help organizations and software developers to improve the quality and efficiency of their software development processes. They can help to minimize the likelihood of errors, reduce development time and cost, and improve collaboration among team members. </a:t>
            </a:r>
          </a:p>
        </p:txBody>
      </p:sp>
      <p:sp>
        <p:nvSpPr>
          <p:cNvPr id="4" name="Slide Number Placeholder 3"/>
          <p:cNvSpPr>
            <a:spLocks noGrp="1"/>
          </p:cNvSpPr>
          <p:nvPr>
            <p:ph type="sldNum" sz="quarter" idx="12"/>
          </p:nvPr>
        </p:nvSpPr>
        <p:spPr/>
        <p:txBody>
          <a:bodyPr/>
          <a:lstStyle/>
          <a:p>
            <a:fld id="{4308719E-923F-4A3C-8480-D8B8AECDFF52}" type="slidenum">
              <a:rPr lang="en-US" smtClean="0"/>
              <a:t>20</a:t>
            </a:fld>
            <a:endParaRPr lang="en-US"/>
          </a:p>
        </p:txBody>
      </p:sp>
    </p:spTree>
    <p:extLst>
      <p:ext uri="{BB962C8B-B14F-4D97-AF65-F5344CB8AC3E}">
        <p14:creationId xmlns:p14="http://schemas.microsoft.com/office/powerpoint/2010/main" val="205000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881360" cy="1609344"/>
          </a:xfrm>
        </p:spPr>
        <p:txBody>
          <a:bodyPr/>
          <a:lstStyle/>
          <a:p>
            <a:r>
              <a:rPr lang="en-US" b="1" dirty="0"/>
              <a:t>CASE (Computer-Aided Software Engineering)</a:t>
            </a:r>
            <a:endParaRPr lang="en-US" dirty="0"/>
          </a:p>
        </p:txBody>
      </p:sp>
      <p:sp>
        <p:nvSpPr>
          <p:cNvPr id="4" name="Slide Number Placeholder 3"/>
          <p:cNvSpPr>
            <a:spLocks noGrp="1"/>
          </p:cNvSpPr>
          <p:nvPr>
            <p:ph type="sldNum" sz="quarter" idx="12"/>
          </p:nvPr>
        </p:nvSpPr>
        <p:spPr/>
        <p:txBody>
          <a:bodyPr/>
          <a:lstStyle/>
          <a:p>
            <a:fld id="{4308719E-923F-4A3C-8480-D8B8AECDFF52}" type="slidenum">
              <a:rPr lang="en-US" smtClean="0"/>
              <a:t>21</a:t>
            </a:fld>
            <a:endParaRPr lang="en-US"/>
          </a:p>
        </p:txBody>
      </p:sp>
      <p:pic>
        <p:nvPicPr>
          <p:cNvPr id="1026" name="Picture 2" descr="Case Tool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71188" y="1967145"/>
            <a:ext cx="6089372" cy="4389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3225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881360" cy="1609344"/>
          </a:xfrm>
        </p:spPr>
        <p:txBody>
          <a:bodyPr/>
          <a:lstStyle/>
          <a:p>
            <a:r>
              <a:rPr lang="en-US" b="1" dirty="0"/>
              <a:t>CASE (Computer-Aided Software Engineering)</a:t>
            </a: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Upper Case Tools</a:t>
            </a:r>
            <a:r>
              <a:rPr lang="en-US" dirty="0">
                <a:latin typeface="Times New Roman" panose="02020603050405020304" pitchFamily="18" charset="0"/>
                <a:cs typeface="Times New Roman" panose="02020603050405020304" pitchFamily="18" charset="0"/>
              </a:rPr>
              <a:t> - Upper CASE tools are used in planning, analysis and design stages of SDLC.</a:t>
            </a:r>
          </a:p>
          <a:p>
            <a:r>
              <a:rPr lang="en-US" b="1" dirty="0">
                <a:latin typeface="Times New Roman" panose="02020603050405020304" pitchFamily="18" charset="0"/>
                <a:cs typeface="Times New Roman" panose="02020603050405020304" pitchFamily="18" charset="0"/>
              </a:rPr>
              <a:t>Lower Case Tools</a:t>
            </a:r>
            <a:r>
              <a:rPr lang="en-US" dirty="0">
                <a:latin typeface="Times New Roman" panose="02020603050405020304" pitchFamily="18" charset="0"/>
                <a:cs typeface="Times New Roman" panose="02020603050405020304" pitchFamily="18" charset="0"/>
              </a:rPr>
              <a:t> - Lower CASE tools are used in implementation, testing and maintenance.</a:t>
            </a:r>
          </a:p>
          <a:p>
            <a:r>
              <a:rPr lang="en-US" b="1" dirty="0">
                <a:latin typeface="Times New Roman" panose="02020603050405020304" pitchFamily="18" charset="0"/>
                <a:cs typeface="Times New Roman" panose="02020603050405020304" pitchFamily="18" charset="0"/>
              </a:rPr>
              <a:t>Integrated Case Tools</a:t>
            </a:r>
            <a:r>
              <a:rPr lang="en-US" dirty="0">
                <a:latin typeface="Times New Roman" panose="02020603050405020304" pitchFamily="18" charset="0"/>
                <a:cs typeface="Times New Roman" panose="02020603050405020304" pitchFamily="18" charset="0"/>
              </a:rPr>
              <a:t> - Integrated CASE tools are helpful in all the stages of SDLC, from Requirement gathering to Testing and documentation.</a:t>
            </a:r>
          </a:p>
        </p:txBody>
      </p:sp>
      <p:sp>
        <p:nvSpPr>
          <p:cNvPr id="4" name="Slide Number Placeholder 3"/>
          <p:cNvSpPr>
            <a:spLocks noGrp="1"/>
          </p:cNvSpPr>
          <p:nvPr>
            <p:ph type="sldNum" sz="quarter" idx="12"/>
          </p:nvPr>
        </p:nvSpPr>
        <p:spPr/>
        <p:txBody>
          <a:bodyPr/>
          <a:lstStyle/>
          <a:p>
            <a:fld id="{4308719E-923F-4A3C-8480-D8B8AECDFF52}" type="slidenum">
              <a:rPr lang="en-US" smtClean="0"/>
              <a:t>22</a:t>
            </a:fld>
            <a:endParaRPr lang="en-US"/>
          </a:p>
        </p:txBody>
      </p:sp>
    </p:spTree>
    <p:extLst>
      <p:ext uri="{BB962C8B-B14F-4D97-AF65-F5344CB8AC3E}">
        <p14:creationId xmlns:p14="http://schemas.microsoft.com/office/powerpoint/2010/main" val="1555035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7" y="484632"/>
            <a:ext cx="10638243" cy="1609344"/>
          </a:xfrm>
        </p:spPr>
        <p:txBody>
          <a:bodyPr/>
          <a:lstStyle/>
          <a:p>
            <a:r>
              <a:rPr lang="en-US" b="1" dirty="0"/>
              <a:t>CASE (Computer-Aided Software Engineering)</a:t>
            </a:r>
            <a:endParaRPr lang="en-US" dirty="0"/>
          </a:p>
        </p:txBody>
      </p:sp>
      <p:sp>
        <p:nvSpPr>
          <p:cNvPr id="4" name="Slide Number Placeholder 3"/>
          <p:cNvSpPr>
            <a:spLocks noGrp="1"/>
          </p:cNvSpPr>
          <p:nvPr>
            <p:ph type="sldNum" sz="quarter" idx="12"/>
          </p:nvPr>
        </p:nvSpPr>
        <p:spPr/>
        <p:txBody>
          <a:bodyPr/>
          <a:lstStyle/>
          <a:p>
            <a:fld id="{4308719E-923F-4A3C-8480-D8B8AECDFF52}" type="slidenum">
              <a:rPr lang="en-US" smtClean="0"/>
              <a:t>23</a:t>
            </a:fld>
            <a:endParaRPr lang="en-US"/>
          </a:p>
        </p:txBody>
      </p:sp>
      <p:pic>
        <p:nvPicPr>
          <p:cNvPr id="5" name="Picture 2" descr="CASE Tools | Components | Top 13 Types of CASE Too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9796" y="2104008"/>
            <a:ext cx="783240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55390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9FD36-7398-4BD5-8245-A2D30E825FD4}"/>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EF5A19DE-D74B-46EB-8D9A-EC6B7B5B315B}"/>
              </a:ext>
            </a:extLst>
          </p:cNvPr>
          <p:cNvSpPr>
            <a:spLocks noGrp="1"/>
          </p:cNvSpPr>
          <p:nvPr>
            <p:ph idx="1"/>
          </p:nvPr>
        </p:nvSpPr>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1. What is software? Explain different types of software with example. </a:t>
            </a:r>
          </a:p>
          <a:p>
            <a:pPr marL="0" indent="0">
              <a:buNone/>
            </a:pPr>
            <a:r>
              <a:rPr lang="en-US" dirty="0">
                <a:latin typeface="Times New Roman" panose="02020603050405020304" pitchFamily="18" charset="0"/>
                <a:cs typeface="Times New Roman" panose="02020603050405020304" pitchFamily="18" charset="0"/>
              </a:rPr>
              <a:t>2. Differentiate between generic and bespoke software product. </a:t>
            </a:r>
          </a:p>
          <a:p>
            <a:pPr marL="0" indent="0">
              <a:buNone/>
            </a:pPr>
            <a:r>
              <a:rPr lang="en-US" dirty="0">
                <a:latin typeface="Times New Roman" panose="02020603050405020304" pitchFamily="18" charset="0"/>
                <a:cs typeface="Times New Roman" panose="02020603050405020304" pitchFamily="18" charset="0"/>
              </a:rPr>
              <a:t>3. Explain the attributes of good software. </a:t>
            </a:r>
          </a:p>
          <a:p>
            <a:pPr marL="0" indent="0">
              <a:buNone/>
            </a:pPr>
            <a:r>
              <a:rPr lang="en-US" dirty="0">
                <a:latin typeface="Times New Roman" panose="02020603050405020304" pitchFamily="18" charset="0"/>
                <a:cs typeface="Times New Roman" panose="02020603050405020304" pitchFamily="18" charset="0"/>
              </a:rPr>
              <a:t>4. What is software engineering? How does it different from computer science? </a:t>
            </a:r>
          </a:p>
          <a:p>
            <a:pPr marL="0" indent="0">
              <a:buNone/>
            </a:pPr>
            <a:r>
              <a:rPr lang="en-US" dirty="0">
                <a:latin typeface="Times New Roman" panose="02020603050405020304" pitchFamily="18" charset="0"/>
                <a:cs typeface="Times New Roman" panose="02020603050405020304" pitchFamily="18" charset="0"/>
              </a:rPr>
              <a:t>5. What is software process? Differentiate between software engineering and system engineering. </a:t>
            </a:r>
          </a:p>
          <a:p>
            <a:pPr marL="0" indent="0">
              <a:buNone/>
            </a:pPr>
            <a:r>
              <a:rPr lang="en-US" dirty="0">
                <a:latin typeface="Times New Roman" panose="02020603050405020304" pitchFamily="18" charset="0"/>
                <a:cs typeface="Times New Roman" panose="02020603050405020304" pitchFamily="18" charset="0"/>
              </a:rPr>
              <a:t>6. What is CASE? Explain the importance of CASE tools in software development life cycle. </a:t>
            </a:r>
          </a:p>
          <a:p>
            <a:pPr marL="0" indent="0">
              <a:buNone/>
            </a:pPr>
            <a:r>
              <a:rPr lang="en-US" dirty="0">
                <a:latin typeface="Times New Roman" panose="02020603050405020304" pitchFamily="18" charset="0"/>
                <a:cs typeface="Times New Roman" panose="02020603050405020304" pitchFamily="18" charset="0"/>
              </a:rPr>
              <a:t>7. Explain challenges facing software engineering along with professional and ethical responsibilities. </a:t>
            </a:r>
          </a:p>
          <a:p>
            <a:pPr marL="0" indent="0">
              <a:buNone/>
            </a:pPr>
            <a:r>
              <a:rPr lang="en-US" dirty="0">
                <a:latin typeface="Times New Roman" panose="02020603050405020304" pitchFamily="18" charset="0"/>
                <a:cs typeface="Times New Roman" panose="02020603050405020304" pitchFamily="18" charset="0"/>
              </a:rPr>
              <a:t>8. Why software testing costs are high for generic software product? Explain. </a:t>
            </a:r>
          </a:p>
          <a:p>
            <a:pPr marL="0" indent="0">
              <a:buNone/>
            </a:pPr>
            <a:r>
              <a:rPr lang="en-US" dirty="0">
                <a:latin typeface="Times New Roman" panose="02020603050405020304" pitchFamily="18" charset="0"/>
                <a:cs typeface="Times New Roman" panose="02020603050405020304" pitchFamily="18" charset="0"/>
              </a:rPr>
              <a:t>9. What do you mean by software engineering diversity? Explain with example. </a:t>
            </a:r>
          </a:p>
        </p:txBody>
      </p:sp>
      <p:sp>
        <p:nvSpPr>
          <p:cNvPr id="4" name="Slide Number Placeholder 3">
            <a:extLst>
              <a:ext uri="{FF2B5EF4-FFF2-40B4-BE49-F238E27FC236}">
                <a16:creationId xmlns:a16="http://schemas.microsoft.com/office/drawing/2014/main" id="{A3154374-566F-431A-BF61-BCCD1313ACE3}"/>
              </a:ext>
            </a:extLst>
          </p:cNvPr>
          <p:cNvSpPr>
            <a:spLocks noGrp="1"/>
          </p:cNvSpPr>
          <p:nvPr>
            <p:ph type="sldNum" sz="quarter" idx="12"/>
          </p:nvPr>
        </p:nvSpPr>
        <p:spPr/>
        <p:txBody>
          <a:bodyPr/>
          <a:lstStyle/>
          <a:p>
            <a:fld id="{255C45AA-988C-4610-8E25-9C545FF2A435}" type="slidenum">
              <a:rPr lang="en-US" smtClean="0"/>
              <a:t>24</a:t>
            </a:fld>
            <a:endParaRPr lang="en-US"/>
          </a:p>
        </p:txBody>
      </p:sp>
    </p:spTree>
    <p:extLst>
      <p:ext uri="{BB962C8B-B14F-4D97-AF65-F5344CB8AC3E}">
        <p14:creationId xmlns:p14="http://schemas.microsoft.com/office/powerpoint/2010/main" val="714484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CE061C-DC39-4F16-BA73-3D452D51FA47}"/>
              </a:ext>
            </a:extLst>
          </p:cNvPr>
          <p:cNvSpPr>
            <a:spLocks noGrp="1"/>
          </p:cNvSpPr>
          <p:nvPr>
            <p:ph type="title"/>
          </p:nvPr>
        </p:nvSpPr>
        <p:spPr/>
        <p:txBody>
          <a:bodyPr/>
          <a:lstStyle/>
          <a:p>
            <a:r>
              <a:rPr lang="en-US" dirty="0"/>
              <a:t>End of unit 1</a:t>
            </a:r>
          </a:p>
        </p:txBody>
      </p:sp>
      <p:sp>
        <p:nvSpPr>
          <p:cNvPr id="2" name="Slide Number Placeholder 1">
            <a:extLst>
              <a:ext uri="{FF2B5EF4-FFF2-40B4-BE49-F238E27FC236}">
                <a16:creationId xmlns:a16="http://schemas.microsoft.com/office/drawing/2014/main" id="{E74E1810-9DED-47C0-A373-4C1A1589BB75}"/>
              </a:ext>
            </a:extLst>
          </p:cNvPr>
          <p:cNvSpPr>
            <a:spLocks noGrp="1"/>
          </p:cNvSpPr>
          <p:nvPr>
            <p:ph type="sldNum" sz="quarter" idx="12"/>
          </p:nvPr>
        </p:nvSpPr>
        <p:spPr/>
        <p:txBody>
          <a:bodyPr/>
          <a:lstStyle/>
          <a:p>
            <a:fld id="{255C45AA-988C-4610-8E25-9C545FF2A435}" type="slidenum">
              <a:rPr lang="en-US" smtClean="0"/>
              <a:t>25</a:t>
            </a:fld>
            <a:endParaRPr lang="en-US"/>
          </a:p>
        </p:txBody>
      </p:sp>
    </p:spTree>
    <p:extLst>
      <p:ext uri="{BB962C8B-B14F-4D97-AF65-F5344CB8AC3E}">
        <p14:creationId xmlns:p14="http://schemas.microsoft.com/office/powerpoint/2010/main" val="33554693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292</TotalTime>
  <Words>2322</Words>
  <Application>Microsoft Office PowerPoint</Application>
  <PresentationFormat>Widescreen</PresentationFormat>
  <Paragraphs>138</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Rockwell</vt:lpstr>
      <vt:lpstr>Rockwell Condensed</vt:lpstr>
      <vt:lpstr>Times New Roman</vt:lpstr>
      <vt:lpstr>Wingdings</vt:lpstr>
      <vt:lpstr>Wood Type</vt:lpstr>
      <vt:lpstr>Unit 1  Introduction </vt:lpstr>
      <vt:lpstr>Syllabus</vt:lpstr>
      <vt:lpstr>Software definition:</vt:lpstr>
      <vt:lpstr>Types of software:</vt:lpstr>
      <vt:lpstr>PowerPoint Presentation</vt:lpstr>
      <vt:lpstr>PowerPoint Presentation</vt:lpstr>
      <vt:lpstr>Attributes of Good Software</vt:lpstr>
      <vt:lpstr>Software Engineering</vt:lpstr>
      <vt:lpstr>Importance of Software Engineering</vt:lpstr>
      <vt:lpstr>Fundamental process activities</vt:lpstr>
      <vt:lpstr>Software engineering vs computer science</vt:lpstr>
      <vt:lpstr>Software engineering vs system engineering</vt:lpstr>
      <vt:lpstr>Challenges of software engineering</vt:lpstr>
      <vt:lpstr>Challenges of software engineering</vt:lpstr>
      <vt:lpstr>Cost of software engineering</vt:lpstr>
      <vt:lpstr>Professional software development and ethical responsibility</vt:lpstr>
      <vt:lpstr>Diversity in software engineering</vt:lpstr>
      <vt:lpstr>Internet and software engineering</vt:lpstr>
      <vt:lpstr>Software Types:  </vt:lpstr>
      <vt:lpstr>CASE (Computer-Aided Software Engineering)</vt:lpstr>
      <vt:lpstr>CASE (Computer-Aided Software Engineering)</vt:lpstr>
      <vt:lpstr>CASE (Computer-Aided Software Engineering)</vt:lpstr>
      <vt:lpstr>CASE (Computer-Aided Software Engineering)</vt:lpstr>
      <vt:lpstr>Exercise</vt:lpstr>
      <vt:lpstr>End of unit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Yachu</dc:creator>
  <cp:lastModifiedBy>Yachu</cp:lastModifiedBy>
  <cp:revision>34</cp:revision>
  <dcterms:created xsi:type="dcterms:W3CDTF">2026-06-22T07:06:56Z</dcterms:created>
  <dcterms:modified xsi:type="dcterms:W3CDTF">2026-06-22T14:32:56Z</dcterms:modified>
</cp:coreProperties>
</file>